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tells one progressively deeper story. The individual landing pages, videos, emails, events, DBX partnership, Snowflake activity, PR, and DoorDash story aren't separate initiatives — they're different ways of moving our ICP from "I didn't know Adstra did this" -&gt; "this is a problem I have" -&gt; "this approach is different" -&gt; "this works with my stack" -&gt; "I want to see it." That is the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61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737360" cy="46827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1691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 2026  ·  GO-TO-MARKET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 GTM Objective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548640" y="306324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Adstra is targeting data-mature brands and platforms that need identity intelligence inside the environments where their customer data already lives.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548640" y="50292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AA825"/>
          </a:solidFill>
          <a:ln/>
        </p:spPr>
      </p:sp>
      <p:sp>
        <p:nvSpPr>
          <p:cNvPr id="8" name="Text 4"/>
          <p:cNvSpPr/>
          <p:nvPr/>
        </p:nvSpPr>
        <p:spPr>
          <a:xfrm>
            <a:off x="960120" y="5001768"/>
            <a:ext cx="2155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ICP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544068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Sophisticated brands + platforms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390138" y="50292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AA825"/>
          </a:solidFill>
          <a:ln/>
        </p:spPr>
      </p:sp>
      <p:sp>
        <p:nvSpPr>
          <p:cNvPr id="11" name="Text 7"/>
          <p:cNvSpPr/>
          <p:nvPr/>
        </p:nvSpPr>
        <p:spPr>
          <a:xfrm>
            <a:off x="3801618" y="5001768"/>
            <a:ext cx="2155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NEED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90138" y="544068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Accurate, complete, interoperable identity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1636" y="50292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AA825"/>
          </a:solidFill>
          <a:ln/>
        </p:spPr>
      </p:sp>
      <p:sp>
        <p:nvSpPr>
          <p:cNvPr id="14" name="Text 10"/>
          <p:cNvSpPr/>
          <p:nvPr/>
        </p:nvSpPr>
        <p:spPr>
          <a:xfrm>
            <a:off x="6643116" y="5001768"/>
            <a:ext cx="2155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 GOAL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231636" y="544068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awareness, engagement, pipeline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073134" y="50292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AA825"/>
          </a:solidFill>
          <a:ln/>
        </p:spPr>
      </p:sp>
      <p:sp>
        <p:nvSpPr>
          <p:cNvPr id="17" name="Text 13"/>
          <p:cNvSpPr/>
          <p:nvPr/>
        </p:nvSpPr>
        <p:spPr>
          <a:xfrm>
            <a:off x="9484614" y="5001768"/>
            <a:ext cx="2155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ANCHOR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073134" y="5440680"/>
            <a:ext cx="2567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Conexa · ICS · ID interoperability · Databricks / Snowflake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Narrative</a:t>
            </a:r>
            <a:endParaRPr lang="en-US" sz="3000" dirty="0"/>
          </a:p>
        </p:txBody>
      </p:sp>
      <p:pic>
        <p:nvPicPr>
          <p:cNvPr id="3" name="Image 0" descr="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400800"/>
            <a:ext cx="960120" cy="2594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0972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461478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0972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AA8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 BRAND PROMISE 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customer data more accurate, complete and useful — where it already lives.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938528"/>
            <a:ext cx="3544824" cy="1600200"/>
          </a:xfrm>
          <a:prstGeom prst="roundRect">
            <a:avLst>
              <a:gd name="adj" fmla="val 4571"/>
            </a:avLst>
          </a:prstGeom>
          <a:solidFill>
            <a:srgbClr val="ECE3F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3969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121408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RESOLVE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68096" y="2624328"/>
            <a:ext cx="310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 who your customers are.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68096" y="2907792"/>
            <a:ext cx="3105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· ICS · Persistent ID · Golden Record · Recognition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22064" y="1938528"/>
            <a:ext cx="3544824" cy="1600200"/>
          </a:xfrm>
          <a:prstGeom prst="roundRect">
            <a:avLst>
              <a:gd name="adj" fmla="val 4571"/>
            </a:avLst>
          </a:prstGeom>
          <a:solidFill>
            <a:srgbClr val="ECE3F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232" y="213969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07864" y="2121408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541520" y="2624328"/>
            <a:ext cx="310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 more — and reach more.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541520" y="2907792"/>
            <a:ext cx="3105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expansion · Attributes · Household · Reach · Bid enrichment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95488" y="1938528"/>
            <a:ext cx="3544824" cy="1600200"/>
          </a:xfrm>
          <a:prstGeom prst="roundRect">
            <a:avLst>
              <a:gd name="adj" fmla="val 4571"/>
            </a:avLst>
          </a:prstGeom>
          <a:solidFill>
            <a:srgbClr val="ECE3F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656" y="213969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81288" y="2121408"/>
            <a:ext cx="2721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314944" y="2624328"/>
            <a:ext cx="310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 identity to work everywhere.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314944" y="2907792"/>
            <a:ext cx="3105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 interoperability · Native onboarding · Activation · Clean rooms · Measurement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703320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/>
        </p:spPr>
      </p:sp>
      <p:sp>
        <p:nvSpPr>
          <p:cNvPr id="22" name="Text 16"/>
          <p:cNvSpPr/>
          <p:nvPr/>
        </p:nvSpPr>
        <p:spPr>
          <a:xfrm>
            <a:off x="822960" y="370332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1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ARCHITECTURAL PROOF   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the modern data cloud.  </a:t>
            </a:r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Databricks · Snowflake · Native processing · No unnecessary data movement · API / platform connectivity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325112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/>
        </p:spPr>
      </p:sp>
      <p:sp>
        <p:nvSpPr>
          <p:cNvPr id="24" name="Text 18"/>
          <p:cNvSpPr/>
          <p:nvPr/>
        </p:nvSpPr>
        <p:spPr>
          <a:xfrm>
            <a:off x="822960" y="4325112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1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DIFFERENTIATED TECHNOLOGY    </a:t>
            </a:r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Conexa · ICS · Persistent ID · Identity graph · Cross-walk / “ID Translator” · Native Cloud Apps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029200"/>
            <a:ext cx="5431536" cy="1170432"/>
          </a:xfrm>
          <a:prstGeom prst="roundRect">
            <a:avLst>
              <a:gd name="adj" fmla="val 6250"/>
            </a:avLst>
          </a:prstGeom>
          <a:solidFill>
            <a:srgbClr val="461478"/>
          </a:solidFill>
          <a:ln/>
        </p:spPr>
      </p:sp>
      <p:sp>
        <p:nvSpPr>
          <p:cNvPr id="26" name="Text 20"/>
          <p:cNvSpPr/>
          <p:nvPr/>
        </p:nvSpPr>
        <p:spPr>
          <a:xfrm>
            <a:off x="804672" y="514807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AA8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04672" y="5449824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customer understanding → more addressable customers → better experiences → more efficient media → better measurement.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208776" y="5029200"/>
            <a:ext cx="5431536" cy="1170432"/>
          </a:xfrm>
          <a:prstGeom prst="roundRect">
            <a:avLst>
              <a:gd name="adj" fmla="val 6250"/>
            </a:avLst>
          </a:prstGeom>
          <a:solidFill>
            <a:srgbClr val="461478"/>
          </a:solidFill>
          <a:ln/>
        </p:spPr>
      </p:sp>
      <p:sp>
        <p:nvSpPr>
          <p:cNvPr id="29" name="Text 23"/>
          <p:cNvSpPr/>
          <p:nvPr/>
        </p:nvSpPr>
        <p:spPr>
          <a:xfrm>
            <a:off x="6464808" y="514807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AA8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464808" y="5449824"/>
            <a:ext cx="4919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identity → stronger products → higher match rates → greater inventory / data value → easier interoperability.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We’re Targeting</a:t>
            </a:r>
            <a:endParaRPr lang="en-US" sz="3000" dirty="0"/>
          </a:p>
        </p:txBody>
      </p:sp>
      <p:pic>
        <p:nvPicPr>
          <p:cNvPr id="3" name="Image 0" descr="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400800"/>
            <a:ext cx="960120" cy="2594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43000"/>
            <a:ext cx="5408676" cy="457200"/>
          </a:xfrm>
          <a:prstGeom prst="roundRect">
            <a:avLst>
              <a:gd name="adj" fmla="val 12000"/>
            </a:avLst>
          </a:prstGeom>
          <a:solidFill>
            <a:srgbClr val="461478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1143000"/>
            <a:ext cx="4896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ICP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1709928"/>
            <a:ext cx="5317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 brands with significant first-party customer data and modern data infrastructure that need a more accurate, persistent, and interoperable identity foundation to improve customer understanding, addressability, activation, personalization, and measurement.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5408676" cy="438912"/>
          </a:xfrm>
          <a:prstGeom prst="roundRect">
            <a:avLst>
              <a:gd name="adj" fmla="val 10417"/>
            </a:avLst>
          </a:prstGeom>
          <a:solidFill>
            <a:srgbClr val="ECE3F4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017520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 first-party data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547872"/>
            <a:ext cx="5408676" cy="438912"/>
          </a:xfrm>
          <a:prstGeom prst="roundRect">
            <a:avLst>
              <a:gd name="adj" fmla="val 10417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547872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Databricks / Snowflake or modern cloud stack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4078224"/>
            <a:ext cx="5408676" cy="438912"/>
          </a:xfrm>
          <a:prstGeom prst="roundRect">
            <a:avLst>
              <a:gd name="adj" fmla="val 10417"/>
            </a:avLst>
          </a:prstGeom>
          <a:solidFill>
            <a:srgbClr val="ECE3F4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4078224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fragmentation across systems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608576"/>
            <a:ext cx="5408676" cy="438912"/>
          </a:xfrm>
          <a:prstGeom prst="roundRect">
            <a:avLst>
              <a:gd name="adj" fmla="val 10417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608576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Needs better understanding, reach, activation, measurement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4672" y="5184648"/>
            <a:ext cx="48966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71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Buyers:  CDO · CMO · MarTech · Analytics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31636" y="1143000"/>
            <a:ext cx="5408676" cy="457200"/>
          </a:xfrm>
          <a:prstGeom prst="roundRect">
            <a:avLst>
              <a:gd name="adj" fmla="val 12000"/>
            </a:avLst>
          </a:prstGeom>
          <a:solidFill>
            <a:srgbClr val="461478"/>
          </a:solidFill>
          <a:ln/>
        </p:spPr>
      </p:sp>
      <p:sp>
        <p:nvSpPr>
          <p:cNvPr id="17" name="Text 14"/>
          <p:cNvSpPr/>
          <p:nvPr/>
        </p:nvSpPr>
        <p:spPr>
          <a:xfrm>
            <a:off x="6487668" y="1143000"/>
            <a:ext cx="4896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ICP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77356" y="1709928"/>
            <a:ext cx="5317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Data, media and technology platforms with sophisticated infrastructure that need identity as a foundational capability to improve their products, customer interoperability, inventory / data value, or monetization.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31636" y="3017520"/>
            <a:ext cx="5408676" cy="438912"/>
          </a:xfrm>
          <a:prstGeom prst="roundRect">
            <a:avLst>
              <a:gd name="adj" fmla="val 10417"/>
            </a:avLst>
          </a:prstGeom>
          <a:solidFill>
            <a:srgbClr val="ECE3F4"/>
          </a:solidFill>
          <a:ln/>
        </p:spPr>
      </p:sp>
      <p:sp>
        <p:nvSpPr>
          <p:cNvPr id="20" name="Text 17"/>
          <p:cNvSpPr/>
          <p:nvPr/>
        </p:nvSpPr>
        <p:spPr>
          <a:xfrm>
            <a:off x="6487668" y="3017520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Large-scale identity / data ecosystem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31636" y="3547872"/>
            <a:ext cx="5408676" cy="438912"/>
          </a:xfrm>
          <a:prstGeom prst="roundRect">
            <a:avLst>
              <a:gd name="adj" fmla="val 10417"/>
            </a:avLst>
          </a:prstGeom>
          <a:solidFill>
            <a:srgbClr val="F2F2F2"/>
          </a:solidFill>
          <a:ln/>
        </p:spPr>
      </p:sp>
      <p:sp>
        <p:nvSpPr>
          <p:cNvPr id="22" name="Text 19"/>
          <p:cNvSpPr/>
          <p:nvPr/>
        </p:nvSpPr>
        <p:spPr>
          <a:xfrm>
            <a:off x="6487668" y="3547872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Sophisticated platform infrastructure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31636" y="4078224"/>
            <a:ext cx="5408676" cy="438912"/>
          </a:xfrm>
          <a:prstGeom prst="roundRect">
            <a:avLst>
              <a:gd name="adj" fmla="val 10417"/>
            </a:avLst>
          </a:prstGeom>
          <a:solidFill>
            <a:srgbClr val="ECE3F4"/>
          </a:solidFill>
          <a:ln/>
        </p:spPr>
      </p:sp>
      <p:sp>
        <p:nvSpPr>
          <p:cNvPr id="24" name="Text 21"/>
          <p:cNvSpPr/>
          <p:nvPr/>
        </p:nvSpPr>
        <p:spPr>
          <a:xfrm>
            <a:off x="6487668" y="4078224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needed as product infrastructure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231636" y="4608576"/>
            <a:ext cx="5408676" cy="438912"/>
          </a:xfrm>
          <a:prstGeom prst="roundRect">
            <a:avLst>
              <a:gd name="adj" fmla="val 10417"/>
            </a:avLst>
          </a:prstGeom>
          <a:solidFill>
            <a:srgbClr val="F2F2F2"/>
          </a:solidFill>
          <a:ln/>
        </p:spPr>
      </p:sp>
      <p:sp>
        <p:nvSpPr>
          <p:cNvPr id="26" name="Text 23"/>
          <p:cNvSpPr/>
          <p:nvPr/>
        </p:nvSpPr>
        <p:spPr>
          <a:xfrm>
            <a:off x="6487668" y="4608576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Needs better match, interoperability, monetization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487668" y="5184648"/>
            <a:ext cx="48966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71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Buyers:  CTO · CPO · CDO · CRO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5669280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ECE3F4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566928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Brands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Conexa to get more value from customer relationships.    </a:t>
            </a:r>
            <a:pPr indent="0" marL="0">
              <a:buNone/>
            </a:pPr>
            <a:r>
              <a:rPr lang="en-US" sz="12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Platforms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 Conexa to make their products and ecosystems more valuable.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Integrated Fall Plan</a:t>
            </a:r>
            <a:endParaRPr lang="en-US" sz="3000" dirty="0"/>
          </a:p>
        </p:txBody>
      </p:sp>
      <p:pic>
        <p:nvPicPr>
          <p:cNvPr id="3" name="Image 0" descr="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400800"/>
            <a:ext cx="960120" cy="2594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234440"/>
            <a:ext cx="5408676" cy="1783080"/>
          </a:xfrm>
          <a:prstGeom prst="roundRect">
            <a:avLst>
              <a:gd name="adj" fmla="val 4103"/>
            </a:avLst>
          </a:prstGeom>
          <a:solidFill>
            <a:srgbClr val="ECE3F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27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150876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41248" y="2130552"/>
            <a:ext cx="4823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account list · Persona plays · Sales enablement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231636" y="1234440"/>
            <a:ext cx="5408676" cy="1783080"/>
          </a:xfrm>
          <a:prstGeom prst="roundRect">
            <a:avLst>
              <a:gd name="adj" fmla="val 4103"/>
            </a:avLst>
          </a:prstGeom>
          <a:solidFill>
            <a:srgbClr val="ECE3F4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527048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6036" y="150876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524244" y="2130552"/>
            <a:ext cx="4823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 pages for ICS, ID interoperability, Databricks, Snowflake · Hype video · Explainer videos · Nurture emails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3273552"/>
            <a:ext cx="5408676" cy="1783080"/>
          </a:xfrm>
          <a:prstGeom prst="roundRect">
            <a:avLst>
              <a:gd name="adj" fmla="val 4103"/>
            </a:avLst>
          </a:prstGeom>
          <a:solidFill>
            <a:srgbClr val="ECE3F4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6616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3547872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841248" y="4169664"/>
            <a:ext cx="4823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Week launch moment → Q4 education → CES amplification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31636" y="3273552"/>
            <a:ext cx="5408676" cy="1783080"/>
          </a:xfrm>
          <a:prstGeom prst="roundRect">
            <a:avLst>
              <a:gd name="adj" fmla="val 4103"/>
            </a:avLst>
          </a:prstGeom>
          <a:solidFill>
            <a:srgbClr val="ECE3F4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356616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46036" y="3547872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MARKETING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524244" y="4169664"/>
            <a:ext cx="48234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Databricks · Snowflake · Narrative / DoorDash · Crossbeam · Vertical alignment · Conexa demo in Databricks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548640" y="5760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1920240" y="5760720"/>
            <a:ext cx="1687982" cy="457200"/>
          </a:xfrm>
          <a:prstGeom prst="roundRect">
            <a:avLst>
              <a:gd name="adj" fmla="val 50000"/>
            </a:avLst>
          </a:prstGeom>
          <a:solidFill>
            <a:srgbClr val="461478"/>
          </a:solidFill>
          <a:ln/>
        </p:spPr>
      </p:sp>
      <p:sp>
        <p:nvSpPr>
          <p:cNvPr id="22" name="Text 15"/>
          <p:cNvSpPr/>
          <p:nvPr/>
        </p:nvSpPr>
        <p:spPr>
          <a:xfrm>
            <a:off x="1920240" y="5760720"/>
            <a:ext cx="1687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Seed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3608222" y="5760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4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928262" y="5760720"/>
            <a:ext cx="1687982" cy="457200"/>
          </a:xfrm>
          <a:prstGeom prst="roundRect">
            <a:avLst>
              <a:gd name="adj" fmla="val 50000"/>
            </a:avLst>
          </a:prstGeom>
          <a:solidFill>
            <a:srgbClr val="7719E1"/>
          </a:solidFill>
          <a:ln/>
        </p:spPr>
      </p:sp>
      <p:sp>
        <p:nvSpPr>
          <p:cNvPr id="25" name="Text 18"/>
          <p:cNvSpPr/>
          <p:nvPr/>
        </p:nvSpPr>
        <p:spPr>
          <a:xfrm>
            <a:off x="3928262" y="5760720"/>
            <a:ext cx="1687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616245" y="5760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4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5936285" y="5760720"/>
            <a:ext cx="1687982" cy="457200"/>
          </a:xfrm>
          <a:prstGeom prst="roundRect">
            <a:avLst>
              <a:gd name="adj" fmla="val 50000"/>
            </a:avLst>
          </a:prstGeom>
          <a:solidFill>
            <a:srgbClr val="7719E1"/>
          </a:solidFill>
          <a:ln/>
        </p:spPr>
      </p:sp>
      <p:sp>
        <p:nvSpPr>
          <p:cNvPr id="28" name="Text 21"/>
          <p:cNvSpPr/>
          <p:nvPr/>
        </p:nvSpPr>
        <p:spPr>
          <a:xfrm>
            <a:off x="5936285" y="5760720"/>
            <a:ext cx="1687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624267" y="5760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4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944307" y="5760720"/>
            <a:ext cx="1687982" cy="457200"/>
          </a:xfrm>
          <a:prstGeom prst="roundRect">
            <a:avLst>
              <a:gd name="adj" fmla="val 50000"/>
            </a:avLst>
          </a:prstGeom>
          <a:solidFill>
            <a:srgbClr val="7719E1"/>
          </a:solidFill>
          <a:ln/>
        </p:spPr>
      </p:sp>
      <p:sp>
        <p:nvSpPr>
          <p:cNvPr id="31" name="Text 24"/>
          <p:cNvSpPr/>
          <p:nvPr/>
        </p:nvSpPr>
        <p:spPr>
          <a:xfrm>
            <a:off x="7944307" y="5760720"/>
            <a:ext cx="1687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632290" y="5760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4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9952330" y="5760720"/>
            <a:ext cx="1687982" cy="457200"/>
          </a:xfrm>
          <a:prstGeom prst="roundRect">
            <a:avLst>
              <a:gd name="adj" fmla="val 50000"/>
            </a:avLst>
          </a:prstGeom>
          <a:solidFill>
            <a:srgbClr val="FAA825"/>
          </a:solidFill>
          <a:ln/>
        </p:spPr>
      </p:sp>
      <p:sp>
        <p:nvSpPr>
          <p:cNvPr id="34" name="Text 27"/>
          <p:cNvSpPr/>
          <p:nvPr/>
        </p:nvSpPr>
        <p:spPr>
          <a:xfrm>
            <a:off x="9952330" y="5760720"/>
            <a:ext cx="16879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Amplify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Campaign, Four Moves</a:t>
            </a:r>
            <a:endParaRPr lang="en-US" sz="3000" dirty="0"/>
          </a:p>
        </p:txBody>
      </p:sp>
      <p:pic>
        <p:nvPicPr>
          <p:cNvPr id="3" name="Image 0" descr="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400800"/>
            <a:ext cx="960120" cy="2594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43000"/>
            <a:ext cx="2622042" cy="457200"/>
          </a:xfrm>
          <a:prstGeom prst="roundRect">
            <a:avLst>
              <a:gd name="adj" fmla="val 12000"/>
            </a:avLst>
          </a:prstGeom>
          <a:solidFill>
            <a:srgbClr val="461478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143000"/>
            <a:ext cx="2439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AWARENESS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22042" cy="2240280"/>
          </a:xfrm>
          <a:prstGeom prst="roundRect">
            <a:avLst>
              <a:gd name="adj" fmla="val 2449"/>
            </a:avLst>
          </a:prstGeom>
          <a:solidFill>
            <a:srgbClr val="ECE3F4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01368"/>
            <a:ext cx="225628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Hype video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Paid / social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Advertising Week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POV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71850" y="1143000"/>
            <a:ext cx="2622042" cy="457200"/>
          </a:xfrm>
          <a:prstGeom prst="roundRect">
            <a:avLst>
              <a:gd name="adj" fmla="val 12000"/>
            </a:avLst>
          </a:prstGeom>
          <a:solidFill>
            <a:srgbClr val="461478"/>
          </a:solidFill>
          <a:ln/>
        </p:spPr>
      </p:sp>
      <p:sp>
        <p:nvSpPr>
          <p:cNvPr id="9" name="Text 6"/>
          <p:cNvSpPr/>
          <p:nvPr/>
        </p:nvSpPr>
        <p:spPr>
          <a:xfrm>
            <a:off x="3463290" y="1143000"/>
            <a:ext cx="2439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UNDERSTANDING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71850" y="1691640"/>
            <a:ext cx="2622042" cy="2240280"/>
          </a:xfrm>
          <a:prstGeom prst="roundRect">
            <a:avLst>
              <a:gd name="adj" fmla="val 2449"/>
            </a:avLst>
          </a:prstGeom>
          <a:solidFill>
            <a:srgbClr val="ECE3F4"/>
          </a:solidFill>
          <a:ln/>
        </p:spPr>
      </p:sp>
      <p:sp>
        <p:nvSpPr>
          <p:cNvPr id="11" name="Text 8"/>
          <p:cNvSpPr/>
          <p:nvPr/>
        </p:nvSpPr>
        <p:spPr>
          <a:xfrm>
            <a:off x="3573018" y="1801368"/>
            <a:ext cx="225628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ICS explainer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 interoperability explainer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Thought leadership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Landing experiences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nurture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95060" y="1143000"/>
            <a:ext cx="2622042" cy="457200"/>
          </a:xfrm>
          <a:prstGeom prst="roundRect">
            <a:avLst>
              <a:gd name="adj" fmla="val 12000"/>
            </a:avLst>
          </a:prstGeom>
          <a:solidFill>
            <a:srgbClr val="461478"/>
          </a:solidFill>
          <a:ln/>
        </p:spPr>
      </p:sp>
      <p:sp>
        <p:nvSpPr>
          <p:cNvPr id="13" name="Text 10"/>
          <p:cNvSpPr/>
          <p:nvPr/>
        </p:nvSpPr>
        <p:spPr>
          <a:xfrm>
            <a:off x="6286500" y="1143000"/>
            <a:ext cx="2439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BELIEF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5060" y="1691640"/>
            <a:ext cx="2622042" cy="2240280"/>
          </a:xfrm>
          <a:prstGeom prst="roundRect">
            <a:avLst>
              <a:gd name="adj" fmla="val 2449"/>
            </a:avLst>
          </a:prstGeom>
          <a:solidFill>
            <a:srgbClr val="ECE3F4"/>
          </a:solidFill>
          <a:ln/>
        </p:spPr>
      </p:sp>
      <p:sp>
        <p:nvSpPr>
          <p:cNvPr id="15" name="Text 12"/>
          <p:cNvSpPr/>
          <p:nvPr/>
        </p:nvSpPr>
        <p:spPr>
          <a:xfrm>
            <a:off x="6396228" y="1801368"/>
            <a:ext cx="225628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Databricks demo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DoorDash / Narrative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content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results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Webinars / events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18270" y="1143000"/>
            <a:ext cx="2622042" cy="457200"/>
          </a:xfrm>
          <a:prstGeom prst="roundRect">
            <a:avLst>
              <a:gd name="adj" fmla="val 12000"/>
            </a:avLst>
          </a:prstGeom>
          <a:solidFill>
            <a:srgbClr val="461478"/>
          </a:solidFill>
          <a:ln/>
        </p:spPr>
      </p:sp>
      <p:sp>
        <p:nvSpPr>
          <p:cNvPr id="17" name="Text 14"/>
          <p:cNvSpPr/>
          <p:nvPr/>
        </p:nvSpPr>
        <p:spPr>
          <a:xfrm>
            <a:off x="9109710" y="1143000"/>
            <a:ext cx="2439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ACTION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18270" y="1691640"/>
            <a:ext cx="2622042" cy="2240280"/>
          </a:xfrm>
          <a:prstGeom prst="roundRect">
            <a:avLst>
              <a:gd name="adj" fmla="val 2449"/>
            </a:avLst>
          </a:prstGeom>
          <a:solidFill>
            <a:srgbClr val="ECE3F4"/>
          </a:solidFill>
          <a:ln/>
        </p:spPr>
      </p:sp>
      <p:sp>
        <p:nvSpPr>
          <p:cNvPr id="19" name="Text 16"/>
          <p:cNvSpPr/>
          <p:nvPr/>
        </p:nvSpPr>
        <p:spPr>
          <a:xfrm>
            <a:off x="9219438" y="1801368"/>
            <a:ext cx="225628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ABM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outreach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co-sell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requests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Meetings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297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719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PROGRESSIVELY DEEPER STORY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663440"/>
            <a:ext cx="1396419" cy="1371600"/>
          </a:xfrm>
          <a:prstGeom prst="roundRect">
            <a:avLst>
              <a:gd name="adj" fmla="val 4000"/>
            </a:avLst>
          </a:prstGeom>
          <a:solidFill>
            <a:srgbClr val="461478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4773168"/>
            <a:ext cx="1304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A8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" y="5321808"/>
            <a:ext cx="12501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fragmented by identity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945059" y="466344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4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164515" y="4663440"/>
            <a:ext cx="1396419" cy="1371600"/>
          </a:xfrm>
          <a:prstGeom prst="roundRect">
            <a:avLst>
              <a:gd name="adj" fmla="val 4000"/>
            </a:avLst>
          </a:prstGeom>
          <a:solidFill>
            <a:srgbClr val="7719E1"/>
          </a:solidFill>
          <a:ln/>
        </p:spPr>
      </p:sp>
      <p:sp>
        <p:nvSpPr>
          <p:cNvPr id="26" name="Text 23"/>
          <p:cNvSpPr/>
          <p:nvPr/>
        </p:nvSpPr>
        <p:spPr>
          <a:xfrm>
            <a:off x="2210235" y="4773168"/>
            <a:ext cx="1304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A8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PROMISE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237667" y="5321808"/>
            <a:ext cx="12501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Accurate, complete, useful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560935" y="466344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4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780391" y="4663440"/>
            <a:ext cx="1396419" cy="1371600"/>
          </a:xfrm>
          <a:prstGeom prst="roundRect">
            <a:avLst>
              <a:gd name="adj" fmla="val 4000"/>
            </a:avLst>
          </a:prstGeom>
          <a:solidFill>
            <a:srgbClr val="461478"/>
          </a:solidFill>
          <a:ln/>
        </p:spPr>
      </p:sp>
      <p:sp>
        <p:nvSpPr>
          <p:cNvPr id="30" name="Text 27"/>
          <p:cNvSpPr/>
          <p:nvPr/>
        </p:nvSpPr>
        <p:spPr>
          <a:xfrm>
            <a:off x="3826111" y="4773168"/>
            <a:ext cx="1304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A8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853543" y="5321808"/>
            <a:ext cx="12501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Resolve. Enhance. Collaborate.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176810" y="466344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4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396266" y="4663440"/>
            <a:ext cx="1396419" cy="1371600"/>
          </a:xfrm>
          <a:prstGeom prst="roundRect">
            <a:avLst>
              <a:gd name="adj" fmla="val 4000"/>
            </a:avLst>
          </a:prstGeom>
          <a:solidFill>
            <a:srgbClr val="7719E1"/>
          </a:solidFill>
          <a:ln/>
        </p:spPr>
      </p:sp>
      <p:sp>
        <p:nvSpPr>
          <p:cNvPr id="34" name="Text 31"/>
          <p:cNvSpPr/>
          <p:nvPr/>
        </p:nvSpPr>
        <p:spPr>
          <a:xfrm>
            <a:off x="5441986" y="4773168"/>
            <a:ext cx="1304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A8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69418" y="5321808"/>
            <a:ext cx="12501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ICS + persistent ID + interop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792686" y="466344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4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012142" y="4663440"/>
            <a:ext cx="1396419" cy="1371600"/>
          </a:xfrm>
          <a:prstGeom prst="roundRect">
            <a:avLst>
              <a:gd name="adj" fmla="val 4000"/>
            </a:avLst>
          </a:prstGeom>
          <a:solidFill>
            <a:srgbClr val="461478"/>
          </a:solidFill>
          <a:ln/>
        </p:spPr>
      </p:sp>
      <p:sp>
        <p:nvSpPr>
          <p:cNvPr id="38" name="Text 35"/>
          <p:cNvSpPr/>
          <p:nvPr/>
        </p:nvSpPr>
        <p:spPr>
          <a:xfrm>
            <a:off x="7057862" y="4773168"/>
            <a:ext cx="1304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A8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085294" y="5321808"/>
            <a:ext cx="12501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Identity in Databricks / Snowflake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408561" y="466344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4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628017" y="4663440"/>
            <a:ext cx="1396419" cy="1371600"/>
          </a:xfrm>
          <a:prstGeom prst="roundRect">
            <a:avLst>
              <a:gd name="adj" fmla="val 4000"/>
            </a:avLst>
          </a:prstGeom>
          <a:solidFill>
            <a:srgbClr val="7719E1"/>
          </a:solidFill>
          <a:ln/>
        </p:spPr>
      </p:sp>
      <p:sp>
        <p:nvSpPr>
          <p:cNvPr id="42" name="Text 39"/>
          <p:cNvSpPr/>
          <p:nvPr/>
        </p:nvSpPr>
        <p:spPr>
          <a:xfrm>
            <a:off x="8673737" y="4773168"/>
            <a:ext cx="1304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A8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701169" y="5321808"/>
            <a:ext cx="12501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DoorDash / Narrative + demos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0024437" y="4663440"/>
            <a:ext cx="219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47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0243893" y="4663440"/>
            <a:ext cx="1396419" cy="1371600"/>
          </a:xfrm>
          <a:prstGeom prst="roundRect">
            <a:avLst>
              <a:gd name="adj" fmla="val 4000"/>
            </a:avLst>
          </a:prstGeom>
          <a:solidFill>
            <a:srgbClr val="461478"/>
          </a:solidFill>
          <a:ln/>
        </p:spPr>
      </p:sp>
      <p:sp>
        <p:nvSpPr>
          <p:cNvPr id="46" name="Text 43"/>
          <p:cNvSpPr/>
          <p:nvPr/>
        </p:nvSpPr>
        <p:spPr>
          <a:xfrm>
            <a:off x="10289613" y="4773168"/>
            <a:ext cx="1304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A8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 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317045" y="5321808"/>
            <a:ext cx="12501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AD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what Conexa can do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Need to Build &amp; Decide</a:t>
            </a:r>
            <a:endParaRPr lang="en-US" sz="3000" dirty="0"/>
          </a:p>
        </p:txBody>
      </p:sp>
      <p:pic>
        <p:nvPicPr>
          <p:cNvPr id="3" name="Image 0" descr="logo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6400800"/>
            <a:ext cx="960120" cy="2594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25880"/>
            <a:ext cx="5408676" cy="914400"/>
          </a:xfrm>
          <a:prstGeom prst="roundRect">
            <a:avLst>
              <a:gd name="adj" fmla="val 8000"/>
            </a:avLst>
          </a:prstGeom>
          <a:solidFill>
            <a:srgbClr val="ECE3F4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1508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61478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08760" y="1325880"/>
            <a:ext cx="4219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Finalize ICS story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31636" y="1325880"/>
            <a:ext cx="5408676" cy="914400"/>
          </a:xfrm>
          <a:prstGeom prst="roundRect">
            <a:avLst>
              <a:gd name="adj" fmla="val 8000"/>
            </a:avLst>
          </a:prstGeom>
          <a:solidFill>
            <a:srgbClr val="ECE3F4"/>
          </a:solidFill>
          <a:ln/>
        </p:spPr>
      </p:sp>
      <p:sp>
        <p:nvSpPr>
          <p:cNvPr id="9" name="Shape 6"/>
          <p:cNvSpPr/>
          <p:nvPr/>
        </p:nvSpPr>
        <p:spPr>
          <a:xfrm>
            <a:off x="6460236" y="1508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61478"/>
          </a:solidFill>
          <a:ln/>
        </p:spPr>
      </p:sp>
      <p:sp>
        <p:nvSpPr>
          <p:cNvPr id="10" name="Text 7"/>
          <p:cNvSpPr/>
          <p:nvPr/>
        </p:nvSpPr>
        <p:spPr>
          <a:xfrm>
            <a:off x="646023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191756" y="1325880"/>
            <a:ext cx="4219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Rename / position ID Translator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5408676" cy="914400"/>
          </a:xfrm>
          <a:prstGeom prst="roundRect">
            <a:avLst>
              <a:gd name="adj" fmla="val 8000"/>
            </a:avLst>
          </a:prstGeom>
          <a:solidFill>
            <a:srgbClr val="ECE3F4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2697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61478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08760" y="2514600"/>
            <a:ext cx="4219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Databricks demo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31636" y="2514600"/>
            <a:ext cx="5408676" cy="914400"/>
          </a:xfrm>
          <a:prstGeom prst="roundRect">
            <a:avLst>
              <a:gd name="adj" fmla="val 8000"/>
            </a:avLst>
          </a:prstGeom>
          <a:solidFill>
            <a:srgbClr val="ECE3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460236" y="2697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61478"/>
          </a:solidFill>
          <a:ln/>
        </p:spPr>
      </p:sp>
      <p:sp>
        <p:nvSpPr>
          <p:cNvPr id="18" name="Text 15"/>
          <p:cNvSpPr/>
          <p:nvPr/>
        </p:nvSpPr>
        <p:spPr>
          <a:xfrm>
            <a:off x="646023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191756" y="2514600"/>
            <a:ext cx="4219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Snowflake partner path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703320"/>
            <a:ext cx="5408676" cy="914400"/>
          </a:xfrm>
          <a:prstGeom prst="roundRect">
            <a:avLst>
              <a:gd name="adj" fmla="val 8000"/>
            </a:avLst>
          </a:prstGeom>
          <a:solidFill>
            <a:srgbClr val="ECE3F4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38862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61478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508760" y="3703320"/>
            <a:ext cx="4219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 DoorDash / Narrative announcement timing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31636" y="3703320"/>
            <a:ext cx="5408676" cy="914400"/>
          </a:xfrm>
          <a:prstGeom prst="roundRect">
            <a:avLst>
              <a:gd name="adj" fmla="val 8000"/>
            </a:avLst>
          </a:prstGeom>
          <a:solidFill>
            <a:srgbClr val="ECE3F4"/>
          </a:solidFill>
          <a:ln/>
        </p:spPr>
      </p:sp>
      <p:sp>
        <p:nvSpPr>
          <p:cNvPr id="25" name="Shape 22"/>
          <p:cNvSpPr/>
          <p:nvPr/>
        </p:nvSpPr>
        <p:spPr>
          <a:xfrm>
            <a:off x="6460236" y="38862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61478"/>
          </a:solidFill>
          <a:ln/>
        </p:spPr>
      </p:sp>
      <p:sp>
        <p:nvSpPr>
          <p:cNvPr id="26" name="Text 23"/>
          <p:cNvSpPr/>
          <p:nvPr/>
        </p:nvSpPr>
        <p:spPr>
          <a:xfrm>
            <a:off x="6460236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191756" y="3703320"/>
            <a:ext cx="4219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target-account list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8640" y="4892040"/>
            <a:ext cx="5408676" cy="914400"/>
          </a:xfrm>
          <a:prstGeom prst="roundRect">
            <a:avLst>
              <a:gd name="adj" fmla="val 8000"/>
            </a:avLst>
          </a:prstGeom>
          <a:solidFill>
            <a:srgbClr val="ECE3F4"/>
          </a:solidFill>
          <a:ln/>
        </p:spPr>
      </p:sp>
      <p:sp>
        <p:nvSpPr>
          <p:cNvPr id="29" name="Shape 26"/>
          <p:cNvSpPr/>
          <p:nvPr/>
        </p:nvSpPr>
        <p:spPr>
          <a:xfrm>
            <a:off x="777240" y="5074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61478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508760" y="4892040"/>
            <a:ext cx="4219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14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measurement model / investment case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Adstra Fall GTM</dc:title>
  <dc:subject>PptxGenJS Presentation</dc:subject>
  <dc:creator>Adstra</dc:creator>
  <cp:lastModifiedBy>Adstra</cp:lastModifiedBy>
  <cp:revision>1</cp:revision>
  <dcterms:created xsi:type="dcterms:W3CDTF">2026-08-17T19:06:27Z</dcterms:created>
  <dcterms:modified xsi:type="dcterms:W3CDTF">2026-08-17T19:06:27Z</dcterms:modified>
</cp:coreProperties>
</file>