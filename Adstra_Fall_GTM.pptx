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tells one progressively deeper story. The individual landing pages, videos, emails, events, DBX partnership, Snowflake activity, PR, and DoorDash story aren't separate initiatives — they're different ways of moving our ICP from "I didn't know Adstra did this" -&gt; "this is a problem I have" -&gt; "this approach is different" -&gt; "this works with my stack" -&gt; "I want to see it." That is the campaign.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81A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2026 GO-TO-MARKET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 GTM Objective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10241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i="1" dirty="0">
                <a:solidFill>
                  <a:srgbClr val="C9BC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Adstra is targeting data-mature brands and platforms that need identity intelligence inside the environments where their customer data already lives.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567178" cy="2651760"/>
          </a:xfrm>
          <a:prstGeom prst="roundRect">
            <a:avLst>
              <a:gd name="adj" fmla="val 2850"/>
            </a:avLst>
          </a:prstGeom>
          <a:solidFill>
            <a:srgbClr val="0B0616"/>
          </a:solidFill>
          <a:ln w="12700">
            <a:solidFill>
              <a:srgbClr val="4A35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363931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ACC15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3639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81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7240" y="4251960"/>
            <a:ext cx="210997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ICP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4617720"/>
            <a:ext cx="210997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Sophisticated brands + platforms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90138" y="3383280"/>
            <a:ext cx="2567178" cy="2651760"/>
          </a:xfrm>
          <a:prstGeom prst="roundRect">
            <a:avLst>
              <a:gd name="adj" fmla="val 2850"/>
            </a:avLst>
          </a:prstGeom>
          <a:solidFill>
            <a:srgbClr val="0B0616"/>
          </a:solidFill>
          <a:ln w="12700">
            <a:solidFill>
              <a:srgbClr val="4A35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18738" y="363931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ACC15"/>
          </a:solidFill>
          <a:ln/>
        </p:spPr>
      </p:sp>
      <p:sp>
        <p:nvSpPr>
          <p:cNvPr id="12" name="Text 10"/>
          <p:cNvSpPr/>
          <p:nvPr/>
        </p:nvSpPr>
        <p:spPr>
          <a:xfrm>
            <a:off x="3618738" y="3639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81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618738" y="4251960"/>
            <a:ext cx="210997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NEED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18738" y="4617720"/>
            <a:ext cx="210997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Accurate, complete, interoperable identity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31636" y="3383280"/>
            <a:ext cx="2567178" cy="2651760"/>
          </a:xfrm>
          <a:prstGeom prst="roundRect">
            <a:avLst>
              <a:gd name="adj" fmla="val 2850"/>
            </a:avLst>
          </a:prstGeom>
          <a:solidFill>
            <a:srgbClr val="0B0616"/>
          </a:solidFill>
          <a:ln w="12700">
            <a:solidFill>
              <a:srgbClr val="4A35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60236" y="363931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ACC15"/>
          </a:solidFill>
          <a:ln/>
        </p:spPr>
      </p:sp>
      <p:sp>
        <p:nvSpPr>
          <p:cNvPr id="17" name="Text 15"/>
          <p:cNvSpPr/>
          <p:nvPr/>
        </p:nvSpPr>
        <p:spPr>
          <a:xfrm>
            <a:off x="6460236" y="3639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81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60236" y="4251960"/>
            <a:ext cx="210997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GOAL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60236" y="4617720"/>
            <a:ext cx="210997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awareness, engagement, pipeline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073134" y="3383280"/>
            <a:ext cx="2567178" cy="2651760"/>
          </a:xfrm>
          <a:prstGeom prst="roundRect">
            <a:avLst>
              <a:gd name="adj" fmla="val 2850"/>
            </a:avLst>
          </a:prstGeom>
          <a:solidFill>
            <a:srgbClr val="0B0616"/>
          </a:solidFill>
          <a:ln w="12700">
            <a:solidFill>
              <a:srgbClr val="4A35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301734" y="363931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FACC15"/>
          </a:solidFill>
          <a:ln/>
        </p:spPr>
      </p:sp>
      <p:sp>
        <p:nvSpPr>
          <p:cNvPr id="22" name="Text 20"/>
          <p:cNvSpPr/>
          <p:nvPr/>
        </p:nvSpPr>
        <p:spPr>
          <a:xfrm>
            <a:off x="9301734" y="3639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81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301734" y="4251960"/>
            <a:ext cx="210997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301734" y="4617720"/>
            <a:ext cx="210997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Conexa + ICS + ID interoperability + Databricks / Snowflake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MESSAGING FRAMEWORK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81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Narrative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91672" cy="658368"/>
          </a:xfrm>
          <a:prstGeom prst="roundRect">
            <a:avLst>
              <a:gd name="adj" fmla="val 8333"/>
            </a:avLst>
          </a:prstGeom>
          <a:solidFill>
            <a:srgbClr val="281A48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10543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BRAND PROMISE   </a:t>
            </a:r>
            <a:pPr algn="l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Make customer data more accurate, complete and useful — where it already lives.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212848"/>
            <a:ext cx="3544824" cy="1417320"/>
          </a:xfrm>
          <a:prstGeom prst="roundRect">
            <a:avLst>
              <a:gd name="adj" fmla="val 3871"/>
            </a:avLst>
          </a:prstGeom>
          <a:solidFill>
            <a:srgbClr val="F3F0FA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331720"/>
            <a:ext cx="3179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4A3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633472"/>
            <a:ext cx="3179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13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 who your customers are.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926080"/>
            <a:ext cx="3179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• ICS • Persistent ID • Golden Record • Recognition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22064" y="2212848"/>
            <a:ext cx="3544824" cy="1417320"/>
          </a:xfrm>
          <a:prstGeom prst="roundRect">
            <a:avLst>
              <a:gd name="adj" fmla="val 3871"/>
            </a:avLst>
          </a:prstGeom>
          <a:solidFill>
            <a:srgbClr val="F3F0FA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2331720"/>
            <a:ext cx="3179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4A3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04944" y="2633472"/>
            <a:ext cx="3179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13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 more — and reach more.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04944" y="2926080"/>
            <a:ext cx="3179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expansion • Attributes • Household • Reach • Bid enrichment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95488" y="2212848"/>
            <a:ext cx="3544824" cy="1417320"/>
          </a:xfrm>
          <a:prstGeom prst="roundRect">
            <a:avLst>
              <a:gd name="adj" fmla="val 3871"/>
            </a:avLst>
          </a:prstGeom>
          <a:solidFill>
            <a:srgbClr val="F3F0FA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78368" y="2331720"/>
            <a:ext cx="3179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4A3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78368" y="2633472"/>
            <a:ext cx="3179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13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Put identity to work everywhere.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78368" y="2926080"/>
            <a:ext cx="31790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interoperability • Native onboarding • Activation • Clean rooms • Measurement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767328"/>
            <a:ext cx="11091672" cy="530352"/>
          </a:xfrm>
          <a:prstGeom prst="roundRect">
            <a:avLst>
              <a:gd name="adj" fmla="val 10345"/>
            </a:avLst>
          </a:prstGeom>
          <a:solidFill>
            <a:srgbClr val="EAE4F7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3767328"/>
            <a:ext cx="10543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4A3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 PROOF   </a:t>
            </a:r>
            <a:pPr indent="0" marL="0">
              <a:buNone/>
            </a:pPr>
            <a:r>
              <a:rPr lang="en-US" sz="1200" b="1" i="1" dirty="0">
                <a:solidFill>
                  <a:srgbClr val="1E13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 the modern data cloud.  </a:t>
            </a:r>
            <a:pPr indent="0" marL="0">
              <a:buNone/>
            </a:pPr>
            <a:r>
              <a:rPr lang="en-US" sz="10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• Snowflake • Native processing • No unnecessary data movement • API / platform connectivity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4389120"/>
            <a:ext cx="11091672" cy="530352"/>
          </a:xfrm>
          <a:prstGeom prst="roundRect">
            <a:avLst>
              <a:gd name="adj" fmla="val 10345"/>
            </a:avLst>
          </a:prstGeom>
          <a:solidFill>
            <a:srgbClr val="EAE4F7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4389120"/>
            <a:ext cx="10543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4A3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DIFFERENTIATED TECHNOLOGY   </a:t>
            </a:r>
            <a:pPr indent="0" marL="0">
              <a:buNone/>
            </a:pPr>
            <a:r>
              <a:rPr lang="en-US" sz="105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Conexa • ICS • Persistent ID • Identity graph • Cross-walk / “ID Translator” • Native Cloud Apps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5029200"/>
            <a:ext cx="5431536" cy="1298448"/>
          </a:xfrm>
          <a:prstGeom prst="roundRect">
            <a:avLst>
              <a:gd name="adj" fmla="val 4225"/>
            </a:avLst>
          </a:prstGeom>
          <a:solidFill>
            <a:srgbClr val="281A48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157216"/>
            <a:ext cx="4974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" y="5468112"/>
            <a:ext cx="49743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customer understanding → more addressable customers → better experiences → more efficient media → better measurement.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08776" y="5029200"/>
            <a:ext cx="5431536" cy="1298448"/>
          </a:xfrm>
          <a:prstGeom prst="roundRect">
            <a:avLst>
              <a:gd name="adj" fmla="val 4225"/>
            </a:avLst>
          </a:prstGeom>
          <a:solidFill>
            <a:srgbClr val="281A48"/>
          </a:solidFill>
          <a:ln/>
        </p:spPr>
      </p:sp>
      <p:sp>
        <p:nvSpPr>
          <p:cNvPr id="26" name="Text 24"/>
          <p:cNvSpPr/>
          <p:nvPr/>
        </p:nvSpPr>
        <p:spPr>
          <a:xfrm>
            <a:off x="6437376" y="5157216"/>
            <a:ext cx="4974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37376" y="5468112"/>
            <a:ext cx="49743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identity → stronger products → higher match rates → greater inventory / data value → easier interoperability.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ICP FRAMEWORK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81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We’re Targeting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08676" cy="457200"/>
          </a:xfrm>
          <a:prstGeom prst="roundRect">
            <a:avLst>
              <a:gd name="adj" fmla="val 10000"/>
            </a:avLst>
          </a:prstGeom>
          <a:solidFill>
            <a:srgbClr val="4A3580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417320"/>
            <a:ext cx="4951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ICP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94360" y="1984248"/>
            <a:ext cx="53172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i="1" dirty="0">
                <a:solidFill>
                  <a:srgbClr val="1E13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Enterprise brands with significant first-party customer data and modern data infrastructure that need a more accurate, persistent, and interoperable identity foundation to improve customer understanding, addressability, activation, personalization, and measurement.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5408676" cy="438912"/>
          </a:xfrm>
          <a:prstGeom prst="roundRect">
            <a:avLst>
              <a:gd name="adj" fmla="val 8333"/>
            </a:avLst>
          </a:prstGeom>
          <a:solidFill>
            <a:srgbClr val="F3F0FA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3200400"/>
            <a:ext cx="49514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first-party data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712464"/>
            <a:ext cx="5408676" cy="438912"/>
          </a:xfrm>
          <a:prstGeom prst="roundRect">
            <a:avLst>
              <a:gd name="adj" fmla="val 8333"/>
            </a:avLst>
          </a:prstGeom>
          <a:solidFill>
            <a:srgbClr val="EAE4F7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712464"/>
            <a:ext cx="49514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/ Snowflake or modern cloud stack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4224528"/>
            <a:ext cx="5408676" cy="438912"/>
          </a:xfrm>
          <a:prstGeom prst="roundRect">
            <a:avLst>
              <a:gd name="adj" fmla="val 8333"/>
            </a:avLst>
          </a:prstGeom>
          <a:solidFill>
            <a:srgbClr val="F3F0FA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224528"/>
            <a:ext cx="49514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fragmentation across systems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736592"/>
            <a:ext cx="5408676" cy="438912"/>
          </a:xfrm>
          <a:prstGeom prst="roundRect">
            <a:avLst>
              <a:gd name="adj" fmla="val 8333"/>
            </a:avLst>
          </a:prstGeom>
          <a:solidFill>
            <a:srgbClr val="EAE4F7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4736592"/>
            <a:ext cx="49514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better understanding, reach, activation, measurement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5257800"/>
            <a:ext cx="49514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Buyers: CDO, CMO, MarTech, Analytics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31636" y="1417320"/>
            <a:ext cx="5408676" cy="457200"/>
          </a:xfrm>
          <a:prstGeom prst="roundRect">
            <a:avLst>
              <a:gd name="adj" fmla="val 10000"/>
            </a:avLst>
          </a:prstGeom>
          <a:solidFill>
            <a:srgbClr val="281A48"/>
          </a:solidFill>
          <a:ln/>
        </p:spPr>
      </p:sp>
      <p:sp>
        <p:nvSpPr>
          <p:cNvPr id="17" name="Text 15"/>
          <p:cNvSpPr/>
          <p:nvPr/>
        </p:nvSpPr>
        <p:spPr>
          <a:xfrm>
            <a:off x="6460236" y="1417320"/>
            <a:ext cx="4951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ICP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77356" y="1984248"/>
            <a:ext cx="53172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i="1" dirty="0">
                <a:solidFill>
                  <a:srgbClr val="1E13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Data, media and technology platforms with sophisticated infrastructure that need identity as a foundational capability to improve their products, customer interoperability, inventory / data value, or monetization.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200400"/>
            <a:ext cx="5408676" cy="438912"/>
          </a:xfrm>
          <a:prstGeom prst="roundRect">
            <a:avLst>
              <a:gd name="adj" fmla="val 8333"/>
            </a:avLst>
          </a:prstGeom>
          <a:solidFill>
            <a:srgbClr val="F3F0FA"/>
          </a:solidFill>
          <a:ln/>
        </p:spPr>
      </p:sp>
      <p:sp>
        <p:nvSpPr>
          <p:cNvPr id="20" name="Text 18"/>
          <p:cNvSpPr/>
          <p:nvPr/>
        </p:nvSpPr>
        <p:spPr>
          <a:xfrm>
            <a:off x="6460236" y="3200400"/>
            <a:ext cx="49514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Large-scale identity / data ecosystem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31636" y="3712464"/>
            <a:ext cx="5408676" cy="438912"/>
          </a:xfrm>
          <a:prstGeom prst="roundRect">
            <a:avLst>
              <a:gd name="adj" fmla="val 8333"/>
            </a:avLst>
          </a:prstGeom>
          <a:solidFill>
            <a:srgbClr val="EAE4F7"/>
          </a:solidFill>
          <a:ln/>
        </p:spPr>
      </p:sp>
      <p:sp>
        <p:nvSpPr>
          <p:cNvPr id="22" name="Text 20"/>
          <p:cNvSpPr/>
          <p:nvPr/>
        </p:nvSpPr>
        <p:spPr>
          <a:xfrm>
            <a:off x="6460236" y="3712464"/>
            <a:ext cx="49514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Sophisticated platform infrastructure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31636" y="4224528"/>
            <a:ext cx="5408676" cy="438912"/>
          </a:xfrm>
          <a:prstGeom prst="roundRect">
            <a:avLst>
              <a:gd name="adj" fmla="val 8333"/>
            </a:avLst>
          </a:prstGeom>
          <a:solidFill>
            <a:srgbClr val="F3F0FA"/>
          </a:solidFill>
          <a:ln/>
        </p:spPr>
      </p:sp>
      <p:sp>
        <p:nvSpPr>
          <p:cNvPr id="24" name="Text 22"/>
          <p:cNvSpPr/>
          <p:nvPr/>
        </p:nvSpPr>
        <p:spPr>
          <a:xfrm>
            <a:off x="6460236" y="4224528"/>
            <a:ext cx="49514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needed as product infrastructure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31636" y="4736592"/>
            <a:ext cx="5408676" cy="438912"/>
          </a:xfrm>
          <a:prstGeom prst="roundRect">
            <a:avLst>
              <a:gd name="adj" fmla="val 8333"/>
            </a:avLst>
          </a:prstGeom>
          <a:solidFill>
            <a:srgbClr val="EAE4F7"/>
          </a:solidFill>
          <a:ln/>
        </p:spPr>
      </p:sp>
      <p:sp>
        <p:nvSpPr>
          <p:cNvPr id="26" name="Text 24"/>
          <p:cNvSpPr/>
          <p:nvPr/>
        </p:nvSpPr>
        <p:spPr>
          <a:xfrm>
            <a:off x="6460236" y="4736592"/>
            <a:ext cx="49514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better match, interoperability, monetization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60236" y="5257800"/>
            <a:ext cx="49514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Buyers: CTO, CPO, CDO, CRO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806440"/>
            <a:ext cx="11091672" cy="658368"/>
          </a:xfrm>
          <a:prstGeom prst="roundRect">
            <a:avLst>
              <a:gd name="adj" fmla="val 8333"/>
            </a:avLst>
          </a:prstGeom>
          <a:solidFill>
            <a:srgbClr val="FACC15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5806440"/>
            <a:ext cx="10543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1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Brands </a:t>
            </a:r>
            <a:pPr indent="0" marL="0">
              <a:buNone/>
            </a:pPr>
            <a:r>
              <a:rPr lang="en-US" sz="1400" dirty="0">
                <a:solidFill>
                  <a:srgbClr val="281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Conexa to get more value from customer relationships.   </a:t>
            </a:r>
            <a:pPr indent="0" marL="0">
              <a:buNone/>
            </a:pPr>
            <a:r>
              <a:rPr lang="en-US" sz="1400" b="1" dirty="0">
                <a:solidFill>
                  <a:srgbClr val="281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Platforms </a:t>
            </a:r>
            <a:pPr indent="0" marL="0">
              <a:buNone/>
            </a:pPr>
            <a:r>
              <a:rPr lang="en-US" sz="1400" dirty="0">
                <a:solidFill>
                  <a:srgbClr val="281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embed Conexa to make their products and ecosystems more valuable.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GTM PLAN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81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Integrated Fall Plan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08676" cy="1783080"/>
          </a:xfrm>
          <a:prstGeom prst="roundRect">
            <a:avLst>
              <a:gd name="adj" fmla="val 3590"/>
            </a:avLst>
          </a:prstGeom>
          <a:solidFill>
            <a:srgbClr val="F3F0FA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37360"/>
            <a:ext cx="3108960" cy="457200"/>
          </a:xfrm>
          <a:prstGeom prst="roundRect">
            <a:avLst>
              <a:gd name="adj" fmla="val 10000"/>
            </a:avLst>
          </a:prstGeom>
          <a:solidFill>
            <a:srgbClr val="4A358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373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331720"/>
            <a:ext cx="48600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account list • Persona plays • Sales enablement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31636" y="1463040"/>
            <a:ext cx="5408676" cy="1783080"/>
          </a:xfrm>
          <a:prstGeom prst="roundRect">
            <a:avLst>
              <a:gd name="adj" fmla="val 3590"/>
            </a:avLst>
          </a:prstGeom>
          <a:solidFill>
            <a:srgbClr val="F3F0FA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05956" y="1737360"/>
            <a:ext cx="3108960" cy="457200"/>
          </a:xfrm>
          <a:prstGeom prst="roundRect">
            <a:avLst>
              <a:gd name="adj" fmla="val 10000"/>
            </a:avLst>
          </a:prstGeom>
          <a:solidFill>
            <a:srgbClr val="4A3580"/>
          </a:solidFill>
          <a:ln/>
        </p:spPr>
      </p:sp>
      <p:sp>
        <p:nvSpPr>
          <p:cNvPr id="10" name="Text 8"/>
          <p:cNvSpPr/>
          <p:nvPr/>
        </p:nvSpPr>
        <p:spPr>
          <a:xfrm>
            <a:off x="6505956" y="17373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05956" y="2331720"/>
            <a:ext cx="48600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pages for ICS, ID interoperability, Databricks, Snowflake • Hype video • Explainer videos • Nurture emails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520440"/>
            <a:ext cx="5408676" cy="1783080"/>
          </a:xfrm>
          <a:prstGeom prst="roundRect">
            <a:avLst>
              <a:gd name="adj" fmla="val 3590"/>
            </a:avLst>
          </a:prstGeom>
          <a:solidFill>
            <a:srgbClr val="F3F0FA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794760"/>
            <a:ext cx="3108960" cy="457200"/>
          </a:xfrm>
          <a:prstGeom prst="roundRect">
            <a:avLst>
              <a:gd name="adj" fmla="val 10000"/>
            </a:avLst>
          </a:prstGeom>
          <a:solidFill>
            <a:srgbClr val="4A358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794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4389120"/>
            <a:ext cx="48600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Advertising Week launch moment → Q4 education → CES amplification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31636" y="3520440"/>
            <a:ext cx="5408676" cy="1783080"/>
          </a:xfrm>
          <a:prstGeom prst="roundRect">
            <a:avLst>
              <a:gd name="adj" fmla="val 3590"/>
            </a:avLst>
          </a:prstGeom>
          <a:solidFill>
            <a:srgbClr val="F3F0FA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05956" y="3794760"/>
            <a:ext cx="3108960" cy="457200"/>
          </a:xfrm>
          <a:prstGeom prst="roundRect">
            <a:avLst>
              <a:gd name="adj" fmla="val 10000"/>
            </a:avLst>
          </a:prstGeom>
          <a:solidFill>
            <a:srgbClr val="4A3580"/>
          </a:solidFill>
          <a:ln/>
        </p:spPr>
      </p:sp>
      <p:sp>
        <p:nvSpPr>
          <p:cNvPr id="18" name="Text 16"/>
          <p:cNvSpPr/>
          <p:nvPr/>
        </p:nvSpPr>
        <p:spPr>
          <a:xfrm>
            <a:off x="6505956" y="3794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MARKETING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05956" y="4389120"/>
            <a:ext cx="48600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• Snowflake • Narrative / DoorDash • Crossbeam • Vertical alignment • Conexa demo in Databricks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592531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011680" y="5943600"/>
            <a:ext cx="1669694" cy="457200"/>
          </a:xfrm>
          <a:prstGeom prst="roundRect">
            <a:avLst>
              <a:gd name="adj" fmla="val 50000"/>
            </a:avLst>
          </a:prstGeom>
          <a:solidFill>
            <a:srgbClr val="281A48"/>
          </a:solidFill>
          <a:ln/>
        </p:spPr>
      </p:sp>
      <p:sp>
        <p:nvSpPr>
          <p:cNvPr id="22" name="Text 20"/>
          <p:cNvSpPr/>
          <p:nvPr/>
        </p:nvSpPr>
        <p:spPr>
          <a:xfrm>
            <a:off x="2011680" y="5943600"/>
            <a:ext cx="1669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81374" y="59436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001414" y="5943600"/>
            <a:ext cx="1669694" cy="45720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/>
        </p:spPr>
      </p:sp>
      <p:sp>
        <p:nvSpPr>
          <p:cNvPr id="25" name="Text 23"/>
          <p:cNvSpPr/>
          <p:nvPr/>
        </p:nvSpPr>
        <p:spPr>
          <a:xfrm>
            <a:off x="4001414" y="5943600"/>
            <a:ext cx="1669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671109" y="59436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5991149" y="5943600"/>
            <a:ext cx="1669694" cy="45720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5991149" y="5943600"/>
            <a:ext cx="1669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660843" y="59436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7980883" y="5943600"/>
            <a:ext cx="1669694" cy="45720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/>
        </p:spPr>
      </p:sp>
      <p:sp>
        <p:nvSpPr>
          <p:cNvPr id="31" name="Text 29"/>
          <p:cNvSpPr/>
          <p:nvPr/>
        </p:nvSpPr>
        <p:spPr>
          <a:xfrm>
            <a:off x="7980883" y="5943600"/>
            <a:ext cx="1669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650578" y="59436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9970618" y="5943600"/>
            <a:ext cx="1669694" cy="457200"/>
          </a:xfrm>
          <a:prstGeom prst="roundRect">
            <a:avLst>
              <a:gd name="adj" fmla="val 50000"/>
            </a:avLst>
          </a:prstGeom>
          <a:solidFill>
            <a:srgbClr val="FACC15"/>
          </a:solidFill>
          <a:ln/>
        </p:spPr>
      </p:sp>
      <p:sp>
        <p:nvSpPr>
          <p:cNvPr id="34" name="Text 32"/>
          <p:cNvSpPr/>
          <p:nvPr/>
        </p:nvSpPr>
        <p:spPr>
          <a:xfrm>
            <a:off x="9970618" y="5943600"/>
            <a:ext cx="1669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81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Amplify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CONTENT SYSTEM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81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Campaign, Four Moves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622042" cy="457200"/>
          </a:xfrm>
          <a:prstGeom prst="roundRect">
            <a:avLst>
              <a:gd name="adj" fmla="val 10000"/>
            </a:avLst>
          </a:prstGeom>
          <a:solidFill>
            <a:srgbClr val="281A4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17320"/>
            <a:ext cx="24391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AWARENESS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2622042" cy="2331720"/>
          </a:xfrm>
          <a:prstGeom prst="roundRect">
            <a:avLst>
              <a:gd name="adj" fmla="val 1961"/>
            </a:avLst>
          </a:prstGeom>
          <a:solidFill>
            <a:srgbClr val="F3F0FA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2103120"/>
            <a:ext cx="225628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 video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/ social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Advertising Week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POV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71850" y="1417320"/>
            <a:ext cx="2622042" cy="457200"/>
          </a:xfrm>
          <a:prstGeom prst="roundRect">
            <a:avLst>
              <a:gd name="adj" fmla="val 10000"/>
            </a:avLst>
          </a:prstGeom>
          <a:solidFill>
            <a:srgbClr val="4A3580"/>
          </a:solidFill>
          <a:ln/>
        </p:spPr>
      </p:sp>
      <p:sp>
        <p:nvSpPr>
          <p:cNvPr id="9" name="Text 7"/>
          <p:cNvSpPr/>
          <p:nvPr/>
        </p:nvSpPr>
        <p:spPr>
          <a:xfrm>
            <a:off x="3463290" y="1417320"/>
            <a:ext cx="24391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UNDERSTANDING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71850" y="1965960"/>
            <a:ext cx="2622042" cy="2331720"/>
          </a:xfrm>
          <a:prstGeom prst="roundRect">
            <a:avLst>
              <a:gd name="adj" fmla="val 1961"/>
            </a:avLst>
          </a:prstGeom>
          <a:solidFill>
            <a:srgbClr val="F3F0FA"/>
          </a:solidFill>
          <a:ln/>
        </p:spPr>
      </p:sp>
      <p:sp>
        <p:nvSpPr>
          <p:cNvPr id="11" name="Text 9"/>
          <p:cNvSpPr/>
          <p:nvPr/>
        </p:nvSpPr>
        <p:spPr>
          <a:xfrm>
            <a:off x="3573018" y="2103120"/>
            <a:ext cx="225628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ICS explainer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interoperability explainer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 leadership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experiences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nurture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5060" y="1417320"/>
            <a:ext cx="2622042" cy="457200"/>
          </a:xfrm>
          <a:prstGeom prst="roundRect">
            <a:avLst>
              <a:gd name="adj" fmla="val 10000"/>
            </a:avLst>
          </a:prstGeom>
          <a:solidFill>
            <a:srgbClr val="8B5CF6"/>
          </a:solidFill>
          <a:ln/>
        </p:spPr>
      </p:sp>
      <p:sp>
        <p:nvSpPr>
          <p:cNvPr id="13" name="Text 11"/>
          <p:cNvSpPr/>
          <p:nvPr/>
        </p:nvSpPr>
        <p:spPr>
          <a:xfrm>
            <a:off x="6286500" y="1417320"/>
            <a:ext cx="24391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BELIEF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95060" y="1965960"/>
            <a:ext cx="2622042" cy="2331720"/>
          </a:xfrm>
          <a:prstGeom prst="roundRect">
            <a:avLst>
              <a:gd name="adj" fmla="val 1961"/>
            </a:avLst>
          </a:prstGeom>
          <a:solidFill>
            <a:srgbClr val="F3F0FA"/>
          </a:solidFill>
          <a:ln/>
        </p:spPr>
      </p:sp>
      <p:sp>
        <p:nvSpPr>
          <p:cNvPr id="15" name="Text 13"/>
          <p:cNvSpPr/>
          <p:nvPr/>
        </p:nvSpPr>
        <p:spPr>
          <a:xfrm>
            <a:off x="6396228" y="2103120"/>
            <a:ext cx="225628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demo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DoorDash / Narrative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content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results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Webinars / events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18270" y="1417320"/>
            <a:ext cx="2622042" cy="457200"/>
          </a:xfrm>
          <a:prstGeom prst="roundRect">
            <a:avLst>
              <a:gd name="adj" fmla="val 10000"/>
            </a:avLst>
          </a:prstGeom>
          <a:solidFill>
            <a:srgbClr val="FACC15"/>
          </a:solidFill>
          <a:ln/>
        </p:spPr>
      </p:sp>
      <p:sp>
        <p:nvSpPr>
          <p:cNvPr id="17" name="Text 15"/>
          <p:cNvSpPr/>
          <p:nvPr/>
        </p:nvSpPr>
        <p:spPr>
          <a:xfrm>
            <a:off x="9109710" y="1417320"/>
            <a:ext cx="24391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281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ACTION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018270" y="1965960"/>
            <a:ext cx="2622042" cy="2331720"/>
          </a:xfrm>
          <a:prstGeom prst="roundRect">
            <a:avLst>
              <a:gd name="adj" fmla="val 1961"/>
            </a:avLst>
          </a:prstGeom>
          <a:solidFill>
            <a:srgbClr val="F3F0FA"/>
          </a:solidFill>
          <a:ln/>
        </p:spPr>
      </p:sp>
      <p:sp>
        <p:nvSpPr>
          <p:cNvPr id="19" name="Text 17"/>
          <p:cNvSpPr/>
          <p:nvPr/>
        </p:nvSpPr>
        <p:spPr>
          <a:xfrm>
            <a:off x="9219438" y="2103120"/>
            <a:ext cx="225628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ABM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outreach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co-sell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requests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52628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PROGRESSIVELY DEEPER STORY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4892040"/>
            <a:ext cx="1380744" cy="1325880"/>
          </a:xfrm>
          <a:prstGeom prst="roundRect">
            <a:avLst>
              <a:gd name="adj" fmla="val 3448"/>
            </a:avLst>
          </a:prstGeom>
          <a:solidFill>
            <a:srgbClr val="281A48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5001768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1792" y="5550408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fragmented by identity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929384" y="4892040"/>
            <a:ext cx="2377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167128" y="4892040"/>
            <a:ext cx="1380744" cy="1325880"/>
          </a:xfrm>
          <a:prstGeom prst="roundRect">
            <a:avLst>
              <a:gd name="adj" fmla="val 3448"/>
            </a:avLst>
          </a:prstGeom>
          <a:solidFill>
            <a:srgbClr val="281A48"/>
          </a:solidFill>
          <a:ln/>
        </p:spPr>
      </p:sp>
      <p:sp>
        <p:nvSpPr>
          <p:cNvPr id="26" name="Text 24"/>
          <p:cNvSpPr/>
          <p:nvPr/>
        </p:nvSpPr>
        <p:spPr>
          <a:xfrm>
            <a:off x="2212848" y="5001768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240280" y="5550408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Accurate, complete, useful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3547872" y="4892040"/>
            <a:ext cx="2377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4892040"/>
            <a:ext cx="1380744" cy="1325880"/>
          </a:xfrm>
          <a:prstGeom prst="roundRect">
            <a:avLst>
              <a:gd name="adj" fmla="val 3448"/>
            </a:avLst>
          </a:prstGeom>
          <a:solidFill>
            <a:srgbClr val="281A48"/>
          </a:solidFill>
          <a:ln/>
        </p:spPr>
      </p:sp>
      <p:sp>
        <p:nvSpPr>
          <p:cNvPr id="30" name="Text 28"/>
          <p:cNvSpPr/>
          <p:nvPr/>
        </p:nvSpPr>
        <p:spPr>
          <a:xfrm>
            <a:off x="3831336" y="5001768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858768" y="5550408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Resolve. Enhance. Collaborate.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166360" y="4892040"/>
            <a:ext cx="2377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04104" y="4892040"/>
            <a:ext cx="1380744" cy="1325880"/>
          </a:xfrm>
          <a:prstGeom prst="roundRect">
            <a:avLst>
              <a:gd name="adj" fmla="val 3448"/>
            </a:avLst>
          </a:prstGeom>
          <a:solidFill>
            <a:srgbClr val="281A48"/>
          </a:solidFill>
          <a:ln/>
        </p:spPr>
      </p:sp>
      <p:sp>
        <p:nvSpPr>
          <p:cNvPr id="34" name="Text 32"/>
          <p:cNvSpPr/>
          <p:nvPr/>
        </p:nvSpPr>
        <p:spPr>
          <a:xfrm>
            <a:off x="5449824" y="5001768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DIFFERENTIATION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77256" y="5550408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ICS + persistent ID + interop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784848" y="4892040"/>
            <a:ext cx="2377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022592" y="4892040"/>
            <a:ext cx="1380744" cy="1325880"/>
          </a:xfrm>
          <a:prstGeom prst="roundRect">
            <a:avLst>
              <a:gd name="adj" fmla="val 3448"/>
            </a:avLst>
          </a:prstGeom>
          <a:solidFill>
            <a:srgbClr val="281A48"/>
          </a:solidFill>
          <a:ln/>
        </p:spPr>
      </p:sp>
      <p:sp>
        <p:nvSpPr>
          <p:cNvPr id="38" name="Text 36"/>
          <p:cNvSpPr/>
          <p:nvPr/>
        </p:nvSpPr>
        <p:spPr>
          <a:xfrm>
            <a:off x="7068312" y="5001768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095744" y="5550408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in Databricks / Snowflake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8403336" y="4892040"/>
            <a:ext cx="2377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641080" y="4892040"/>
            <a:ext cx="1380744" cy="1325880"/>
          </a:xfrm>
          <a:prstGeom prst="roundRect">
            <a:avLst>
              <a:gd name="adj" fmla="val 3448"/>
            </a:avLst>
          </a:prstGeom>
          <a:solidFill>
            <a:srgbClr val="281A48"/>
          </a:solidFill>
          <a:ln/>
        </p:spPr>
      </p:sp>
      <p:sp>
        <p:nvSpPr>
          <p:cNvPr id="42" name="Text 40"/>
          <p:cNvSpPr/>
          <p:nvPr/>
        </p:nvSpPr>
        <p:spPr>
          <a:xfrm>
            <a:off x="8686800" y="5001768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</a:t>
            </a:r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714232" y="5550408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DoorDash / Narrative + demos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10021824" y="4892040"/>
            <a:ext cx="23774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0259568" y="4892040"/>
            <a:ext cx="1380744" cy="1325880"/>
          </a:xfrm>
          <a:prstGeom prst="roundRect">
            <a:avLst>
              <a:gd name="adj" fmla="val 3448"/>
            </a:avLst>
          </a:prstGeom>
          <a:solidFill>
            <a:srgbClr val="281A48"/>
          </a:solidFill>
          <a:ln/>
        </p:spPr>
      </p:sp>
      <p:sp>
        <p:nvSpPr>
          <p:cNvPr id="46" name="Text 44"/>
          <p:cNvSpPr/>
          <p:nvPr/>
        </p:nvSpPr>
        <p:spPr>
          <a:xfrm>
            <a:off x="10305288" y="5001768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</a:t>
            </a:r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AC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10332720" y="5550408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what Conexa can do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WORKSTREAMS / DECISIONS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81A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Need to Build &amp; Decide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08676" cy="914400"/>
          </a:xfrm>
          <a:prstGeom prst="roundRect">
            <a:avLst>
              <a:gd name="adj" fmla="val 7000"/>
            </a:avLst>
          </a:prstGeom>
          <a:solidFill>
            <a:srgbClr val="F3F0FA"/>
          </a:solidFill>
          <a:ln w="12700">
            <a:solidFill>
              <a:srgbClr val="C9BC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60220"/>
            <a:ext cx="502920" cy="502920"/>
          </a:xfrm>
          <a:prstGeom prst="roundRect">
            <a:avLst>
              <a:gd name="adj" fmla="val 12727"/>
            </a:avLst>
          </a:prstGeom>
          <a:solidFill>
            <a:srgbClr val="4A358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602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63040" y="1554480"/>
            <a:ext cx="42656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 ICS story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31636" y="1554480"/>
            <a:ext cx="5408676" cy="914400"/>
          </a:xfrm>
          <a:prstGeom prst="roundRect">
            <a:avLst>
              <a:gd name="adj" fmla="val 7000"/>
            </a:avLst>
          </a:prstGeom>
          <a:solidFill>
            <a:srgbClr val="F3F0FA"/>
          </a:solidFill>
          <a:ln w="12700">
            <a:solidFill>
              <a:srgbClr val="C9BC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60236" y="1760220"/>
            <a:ext cx="502920" cy="502920"/>
          </a:xfrm>
          <a:prstGeom prst="roundRect">
            <a:avLst>
              <a:gd name="adj" fmla="val 12727"/>
            </a:avLst>
          </a:prstGeom>
          <a:solidFill>
            <a:srgbClr val="4A3580"/>
          </a:solidFill>
          <a:ln/>
        </p:spPr>
      </p:sp>
      <p:sp>
        <p:nvSpPr>
          <p:cNvPr id="10" name="Text 8"/>
          <p:cNvSpPr/>
          <p:nvPr/>
        </p:nvSpPr>
        <p:spPr>
          <a:xfrm>
            <a:off x="6460236" y="17602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146036" y="1554480"/>
            <a:ext cx="42656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 / position ID Translator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2724912"/>
            <a:ext cx="5408676" cy="914400"/>
          </a:xfrm>
          <a:prstGeom prst="roundRect">
            <a:avLst>
              <a:gd name="adj" fmla="val 7000"/>
            </a:avLst>
          </a:prstGeom>
          <a:solidFill>
            <a:srgbClr val="F3F0FA"/>
          </a:solidFill>
          <a:ln w="12700">
            <a:solidFill>
              <a:srgbClr val="C9BC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930652"/>
            <a:ext cx="502920" cy="502920"/>
          </a:xfrm>
          <a:prstGeom prst="roundRect">
            <a:avLst>
              <a:gd name="adj" fmla="val 12727"/>
            </a:avLst>
          </a:prstGeom>
          <a:solidFill>
            <a:srgbClr val="4A3580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9306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2724912"/>
            <a:ext cx="42656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Databricks demo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231636" y="2724912"/>
            <a:ext cx="5408676" cy="914400"/>
          </a:xfrm>
          <a:prstGeom prst="roundRect">
            <a:avLst>
              <a:gd name="adj" fmla="val 7000"/>
            </a:avLst>
          </a:prstGeom>
          <a:solidFill>
            <a:srgbClr val="F3F0FA"/>
          </a:solidFill>
          <a:ln w="12700">
            <a:solidFill>
              <a:srgbClr val="C9BC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60236" y="2930652"/>
            <a:ext cx="502920" cy="502920"/>
          </a:xfrm>
          <a:prstGeom prst="roundRect">
            <a:avLst>
              <a:gd name="adj" fmla="val 12727"/>
            </a:avLst>
          </a:prstGeom>
          <a:solidFill>
            <a:srgbClr val="4A3580"/>
          </a:solidFill>
          <a:ln/>
        </p:spPr>
      </p:sp>
      <p:sp>
        <p:nvSpPr>
          <p:cNvPr id="18" name="Text 16"/>
          <p:cNvSpPr/>
          <p:nvPr/>
        </p:nvSpPr>
        <p:spPr>
          <a:xfrm>
            <a:off x="6460236" y="29306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146036" y="2724912"/>
            <a:ext cx="42656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Snowflake partner path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3895344"/>
            <a:ext cx="5408676" cy="914400"/>
          </a:xfrm>
          <a:prstGeom prst="roundRect">
            <a:avLst>
              <a:gd name="adj" fmla="val 7000"/>
            </a:avLst>
          </a:prstGeom>
          <a:solidFill>
            <a:srgbClr val="F3F0FA"/>
          </a:solidFill>
          <a:ln w="12700">
            <a:solidFill>
              <a:srgbClr val="C9BC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101084"/>
            <a:ext cx="502920" cy="502920"/>
          </a:xfrm>
          <a:prstGeom prst="roundRect">
            <a:avLst>
              <a:gd name="adj" fmla="val 12727"/>
            </a:avLst>
          </a:prstGeom>
          <a:solidFill>
            <a:srgbClr val="4A3580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1010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463040" y="3895344"/>
            <a:ext cx="42656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DoorDash / Narrative announcement timing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231636" y="3895344"/>
            <a:ext cx="5408676" cy="914400"/>
          </a:xfrm>
          <a:prstGeom prst="roundRect">
            <a:avLst>
              <a:gd name="adj" fmla="val 7000"/>
            </a:avLst>
          </a:prstGeom>
          <a:solidFill>
            <a:srgbClr val="F3F0FA"/>
          </a:solidFill>
          <a:ln w="12700">
            <a:solidFill>
              <a:srgbClr val="C9BC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60236" y="4101084"/>
            <a:ext cx="502920" cy="502920"/>
          </a:xfrm>
          <a:prstGeom prst="roundRect">
            <a:avLst>
              <a:gd name="adj" fmla="val 12727"/>
            </a:avLst>
          </a:prstGeom>
          <a:solidFill>
            <a:srgbClr val="4A3580"/>
          </a:solidFill>
          <a:ln/>
        </p:spPr>
      </p:sp>
      <p:sp>
        <p:nvSpPr>
          <p:cNvPr id="26" name="Text 24"/>
          <p:cNvSpPr/>
          <p:nvPr/>
        </p:nvSpPr>
        <p:spPr>
          <a:xfrm>
            <a:off x="6460236" y="41010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146036" y="3895344"/>
            <a:ext cx="42656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target-account list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48640" y="5065776"/>
            <a:ext cx="5408676" cy="914400"/>
          </a:xfrm>
          <a:prstGeom prst="roundRect">
            <a:avLst>
              <a:gd name="adj" fmla="val 7000"/>
            </a:avLst>
          </a:prstGeom>
          <a:solidFill>
            <a:srgbClr val="F3F0FA"/>
          </a:solidFill>
          <a:ln w="12700">
            <a:solidFill>
              <a:srgbClr val="C9BC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5271516"/>
            <a:ext cx="502920" cy="502920"/>
          </a:xfrm>
          <a:prstGeom prst="roundRect">
            <a:avLst>
              <a:gd name="adj" fmla="val 12727"/>
            </a:avLst>
          </a:prstGeom>
          <a:solidFill>
            <a:srgbClr val="4A3580"/>
          </a:solidFill>
          <a:ln/>
        </p:spPr>
      </p:sp>
      <p:sp>
        <p:nvSpPr>
          <p:cNvPr id="30" name="Text 28"/>
          <p:cNvSpPr/>
          <p:nvPr/>
        </p:nvSpPr>
        <p:spPr>
          <a:xfrm>
            <a:off x="777240" y="52715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463040" y="5065776"/>
            <a:ext cx="42656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measurement model / investment case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Adstra Fall GTM</dc:title>
  <dc:subject>PptxGenJS Presentation</dc:subject>
  <dc:creator>Adstra</dc:creator>
  <cp:lastModifiedBy>Adstra</cp:lastModifiedBy>
  <cp:revision>1</cp:revision>
  <dcterms:created xsi:type="dcterms:W3CDTF">2026-08-17T18:40:05Z</dcterms:created>
  <dcterms:modified xsi:type="dcterms:W3CDTF">2026-08-17T18:40:05Z</dcterms:modified>
</cp:coreProperties>
</file>