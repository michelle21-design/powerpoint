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LION MEDIA  ×  KITE HILL   ·   ADVERTISING WEEK 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Adstra at Advertising Week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cinematic New York sizzle video that makes the case for what marketers are missing</a:t>
            </a:r>
            <a:pPr algn="l" indent="0" marL="0">
              <a:buNone/>
            </a:pPr>
            <a:r>
              <a:rPr lang="en-US" sz="14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built to own the conference feed, then keep working across LinkedIn, email, and sales all fall.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871216"/>
            <a:ext cx="603504" cy="6035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0" descr="ic_aw3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02666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487168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AW360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Run-of-Site  ·  Video pre-roll at sessions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:30 and :15 run as pre-roll across AdvertisingWeek360 session video — reaching marketers mid-session, in context.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66928" y="4443984"/>
            <a:ext cx="603504" cy="6035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ic_adwee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5994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059936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ADWEEK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Run-of-Site  ·  High-impact Home Page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high-impact homepage unit on Adweek.com keeps Adstra front-and-center site-wide through the event week.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870448" y="2331720"/>
            <a:ext cx="0" cy="3127248"/>
          </a:xfrm>
          <a:prstGeom prst="line">
            <a:avLst/>
          </a:prstGeom>
          <a:noFill/>
          <a:ln w="12700">
            <a:solidFill>
              <a:srgbClr val="4A35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44768" y="2359152"/>
            <a:ext cx="2706624" cy="1481328"/>
          </a:xfrm>
          <a:prstGeom prst="roundRect">
            <a:avLst>
              <a:gd name="adj" fmla="val 6173"/>
            </a:avLst>
          </a:prstGeom>
          <a:solidFill>
            <a:srgbClr val="281A48"/>
          </a:solidFill>
          <a:ln w="12700">
            <a:solidFill>
              <a:srgbClr val="4A3580"/>
            </a:solidFill>
            <a:prstDash val="solid"/>
          </a:ln>
          <a:effectLst>
            <a:outerShdw sx="100000" sy="100000" kx="0" ky="0" algn="bl" rotWithShape="0" blurRad="101600" dist="38100" dir="5400000">
              <a:srgbClr val="0B0616">
                <a:alpha val="5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45936" y="24871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:30</a:t>
            </a:r>
            <a:pPr algn="l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MASTER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6345936" y="2999232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narrative arc ×2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Week pre-roll + owned channels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015984" y="2359152"/>
            <a:ext cx="2706624" cy="1481328"/>
          </a:xfrm>
          <a:prstGeom prst="roundRect">
            <a:avLst>
              <a:gd name="adj" fmla="val 6173"/>
            </a:avLst>
          </a:prstGeom>
          <a:solidFill>
            <a:srgbClr val="281A48"/>
          </a:solidFill>
          <a:ln w="12700">
            <a:solidFill>
              <a:srgbClr val="4A3580"/>
            </a:solidFill>
            <a:prstDash val="solid"/>
          </a:ln>
          <a:effectLst>
            <a:outerShdw sx="100000" sy="100000" kx="0" ky="0" algn="bl" rotWithShape="0" blurRad="101600" dist="38100" dir="5400000">
              <a:srgbClr val="0B0616">
                <a:alpha val="5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24871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:15</a:t>
            </a:r>
            <a:pPr algn="l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CUTDOWN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9217152" y="2999232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edit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social &amp; retargeting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44768" y="4005072"/>
            <a:ext cx="2706624" cy="1481328"/>
          </a:xfrm>
          <a:prstGeom prst="roundRect">
            <a:avLst>
              <a:gd name="adj" fmla="val 6173"/>
            </a:avLst>
          </a:prstGeom>
          <a:solidFill>
            <a:srgbClr val="281A48"/>
          </a:solidFill>
          <a:ln w="12700">
            <a:solidFill>
              <a:srgbClr val="4A3580"/>
            </a:solidFill>
            <a:prstDash val="solid"/>
          </a:ln>
          <a:effectLst>
            <a:outerShdw sx="100000" sy="100000" kx="0" ky="0" algn="bl" rotWithShape="0" blurRad="101600" dist="38100" dir="5400000">
              <a:srgbClr val="0B0616">
                <a:alpha val="5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345936" y="41330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2–3</a:t>
            </a:r>
            <a:pPr algn="l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GIFS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6345936" y="4645152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loops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posts, email &amp; sales decks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015984" y="4005072"/>
            <a:ext cx="2706624" cy="1481328"/>
          </a:xfrm>
          <a:prstGeom prst="roundRect">
            <a:avLst>
              <a:gd name="adj" fmla="val 6173"/>
            </a:avLst>
          </a:prstGeom>
          <a:solidFill>
            <a:srgbClr val="281A48"/>
          </a:solidFill>
          <a:ln w="12700">
            <a:solidFill>
              <a:srgbClr val="4A3580"/>
            </a:solidFill>
            <a:prstDash val="solid"/>
          </a:ln>
          <a:effectLst>
            <a:outerShdw sx="100000" sy="100000" kx="0" ky="0" algn="bl" rotWithShape="0" blurRad="101600" dist="38100" dir="5400000">
              <a:srgbClr val="0B0616">
                <a:alpha val="5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217152" y="41330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∞</a:t>
            </a:r>
            <a:pPr algn="l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REUSE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9217152" y="4645152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that keep working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 · logo animation · banked footage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5806440"/>
            <a:ext cx="11091672" cy="758952"/>
          </a:xfrm>
          <a:prstGeom prst="roundRect">
            <a:avLst>
              <a:gd name="adj" fmla="val 9639"/>
            </a:avLst>
          </a:prstGeom>
          <a:solidFill>
            <a:srgbClr val="1E1338"/>
          </a:solidFill>
          <a:ln w="12700">
            <a:solidFill>
              <a:srgbClr val="4A358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5806440"/>
            <a:ext cx="3331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$13,500   </a:t>
            </a:r>
            <a:pPr algn="l" indent="0" marL="0">
              <a:buNone/>
            </a:pPr>
            <a:r>
              <a:rPr lang="en-US" sz="12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production fee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4245864" y="5952744"/>
            <a:ext cx="0" cy="466344"/>
          </a:xfrm>
          <a:prstGeom prst="line">
            <a:avLst/>
          </a:prstGeom>
          <a:noFill/>
          <a:ln w="12700">
            <a:solidFill>
              <a:srgbClr val="4A358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01896" y="5806440"/>
            <a:ext cx="3331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7–8 wks   </a:t>
            </a:r>
            <a:pPr algn="l" indent="0" marL="0">
              <a:buNone/>
            </a:pPr>
            <a:r>
              <a:rPr lang="en-US" sz="12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to launch, ahead of October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7943088" y="5952744"/>
            <a:ext cx="0" cy="466344"/>
          </a:xfrm>
          <a:prstGeom prst="line">
            <a:avLst/>
          </a:prstGeom>
          <a:noFill/>
          <a:ln w="12700">
            <a:solidFill>
              <a:srgbClr val="4A358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199120" y="5806440"/>
            <a:ext cx="3331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16:9   </a:t>
            </a:r>
            <a:pPr algn="l" indent="0" marL="0">
              <a:buNone/>
            </a:pPr>
            <a:r>
              <a:rPr lang="en-US" sz="1200" dirty="0">
                <a:solidFill>
                  <a:srgbClr val="C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format  ·  1:1 / 9:16 optional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2026-08-12T19:39:36Z</dcterms:created>
  <dcterms:modified xsi:type="dcterms:W3CDTF">2026-08-12T19:39:36Z</dcterms:modified>
</cp:coreProperties>
</file>