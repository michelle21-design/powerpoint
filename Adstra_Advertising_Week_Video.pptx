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LION MEDIA  ×  KITE HILL   ·   ADVERTISING WEEK 2026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21208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Adstra at Advertising Week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cinematic New York sizzle video that makes the case for what marketers are missing</a:t>
            </a:r>
            <a:pPr algn="l" indent="0" marL="0">
              <a:buNone/>
            </a:pPr>
            <a:r>
              <a:rPr lang="en-US" sz="145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built to own the conference feed, then keep working across LinkedIn, email, and sales all fall.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193852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CREATIVE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72200" y="1938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505456"/>
            <a:ext cx="493776" cy="49377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8" name="Image 0" descr="ic_n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628900"/>
            <a:ext cx="246888" cy="2468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2359152"/>
            <a:ext cx="4434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York story, not a tagline</a:t>
            </a:r>
            <a:endParaRPr lang="en-US" sz="15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Subway doors, taxis, Times Square, neon — a day-to-night arc through the city. Ownable, not borrowed.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319272"/>
            <a:ext cx="493776" cy="49377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1" name="Image 1" descr="ic_col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4271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3172968"/>
            <a:ext cx="4434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purple, felt not forced</a:t>
            </a:r>
            <a:endParaRPr lang="en-US" sz="15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color grade nods to Adstra purple in every frame — present throughout, never purple-washed.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6928" y="4133088"/>
            <a:ext cx="493776" cy="49377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4" name="Image 2" descr="ic_sce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256532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3986784"/>
            <a:ext cx="4434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built into the scene</a:t>
            </a:r>
            <a:endParaRPr lang="en-US" sz="15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woven into subway signage and taxi ad space — native to the footage, not text layered on top.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66928" y="4946904"/>
            <a:ext cx="493776" cy="49377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7" name="Image 3" descr="ic_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070348"/>
            <a:ext cx="246888" cy="2468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4800600"/>
            <a:ext cx="4434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polished logo animation</a:t>
            </a:r>
            <a:endParaRPr lang="en-US" sz="15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place for true custom animation — a clean, reusable Adstra lockup that plugs into whatever comes next.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870448" y="2331720"/>
            <a:ext cx="0" cy="3127248"/>
          </a:xfrm>
          <a:prstGeom prst="line">
            <a:avLst/>
          </a:prstGeom>
          <a:noFill/>
          <a:ln w="12700">
            <a:solidFill>
              <a:srgbClr val="4A358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144768" y="2359152"/>
            <a:ext cx="2706624" cy="1481328"/>
          </a:xfrm>
          <a:prstGeom prst="roundRect">
            <a:avLst>
              <a:gd name="adj" fmla="val 6173"/>
            </a:avLst>
          </a:prstGeom>
          <a:solidFill>
            <a:srgbClr val="281A48"/>
          </a:solidFill>
          <a:ln w="12700">
            <a:solidFill>
              <a:srgbClr val="4A3580"/>
            </a:solidFill>
            <a:prstDash val="solid"/>
          </a:ln>
          <a:effectLst>
            <a:outerShdw sx="100000" sy="100000" kx="0" ky="0" algn="bl" rotWithShape="0" blurRad="101600" dist="38100" dir="5400000">
              <a:srgbClr val="0B0616">
                <a:alpha val="50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6345936" y="248716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ACC1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:30</a:t>
            </a:r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 MASTER</a:t>
            </a:r>
            <a:endParaRPr lang="en-US" sz="3000" dirty="0"/>
          </a:p>
        </p:txBody>
      </p:sp>
      <p:sp>
        <p:nvSpPr>
          <p:cNvPr id="22" name="Text 16"/>
          <p:cNvSpPr/>
          <p:nvPr/>
        </p:nvSpPr>
        <p:spPr>
          <a:xfrm>
            <a:off x="6345936" y="2999232"/>
            <a:ext cx="23225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narrative arc ×2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Advertising Week pre-roll + owned channels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9015984" y="2359152"/>
            <a:ext cx="2706624" cy="1481328"/>
          </a:xfrm>
          <a:prstGeom prst="roundRect">
            <a:avLst>
              <a:gd name="adj" fmla="val 6173"/>
            </a:avLst>
          </a:prstGeom>
          <a:solidFill>
            <a:srgbClr val="281A48"/>
          </a:solidFill>
          <a:ln w="12700">
            <a:solidFill>
              <a:srgbClr val="4A3580"/>
            </a:solidFill>
            <a:prstDash val="solid"/>
          </a:ln>
          <a:effectLst>
            <a:outerShdw sx="100000" sy="100000" kx="0" ky="0" algn="bl" rotWithShape="0" blurRad="101600" dist="38100" dir="5400000">
              <a:srgbClr val="0B0616">
                <a:alpha val="50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217152" y="248716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ACC1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:15</a:t>
            </a:r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 CUTDOWN</a:t>
            </a:r>
            <a:endParaRPr lang="en-US" sz="3000" dirty="0"/>
          </a:p>
        </p:txBody>
      </p:sp>
      <p:sp>
        <p:nvSpPr>
          <p:cNvPr id="25" name="Text 19"/>
          <p:cNvSpPr/>
          <p:nvPr/>
        </p:nvSpPr>
        <p:spPr>
          <a:xfrm>
            <a:off x="9217152" y="2999232"/>
            <a:ext cx="23225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Trimmed edit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LinkedIn, social &amp; retargeting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6144768" y="4005072"/>
            <a:ext cx="2706624" cy="1481328"/>
          </a:xfrm>
          <a:prstGeom prst="roundRect">
            <a:avLst>
              <a:gd name="adj" fmla="val 6173"/>
            </a:avLst>
          </a:prstGeom>
          <a:solidFill>
            <a:srgbClr val="281A48"/>
          </a:solidFill>
          <a:ln w="12700">
            <a:solidFill>
              <a:srgbClr val="4A3580"/>
            </a:solidFill>
            <a:prstDash val="solid"/>
          </a:ln>
          <a:effectLst>
            <a:outerShdw sx="100000" sy="100000" kx="0" ky="0" algn="bl" rotWithShape="0" blurRad="101600" dist="38100" dir="5400000">
              <a:srgbClr val="0B0616">
                <a:alpha val="50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345936" y="41330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ACC1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2–3</a:t>
            </a:r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 GIFS</a:t>
            </a:r>
            <a:endParaRPr lang="en-US" sz="3000" dirty="0"/>
          </a:p>
        </p:txBody>
      </p:sp>
      <p:sp>
        <p:nvSpPr>
          <p:cNvPr id="28" name="Text 22"/>
          <p:cNvSpPr/>
          <p:nvPr/>
        </p:nvSpPr>
        <p:spPr>
          <a:xfrm>
            <a:off x="6345936" y="4645152"/>
            <a:ext cx="23225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loops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posts, email &amp; sales decks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9015984" y="4005072"/>
            <a:ext cx="2706624" cy="1481328"/>
          </a:xfrm>
          <a:prstGeom prst="roundRect">
            <a:avLst>
              <a:gd name="adj" fmla="val 6173"/>
            </a:avLst>
          </a:prstGeom>
          <a:solidFill>
            <a:srgbClr val="281A48"/>
          </a:solidFill>
          <a:ln w="12700">
            <a:solidFill>
              <a:srgbClr val="4A3580"/>
            </a:solidFill>
            <a:prstDash val="solid"/>
          </a:ln>
          <a:effectLst>
            <a:outerShdw sx="100000" sy="100000" kx="0" ky="0" algn="bl" rotWithShape="0" blurRad="101600" dist="38100" dir="5400000">
              <a:srgbClr val="0B0616">
                <a:alpha val="50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9217152" y="41330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ACC1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∞</a:t>
            </a:r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 REUSE</a:t>
            </a:r>
            <a:endParaRPr lang="en-US" sz="3000" dirty="0"/>
          </a:p>
        </p:txBody>
      </p:sp>
      <p:sp>
        <p:nvSpPr>
          <p:cNvPr id="31" name="Text 25"/>
          <p:cNvSpPr/>
          <p:nvPr/>
        </p:nvSpPr>
        <p:spPr>
          <a:xfrm>
            <a:off x="9217152" y="4645152"/>
            <a:ext cx="23225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that keep working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guide · logo animation · banked footage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48640" y="5806440"/>
            <a:ext cx="11091672" cy="758952"/>
          </a:xfrm>
          <a:prstGeom prst="roundRect">
            <a:avLst>
              <a:gd name="adj" fmla="val 9639"/>
            </a:avLst>
          </a:prstGeom>
          <a:solidFill>
            <a:srgbClr val="1E1338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4672" y="5806440"/>
            <a:ext cx="33314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ACC1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$13,500   </a:t>
            </a:r>
            <a:pPr algn="l" indent="0" marL="0">
              <a:buNone/>
            </a:pPr>
            <a:r>
              <a:rPr lang="en-US" sz="120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All-inclusive production fee</a:t>
            </a:r>
            <a:endParaRPr lang="en-US" sz="2000" dirty="0"/>
          </a:p>
        </p:txBody>
      </p:sp>
      <p:sp>
        <p:nvSpPr>
          <p:cNvPr id="34" name="Shape 28"/>
          <p:cNvSpPr/>
          <p:nvPr/>
        </p:nvSpPr>
        <p:spPr>
          <a:xfrm>
            <a:off x="4245864" y="5952744"/>
            <a:ext cx="0" cy="466344"/>
          </a:xfrm>
          <a:prstGeom prst="line">
            <a:avLst/>
          </a:prstGeom>
          <a:noFill/>
          <a:ln w="12700">
            <a:solidFill>
              <a:srgbClr val="4A358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501896" y="5806440"/>
            <a:ext cx="33314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ACC1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7–8 wks   </a:t>
            </a:r>
            <a:pPr algn="l" indent="0" marL="0">
              <a:buNone/>
            </a:pPr>
            <a:r>
              <a:rPr lang="en-US" sz="120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to launch, ahead of October</a:t>
            </a:r>
            <a:endParaRPr lang="en-US" sz="2000" dirty="0"/>
          </a:p>
        </p:txBody>
      </p:sp>
      <p:sp>
        <p:nvSpPr>
          <p:cNvPr id="36" name="Shape 30"/>
          <p:cNvSpPr/>
          <p:nvPr/>
        </p:nvSpPr>
        <p:spPr>
          <a:xfrm>
            <a:off x="7943088" y="5952744"/>
            <a:ext cx="0" cy="466344"/>
          </a:xfrm>
          <a:prstGeom prst="line">
            <a:avLst/>
          </a:prstGeom>
          <a:noFill/>
          <a:ln w="12700">
            <a:solidFill>
              <a:srgbClr val="4A3580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199120" y="5806440"/>
            <a:ext cx="33314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ACC1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16:9   </a:t>
            </a:r>
            <a:pPr algn="l" indent="0" marL="0">
              <a:buNone/>
            </a:pPr>
            <a:r>
              <a:rPr lang="en-US" sz="1200" dirty="0">
                <a:solidFill>
                  <a:srgbClr val="C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format  ·  1:1 / 9:16 optional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2026-08-12T19:25:38Z</dcterms:created>
  <dcterms:modified xsi:type="dcterms:W3CDTF">2026-08-12T19:25:38Z</dcterms:modified>
</cp:coreProperties>
</file>