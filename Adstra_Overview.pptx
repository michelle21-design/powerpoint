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1" r:id="rId2"/>
  </p:sldMasterIdLst>
  <p:notesMasterIdLst>
    <p:notesMasterId r:id="rId12"/>
  </p:notesMasterIdLst>
  <p:handoutMasterIdLst>
    <p:handoutMasterId r:id="rId13"/>
  </p:handoutMasterIdLst>
  <p:sldIdLst>
    <p:sldId id="256" r:id="rId3"/>
    <p:sldId id="2147469713" r:id="rId4"/>
    <p:sldId id="2147469732" r:id="rId5"/>
    <p:sldId id="2147469716" r:id="rId6"/>
    <p:sldId id="2147469730" r:id="rId7"/>
    <p:sldId id="2147469731" r:id="rId8"/>
    <p:sldId id="2147469748" r:id="rId9"/>
    <p:sldId id="214746974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9E1"/>
    <a:srgbClr val="F3F3F3"/>
    <a:srgbClr val="9747FF"/>
    <a:srgbClr val="BB8FEC"/>
    <a:srgbClr val="461378"/>
    <a:srgbClr val="EADBFF"/>
    <a:srgbClr val="CEAFFC"/>
    <a:srgbClr val="57169A"/>
    <a:srgbClr val="6918BF"/>
    <a:srgbClr val="7A0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AB31B7-5DFF-4ED5-BE13-D3AECB7FD947}" v="4" dt="2026-07-23T12:51:48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88" autoAdjust="0"/>
    <p:restoredTop sz="96197"/>
  </p:normalViewPr>
  <p:slideViewPr>
    <p:cSldViewPr snapToGrid="0">
      <p:cViewPr varScale="1">
        <p:scale>
          <a:sx n="72" d="100"/>
          <a:sy n="72" d="100"/>
        </p:scale>
        <p:origin x="532" y="48"/>
      </p:cViewPr>
      <p:guideLst/>
    </p:cSldViewPr>
  </p:slideViewPr>
  <p:outlineViewPr>
    <p:cViewPr>
      <p:scale>
        <a:sx n="33" d="100"/>
        <a:sy n="33" d="100"/>
      </p:scale>
      <p:origin x="0" y="-120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336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Galvan" userId="585c68a7-74aa-4dbc-8f56-7ec1dde9e6ee" providerId="ADAL" clId="{15F9E8EE-A1E9-470E-99AA-8D8267C3A54B}"/>
    <pc:docChg chg="addSld modSld sldOrd">
      <pc:chgData name="Michelle Galvan" userId="585c68a7-74aa-4dbc-8f56-7ec1dde9e6ee" providerId="ADAL" clId="{15F9E8EE-A1E9-470E-99AA-8D8267C3A54B}" dt="2026-07-23T12:51:48.634" v="5"/>
      <pc:docMkLst>
        <pc:docMk/>
      </pc:docMkLst>
      <pc:sldChg chg="add">
        <pc:chgData name="Michelle Galvan" userId="585c68a7-74aa-4dbc-8f56-7ec1dde9e6ee" providerId="ADAL" clId="{15F9E8EE-A1E9-470E-99AA-8D8267C3A54B}" dt="2026-07-23T12:51:48.634" v="5"/>
        <pc:sldMkLst>
          <pc:docMk/>
          <pc:sldMk cId="1591663007" sldId="2147469716"/>
        </pc:sldMkLst>
      </pc:sldChg>
      <pc:sldChg chg="add">
        <pc:chgData name="Michelle Galvan" userId="585c68a7-74aa-4dbc-8f56-7ec1dde9e6ee" providerId="ADAL" clId="{15F9E8EE-A1E9-470E-99AA-8D8267C3A54B}" dt="2026-07-23T12:51:48.634" v="5"/>
        <pc:sldMkLst>
          <pc:docMk/>
          <pc:sldMk cId="1198283699" sldId="2147469730"/>
        </pc:sldMkLst>
      </pc:sldChg>
      <pc:sldChg chg="add">
        <pc:chgData name="Michelle Galvan" userId="585c68a7-74aa-4dbc-8f56-7ec1dde9e6ee" providerId="ADAL" clId="{15F9E8EE-A1E9-470E-99AA-8D8267C3A54B}" dt="2026-07-23T12:51:48.634" v="5"/>
        <pc:sldMkLst>
          <pc:docMk/>
          <pc:sldMk cId="251145629" sldId="2147469731"/>
        </pc:sldMkLst>
      </pc:sldChg>
      <pc:sldChg chg="ord">
        <pc:chgData name="Michelle Galvan" userId="585c68a7-74aa-4dbc-8f56-7ec1dde9e6ee" providerId="ADAL" clId="{15F9E8EE-A1E9-470E-99AA-8D8267C3A54B}" dt="2026-07-23T12:51:05.747" v="4"/>
        <pc:sldMkLst>
          <pc:docMk/>
          <pc:sldMk cId="3537144904" sldId="2147469732"/>
        </pc:sldMkLst>
      </pc:sldChg>
      <pc:sldChg chg="modSp add ord">
        <pc:chgData name="Michelle Galvan" userId="585c68a7-74aa-4dbc-8f56-7ec1dde9e6ee" providerId="ADAL" clId="{15F9E8EE-A1E9-470E-99AA-8D8267C3A54B}" dt="2026-07-23T12:50:05.029" v="3"/>
        <pc:sldMkLst>
          <pc:docMk/>
          <pc:sldMk cId="2845510892" sldId="2147469748"/>
        </pc:sldMkLst>
        <pc:spChg chg="mod">
          <ac:chgData name="Michelle Galvan" userId="585c68a7-74aa-4dbc-8f56-7ec1dde9e6ee" providerId="ADAL" clId="{15F9E8EE-A1E9-470E-99AA-8D8267C3A54B}" dt="2026-07-23T12:48:50.966" v="1"/>
          <ac:spMkLst>
            <pc:docMk/>
            <pc:sldMk cId="2845510892" sldId="2147469748"/>
            <ac:spMk id="57" creationId="{81654E8A-CE50-D648-96FB-ECE134BC4618}"/>
          </ac:spMkLst>
        </pc:spChg>
      </pc:sldChg>
      <pc:sldChg chg="modSp ord">
        <pc:chgData name="Michelle Galvan" userId="585c68a7-74aa-4dbc-8f56-7ec1dde9e6ee" providerId="ADAL" clId="{15F9E8EE-A1E9-470E-99AA-8D8267C3A54B}" dt="2026-07-23T12:50:05.029" v="3"/>
        <pc:sldMkLst>
          <pc:docMk/>
          <pc:sldMk cId="1575590222" sldId="2147469749"/>
        </pc:sldMkLst>
        <pc:spChg chg="mod">
          <ac:chgData name="Michelle Galvan" userId="585c68a7-74aa-4dbc-8f56-7ec1dde9e6ee" providerId="ADAL" clId="{15F9E8EE-A1E9-470E-99AA-8D8267C3A54B}" dt="2026-07-23T12:49:22.860" v="2"/>
          <ac:spMkLst>
            <pc:docMk/>
            <pc:sldMk cId="1575590222" sldId="2147469749"/>
            <ac:spMk id="57" creationId="{C99F0213-CB30-89ED-F8EF-7F755ADDEB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3323-CE7A-94F6-2D6E-9B8512B09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F3FA3-045F-7B1F-8D61-243291B9B0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869AA-E68A-174A-843D-B78132890F15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CAEA0-3CC6-B6F1-26D5-9F7309E255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CEF4C-54B2-201A-CA58-67BFC99F8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62BCB-32E0-384E-A71D-DD5743A09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138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18B88-5731-004A-B1D9-59D892727C18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A62F5-9263-7E41-8CFD-7C3262CC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9005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</a:pPr>
            <a:r>
              <a:rPr lang="en-US" i="1">
                <a:latin typeface="Montserrat"/>
                <a:ea typeface="Montserrat"/>
                <a:cs typeface="Montserrat"/>
                <a:sym typeface="Montserrat"/>
              </a:rPr>
              <a:t>Adstra helps brands unlock personalized engagement, drive measurable growth, and build stronger customer 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8" name="Google Shape;87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</a:pPr>
            <a:r>
              <a:rPr lang="en-US" i="1">
                <a:latin typeface="Montserrat"/>
                <a:ea typeface="Montserrat"/>
                <a:cs typeface="Montserrat"/>
                <a:sym typeface="Montserrat"/>
              </a:rPr>
              <a:t>Adstra helps brands unlock personalized engagement, drive measurable growth, and build stronger customer 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5311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D4374926-7413-C499-37D2-E1BB3784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:notes">
            <a:extLst>
              <a:ext uri="{FF2B5EF4-FFF2-40B4-BE49-F238E27FC236}">
                <a16:creationId xmlns:a16="http://schemas.microsoft.com/office/drawing/2014/main" id="{541DD3C2-822E-FE76-12A8-8E5C8A7F6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p3:notes">
            <a:extLst>
              <a:ext uri="{FF2B5EF4-FFF2-40B4-BE49-F238E27FC236}">
                <a16:creationId xmlns:a16="http://schemas.microsoft.com/office/drawing/2014/main" id="{3130CBE9-C96A-5169-1536-D14B469C5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</a:pPr>
            <a:r>
              <a:rPr lang="en-US" i="1">
                <a:latin typeface="Montserrat"/>
                <a:ea typeface="Montserrat"/>
                <a:cs typeface="Montserrat"/>
                <a:sym typeface="Montserrat"/>
              </a:rPr>
              <a:t>Adstra helps brands unlock personalized engagement, drive measurable growth, and build stronger customer relationships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:notes">
            <a:extLst>
              <a:ext uri="{FF2B5EF4-FFF2-40B4-BE49-F238E27FC236}">
                <a16:creationId xmlns:a16="http://schemas.microsoft.com/office/drawing/2014/main" id="{0DC51BF3-6FD4-FD20-6A08-DE0015D8D3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90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29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34;p1" descr="A purple and black gradient&#10;&#10;Description automatically generated">
            <a:extLst>
              <a:ext uri="{FF2B5EF4-FFF2-40B4-BE49-F238E27FC236}">
                <a16:creationId xmlns:a16="http://schemas.microsoft.com/office/drawing/2014/main" id="{D196D072-BEB2-626A-5628-2D9DFBA96B7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2666"/>
          <a:stretch/>
        </p:blipFill>
        <p:spPr>
          <a:xfrm>
            <a:off x="20" y="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ED198A-FB3A-A783-DCAB-E6FB5059A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2024621"/>
            <a:ext cx="6485792" cy="1742709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4DC13-5C90-850E-A2C6-6EF550FEF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4624754"/>
            <a:ext cx="3663462" cy="826478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0C004BC-CFC1-220E-CC6F-A71E772981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67" y="1153974"/>
            <a:ext cx="1614854" cy="43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16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34;p1" descr="A purple and black gradient&#10;&#10;Description automatically generated">
            <a:extLst>
              <a:ext uri="{FF2B5EF4-FFF2-40B4-BE49-F238E27FC236}">
                <a16:creationId xmlns:a16="http://schemas.microsoft.com/office/drawing/2014/main" id="{D196D072-BEB2-626A-5628-2D9DFBA96B7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2666"/>
          <a:stretch/>
        </p:blipFill>
        <p:spPr>
          <a:xfrm>
            <a:off x="20" y="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4B4DC13-5C90-850E-A2C6-6EF550FEF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4624754"/>
            <a:ext cx="3663462" cy="82647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0C004BC-CFC1-220E-CC6F-A71E772981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153974"/>
            <a:ext cx="1614854" cy="43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95;p41">
            <a:extLst>
              <a:ext uri="{FF2B5EF4-FFF2-40B4-BE49-F238E27FC236}">
                <a16:creationId xmlns:a16="http://schemas.microsoft.com/office/drawing/2014/main" id="{55C1DFEB-E108-A4AE-A103-D8442D0B0D53}"/>
              </a:ext>
            </a:extLst>
          </p:cNvPr>
          <p:cNvSpPr txBox="1"/>
          <p:nvPr userDrawn="1"/>
        </p:nvSpPr>
        <p:spPr>
          <a:xfrm>
            <a:off x="9378700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09A738-C41C-B501-E60D-0D5D97FCD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2024621"/>
            <a:ext cx="6485792" cy="1742709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15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7A0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02;p46">
            <a:extLst>
              <a:ext uri="{FF2B5EF4-FFF2-40B4-BE49-F238E27FC236}">
                <a16:creationId xmlns:a16="http://schemas.microsoft.com/office/drawing/2014/main" id="{3988931B-2574-9676-E75E-BDF07DEF70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6016B"/>
              </a:gs>
              <a:gs pos="50000">
                <a:srgbClr val="E7DBFF">
                  <a:alpha val="0"/>
                </a:srgbClr>
              </a:gs>
              <a:gs pos="100000">
                <a:srgbClr val="E7DBFF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A1C78B7-AB7E-366C-5E96-D336ACC3BA2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14" y="2024621"/>
            <a:ext cx="6485792" cy="1742709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407987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5;p41">
            <a:extLst>
              <a:ext uri="{FF2B5EF4-FFF2-40B4-BE49-F238E27FC236}">
                <a16:creationId xmlns:a16="http://schemas.microsoft.com/office/drawing/2014/main" id="{B12282B4-A6D1-833E-B755-1A400FFA70AA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42BCAAD9-E7E6-30C9-29E2-B1AB3D7CE89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02E1856-8CA4-4342-B405-A5DB807BE799}" type="datetime1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22272968-8E17-8D38-B1DB-F0670C74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7" name="Google Shape;200;p42">
            <a:extLst>
              <a:ext uri="{FF2B5EF4-FFF2-40B4-BE49-F238E27FC236}">
                <a16:creationId xmlns:a16="http://schemas.microsoft.com/office/drawing/2014/main" id="{3B87FC58-3935-18F9-E8CF-CE532F7B448B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D701A4F-C59F-C446-A641-AD03D4D7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17369" cy="54927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192357A6-4246-9F4E-B551-F9E6AC7CEF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1234440"/>
            <a:ext cx="11017370" cy="29437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18" name="Picture 17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94098DAE-F3B0-0F40-9E2D-0A9B2908BC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8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A1C78B7-AB7E-366C-5E96-D336ACC3BA2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457200"/>
            <a:ext cx="10562409" cy="2633470"/>
          </a:xfrm>
        </p:spPr>
        <p:txBody>
          <a:bodyPr anchor="t">
            <a:normAutofit/>
          </a:bodyPr>
          <a:lstStyle>
            <a:lvl1pPr algn="l"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Title Text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0312D-F2D9-7E2C-5686-C4BDEF9209BC}"/>
              </a:ext>
            </a:extLst>
          </p:cNvPr>
          <p:cNvSpPr/>
          <p:nvPr userDrawn="1"/>
        </p:nvSpPr>
        <p:spPr>
          <a:xfrm>
            <a:off x="0" y="3767330"/>
            <a:ext cx="12192000" cy="3090670"/>
          </a:xfrm>
          <a:prstGeom prst="rect">
            <a:avLst/>
          </a:prstGeom>
          <a:solidFill>
            <a:srgbClr val="7A0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202;p46">
            <a:extLst>
              <a:ext uri="{FF2B5EF4-FFF2-40B4-BE49-F238E27FC236}">
                <a16:creationId xmlns:a16="http://schemas.microsoft.com/office/drawing/2014/main" id="{3988931B-2574-9676-E75E-BDF07DEF70FA}"/>
              </a:ext>
            </a:extLst>
          </p:cNvPr>
          <p:cNvSpPr/>
          <p:nvPr userDrawn="1"/>
        </p:nvSpPr>
        <p:spPr>
          <a:xfrm>
            <a:off x="0" y="3767330"/>
            <a:ext cx="12188952" cy="3072384"/>
          </a:xfrm>
          <a:prstGeom prst="rect">
            <a:avLst/>
          </a:prstGeom>
          <a:gradFill>
            <a:gsLst>
              <a:gs pos="0">
                <a:srgbClr val="36016B"/>
              </a:gs>
              <a:gs pos="50000">
                <a:srgbClr val="E7DBFF">
                  <a:alpha val="0"/>
                </a:srgbClr>
              </a:gs>
              <a:gs pos="100000">
                <a:srgbClr val="E7DBFF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195;p41">
            <a:extLst>
              <a:ext uri="{FF2B5EF4-FFF2-40B4-BE49-F238E27FC236}">
                <a16:creationId xmlns:a16="http://schemas.microsoft.com/office/drawing/2014/main" id="{B12282B4-A6D1-833E-B755-1A400FFA70AA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42BCAAD9-E7E6-30C9-29E2-B1AB3D7CE89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02E1856-8CA4-4342-B405-A5DB807BE799}" type="datetime1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22272968-8E17-8D38-B1DB-F0670C74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7" name="Google Shape;200;p42">
            <a:extLst>
              <a:ext uri="{FF2B5EF4-FFF2-40B4-BE49-F238E27FC236}">
                <a16:creationId xmlns:a16="http://schemas.microsoft.com/office/drawing/2014/main" id="{3B87FC58-3935-18F9-E8CF-CE532F7B448B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A38BC9A7-9C07-894C-BD23-EDDB34257E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19" y="6400800"/>
            <a:ext cx="915990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3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69559"/>
            <a:ext cx="6045961" cy="103390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073543-7833-9E63-26B0-9B3B419A76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2058880"/>
            <a:ext cx="6045961" cy="321054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58B762D-4E5E-7E14-2B20-8D373C4669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588" y="969963"/>
            <a:ext cx="4316412" cy="42989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1BCBDDB1-F4A9-AB4A-A5A9-EF2006241D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0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93;p10">
            <a:extLst>
              <a:ext uri="{FF2B5EF4-FFF2-40B4-BE49-F238E27FC236}">
                <a16:creationId xmlns:a16="http://schemas.microsoft.com/office/drawing/2014/main" id="{2A3D3F73-CF24-080C-3A2A-BFA2434D6D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9D7FF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53845"/>
            <a:ext cx="11017369" cy="54927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073543-7833-9E63-26B0-9B3B419A76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2201726"/>
            <a:ext cx="11017370" cy="29437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8" name="Picture 7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673576DC-C0F9-1541-953F-74884A971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974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4"/>
            <a:ext cx="10678094" cy="869315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E36B684-B4B3-7A5D-D424-B6A456EE2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14" y="183927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 One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2BA27A4-0C52-197F-FAED-006F75D872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14" y="243950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988E4F2E-7EF8-8C27-2978-F75049DD89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8034" y="183927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 Two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45FB8C0-4273-A22D-A205-3C4162B288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8034" y="243950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F38BC3D-C9F1-F1D3-8128-3FF570254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314" y="411003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 Three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8A5EAE4D-5EB7-7A22-B4A1-F30FC7FF1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14" y="471026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C279F05B-5A0F-1601-1B1B-8CA15CA96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48034" y="411003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 Four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4D05D956-2835-7218-AE90-F998EAC793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8034" y="471026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pic>
        <p:nvPicPr>
          <p:cNvPr id="19" name="Picture 1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2DA75D2-B351-C140-B042-E7F5E7C4B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19" y="6400800"/>
            <a:ext cx="915990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9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4"/>
            <a:ext cx="10678094" cy="869315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E36B684-B4B3-7A5D-D424-B6A456EE2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14" y="183927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rgbClr val="9747FF"/>
                </a:solidFill>
              </a:defRPr>
            </a:lvl1pPr>
          </a:lstStyle>
          <a:p>
            <a:pPr lvl="0"/>
            <a:r>
              <a:rPr lang="en-US" dirty="0"/>
              <a:t>Header One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2BA27A4-0C52-197F-FAED-006F75D872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14" y="243950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988E4F2E-7EF8-8C27-2978-F75049DD89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8034" y="183927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rgbClr val="9747FF"/>
                </a:solidFill>
              </a:defRPr>
            </a:lvl1pPr>
          </a:lstStyle>
          <a:p>
            <a:pPr lvl="0"/>
            <a:r>
              <a:rPr lang="en-US" dirty="0"/>
              <a:t>Header Two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45FB8C0-4273-A22D-A205-3C4162B288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8034" y="243950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F38BC3D-C9F1-F1D3-8128-3FF570254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314" y="411003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rgbClr val="9747FF"/>
                </a:solidFill>
              </a:defRPr>
            </a:lvl1pPr>
          </a:lstStyle>
          <a:p>
            <a:pPr lvl="0"/>
            <a:r>
              <a:rPr lang="en-US" dirty="0"/>
              <a:t>Header Three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8A5EAE4D-5EB7-7A22-B4A1-F30FC7FF1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14" y="471026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C279F05B-5A0F-1601-1B1B-8CA15CA96F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48034" y="4110036"/>
            <a:ext cx="4917374" cy="583249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rgbClr val="9747FF"/>
                </a:solidFill>
              </a:defRPr>
            </a:lvl1pPr>
          </a:lstStyle>
          <a:p>
            <a:pPr lvl="0"/>
            <a:r>
              <a:rPr lang="en-US" dirty="0"/>
              <a:t>Header Four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4D05D956-2835-7218-AE90-F998EAC793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8034" y="4710269"/>
            <a:ext cx="4917374" cy="1050451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Place description text here</a:t>
            </a:r>
          </a:p>
        </p:txBody>
      </p:sp>
      <p:pic>
        <p:nvPicPr>
          <p:cNvPr id="19" name="Picture 18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D6EA6564-8398-B145-A3A9-DE1B7392FA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0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7310" y="365124"/>
            <a:ext cx="4917374" cy="869315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E36B684-B4B3-7A5D-D424-B6A456EE2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7310" y="1474150"/>
            <a:ext cx="4917374" cy="464248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9E227B-D48C-C272-7274-0758F0C288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6321552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25C03367-DE33-6345-9F6B-45CBF6AF4D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4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4"/>
            <a:ext cx="4917374" cy="869315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E36B684-B4B3-7A5D-D424-B6A456EE2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1474150"/>
            <a:ext cx="4917374" cy="464248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9E227B-D48C-C272-7274-0758F0C288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70448" y="1"/>
            <a:ext cx="6321552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C5082CC2-18DF-E44F-8F7C-727F85E042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0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5A580C-1AC6-DB78-EEBF-31FCC7894653}"/>
              </a:ext>
            </a:extLst>
          </p:cNvPr>
          <p:cNvSpPr/>
          <p:nvPr userDrawn="1"/>
        </p:nvSpPr>
        <p:spPr>
          <a:xfrm>
            <a:off x="0" y="0"/>
            <a:ext cx="12192000" cy="3428999"/>
          </a:xfrm>
          <a:prstGeom prst="rect">
            <a:avLst/>
          </a:prstGeom>
          <a:solidFill>
            <a:srgbClr val="461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6137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4258" y="939071"/>
            <a:ext cx="9623484" cy="1371600"/>
          </a:xfrm>
        </p:spPr>
        <p:txBody>
          <a:bodyPr anchor="t">
            <a:normAutofit/>
          </a:bodyPr>
          <a:lstStyle>
            <a:lvl1pPr algn="ctr">
              <a:defRPr sz="2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9E227B-D48C-C272-7274-0758F0C288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14395"/>
            <a:ext cx="12192000" cy="34436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F09F20-CBBA-7A85-4C9E-9684AD2997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600" y="2535650"/>
            <a:ext cx="2590800" cy="382269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John Doe, SVP</a:t>
            </a:r>
          </a:p>
        </p:txBody>
      </p:sp>
      <p:pic>
        <p:nvPicPr>
          <p:cNvPr id="10" name="Picture 9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5E28F363-69FF-BE46-B805-2354BDA8DA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1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E36B684-B4B3-7A5D-D424-B6A456EE2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1925445"/>
            <a:ext cx="5319710" cy="355981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2281426"/>
            <a:ext cx="5319710" cy="334733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41004D8D-9B29-6ED5-FB5B-8D63834B53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8880" y="1925445"/>
            <a:ext cx="5319710" cy="355981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340856-4533-7964-D483-325F1E0327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8880" y="2281426"/>
            <a:ext cx="5319710" cy="334733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62E1FC2-3BE3-D59F-2D5C-A08771B41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11017370" cy="89674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pic>
        <p:nvPicPr>
          <p:cNvPr id="10" name="Picture 9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EE81E7DB-EBA5-0D4E-93CA-CA5E632565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2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0F8007-1F60-9894-1E9E-73363819FC60}"/>
              </a:ext>
            </a:extLst>
          </p:cNvPr>
          <p:cNvSpPr/>
          <p:nvPr userDrawn="1"/>
        </p:nvSpPr>
        <p:spPr>
          <a:xfrm>
            <a:off x="6096000" y="0"/>
            <a:ext cx="6096000" cy="5950857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AE36B684-B4B3-7A5D-D424-B6A456EE2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1925445"/>
            <a:ext cx="5319710" cy="355981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2281426"/>
            <a:ext cx="5319710" cy="334733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41004D8D-9B29-6ED5-FB5B-8D63834B53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8880" y="1925445"/>
            <a:ext cx="5319710" cy="355981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340856-4533-7964-D483-325F1E0327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8880" y="2281426"/>
            <a:ext cx="5319710" cy="334733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62E1FC2-3BE3-D59F-2D5C-A08771B41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5319710" cy="89674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pic>
        <p:nvPicPr>
          <p:cNvPr id="17" name="Picture 16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948252CD-30C3-8A46-8779-A248BDA4E0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0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643;p2">
            <a:extLst>
              <a:ext uri="{FF2B5EF4-FFF2-40B4-BE49-F238E27FC236}">
                <a16:creationId xmlns:a16="http://schemas.microsoft.com/office/drawing/2014/main" id="{A151F7D2-41FE-2589-13FB-59848A997B89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02E1856-8CA4-4342-B405-A5DB807BE799}" type="datetime1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03F3045-47AE-1518-75E7-483BE193C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11017370" cy="89674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C1A46C47-B564-AF08-47DC-98E1D14C5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1829971"/>
            <a:ext cx="3200400" cy="620839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0154141-0AAD-E614-36C9-F531277945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2620768"/>
            <a:ext cx="3200400" cy="16922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F47F5A7-21F8-1E1B-17A7-EEC418C949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800" y="1823766"/>
            <a:ext cx="3200400" cy="620839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C6CD6AC-BA1E-62DA-1162-1FB9937DEA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95800" y="2614563"/>
            <a:ext cx="3200400" cy="16922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5C240D0-B756-D759-B072-1901CFF2C2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2960" y="1823766"/>
            <a:ext cx="3200400" cy="620839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FFDC6F6-DDF4-4CB9-C82A-EE601C990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2960" y="2614563"/>
            <a:ext cx="3200400" cy="16922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15" name="Picture 1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3F9A0141-CA81-F948-8F3B-D4AEC54EB9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19" y="6400800"/>
            <a:ext cx="915990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84;p4">
            <a:extLst>
              <a:ext uri="{FF2B5EF4-FFF2-40B4-BE49-F238E27FC236}">
                <a16:creationId xmlns:a16="http://schemas.microsoft.com/office/drawing/2014/main" id="{9E973245-721F-8E34-3904-00D9976B35A0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EADA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11017370" cy="89674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0EBB2D1A-177D-9F4E-A4F6-99BAB7955E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AA6F665-8142-1748-9820-526429BFEB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1829971"/>
            <a:ext cx="3200400" cy="620839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34A569DE-B556-584A-A3F7-B25D104DC2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2620768"/>
            <a:ext cx="3200400" cy="16922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6F5E3B-6AD2-4A49-8EF4-8DCE13D703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800" y="1823766"/>
            <a:ext cx="3200400" cy="620839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0F7B14E-B1EF-E046-810A-00BD223004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95800" y="2614563"/>
            <a:ext cx="3200400" cy="16922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5C09A6-9159-B549-B993-E35418558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2960" y="1823766"/>
            <a:ext cx="3200400" cy="620839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8A852086-37B5-DB4C-A68A-752254934B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2960" y="2614563"/>
            <a:ext cx="3200400" cy="16922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</p:spTree>
    <p:extLst>
      <p:ext uri="{BB962C8B-B14F-4D97-AF65-F5344CB8AC3E}">
        <p14:creationId xmlns:p14="http://schemas.microsoft.com/office/powerpoint/2010/main" val="1985603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84;p4">
            <a:extLst>
              <a:ext uri="{FF2B5EF4-FFF2-40B4-BE49-F238E27FC236}">
                <a16:creationId xmlns:a16="http://schemas.microsoft.com/office/drawing/2014/main" id="{9E973245-721F-8E34-3904-00D9976B35A0}"/>
              </a:ext>
            </a:extLst>
          </p:cNvPr>
          <p:cNvSpPr/>
          <p:nvPr userDrawn="1"/>
        </p:nvSpPr>
        <p:spPr>
          <a:xfrm>
            <a:off x="6638544" y="0"/>
            <a:ext cx="5553456" cy="6858000"/>
          </a:xfrm>
          <a:prstGeom prst="rect">
            <a:avLst/>
          </a:prstGeom>
          <a:solidFill>
            <a:srgbClr val="EADA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5508685" cy="89674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1709928"/>
            <a:ext cx="5508685" cy="4050791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423454D-F54E-2704-C259-30B63297A2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0" y="791845"/>
            <a:ext cx="5508685" cy="44627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13" name="Picture 12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F009D9CC-0806-1145-8F5C-A5E75B953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77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93;p10">
            <a:extLst>
              <a:ext uri="{FF2B5EF4-FFF2-40B4-BE49-F238E27FC236}">
                <a16:creationId xmlns:a16="http://schemas.microsoft.com/office/drawing/2014/main" id="{DCA9CBAB-499A-EDBD-37DC-C3A2EB03B2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9D7FF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10995762" cy="74916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1481328"/>
            <a:ext cx="5508686" cy="4279391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D5B6912D-1551-18D1-BF50-9CC6BADC79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0" y="1481323"/>
            <a:ext cx="5295325" cy="4279391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Picture 12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3D3FA748-DB6E-B34B-A34E-9C1BB2719E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840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643;p2">
            <a:extLst>
              <a:ext uri="{FF2B5EF4-FFF2-40B4-BE49-F238E27FC236}">
                <a16:creationId xmlns:a16="http://schemas.microsoft.com/office/drawing/2014/main" id="{B2C6CBE5-D7FB-6C39-4551-0356FC0F77DD}"/>
              </a:ext>
            </a:extLst>
          </p:cNvPr>
          <p:cNvSpPr/>
          <p:nvPr userDrawn="1"/>
        </p:nvSpPr>
        <p:spPr>
          <a:xfrm>
            <a:off x="0" y="3582296"/>
            <a:ext cx="12192000" cy="3275704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5630606" cy="74916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02E1856-8CA4-4342-B405-A5DB807BE799}" type="datetime1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1463040"/>
            <a:ext cx="5630606" cy="194767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3" name="Picture 1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ED006DD-AFB7-C641-A65F-5723E626A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19" y="6400800"/>
            <a:ext cx="915990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62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643;p2">
            <a:extLst>
              <a:ext uri="{FF2B5EF4-FFF2-40B4-BE49-F238E27FC236}">
                <a16:creationId xmlns:a16="http://schemas.microsoft.com/office/drawing/2014/main" id="{B2C6CBE5-D7FB-6C39-4551-0356FC0F77DD}"/>
              </a:ext>
            </a:extLst>
          </p:cNvPr>
          <p:cNvSpPr/>
          <p:nvPr userDrawn="1"/>
        </p:nvSpPr>
        <p:spPr>
          <a:xfrm>
            <a:off x="0" y="6108832"/>
            <a:ext cx="12192000" cy="749168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11017371" cy="446279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02E1856-8CA4-4342-B405-A5DB807BE799}" type="datetime1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1651440"/>
            <a:ext cx="11017370" cy="235915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>
                <a:solidFill>
                  <a:schemeClr val="bg2"/>
                </a:solidFill>
              </a:rPr>
              <a:pPr/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3DCF6045-082D-6D2C-4302-6C431471E4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0" y="914400"/>
            <a:ext cx="11017370" cy="44627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13" name="Picture 1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6D7CE732-C0EF-C54C-84C9-BB2D646385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19" y="6400800"/>
            <a:ext cx="915990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1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10995760" cy="749167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43FB1004-5629-7C14-DDED-84A833703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1481329"/>
            <a:ext cx="11017371" cy="3940076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Google Shape;643;p2">
            <a:extLst>
              <a:ext uri="{FF2B5EF4-FFF2-40B4-BE49-F238E27FC236}">
                <a16:creationId xmlns:a16="http://schemas.microsoft.com/office/drawing/2014/main" id="{F515969D-D12C-D80F-7C85-AC0AFFA742B6}"/>
              </a:ext>
            </a:extLst>
          </p:cNvPr>
          <p:cNvSpPr/>
          <p:nvPr userDrawn="1"/>
        </p:nvSpPr>
        <p:spPr>
          <a:xfrm>
            <a:off x="0" y="-9460"/>
            <a:ext cx="12192000" cy="144356"/>
          </a:xfrm>
          <a:prstGeom prst="rect">
            <a:avLst/>
          </a:prstGeom>
          <a:solidFill>
            <a:srgbClr val="46137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" name="Picture 14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1F27209B-752F-1546-8C5B-086BC52F78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53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6"/>
            <a:ext cx="11016856" cy="1829434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21A44585-499C-F81D-947E-14657898CA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2795451"/>
            <a:ext cx="11016856" cy="19986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12" name="Picture 11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DC3F7B34-51B0-C941-9759-C2DEE2B08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22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753F34-1DEB-D774-1D44-13FF9C16C31B}"/>
              </a:ext>
            </a:extLst>
          </p:cNvPr>
          <p:cNvSpPr/>
          <p:nvPr userDrawn="1"/>
        </p:nvSpPr>
        <p:spPr>
          <a:xfrm>
            <a:off x="0" y="0"/>
            <a:ext cx="12192000" cy="2355742"/>
          </a:xfrm>
          <a:prstGeom prst="rect">
            <a:avLst/>
          </a:prstGeom>
          <a:solidFill>
            <a:srgbClr val="4613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829" y="365126"/>
            <a:ext cx="11016856" cy="1829434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21A44585-499C-F81D-947E-14657898CA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829" y="2795451"/>
            <a:ext cx="11016856" cy="19986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pic>
        <p:nvPicPr>
          <p:cNvPr id="12" name="Picture 11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A198D9E9-D3FC-874B-B392-F159026E48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451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15" y="365125"/>
            <a:ext cx="11017371" cy="1528989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Google Shape;773;g3748561eeb1_2_180">
            <a:extLst>
              <a:ext uri="{FF2B5EF4-FFF2-40B4-BE49-F238E27FC236}">
                <a16:creationId xmlns:a16="http://schemas.microsoft.com/office/drawing/2014/main" id="{4CC24239-EDBB-463F-B798-4EA3074EFC01}"/>
              </a:ext>
            </a:extLst>
          </p:cNvPr>
          <p:cNvSpPr/>
          <p:nvPr userDrawn="1"/>
        </p:nvSpPr>
        <p:spPr>
          <a:xfrm>
            <a:off x="548639" y="2267334"/>
            <a:ext cx="3336664" cy="640080"/>
          </a:xfrm>
          <a:prstGeom prst="chevron">
            <a:avLst>
              <a:gd name="adj" fmla="val 50000"/>
            </a:avLst>
          </a:prstGeom>
          <a:solidFill>
            <a:srgbClr val="9747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2B99"/>
              </a:buClr>
              <a:buSzPts val="1800"/>
              <a:buFont typeface="Montserrat"/>
              <a:buNone/>
            </a:pPr>
            <a:endParaRPr dirty="0"/>
          </a:p>
        </p:txBody>
      </p:sp>
      <p:sp>
        <p:nvSpPr>
          <p:cNvPr id="5" name="Google Shape;774;g3748561eeb1_2_180">
            <a:extLst>
              <a:ext uri="{FF2B5EF4-FFF2-40B4-BE49-F238E27FC236}">
                <a16:creationId xmlns:a16="http://schemas.microsoft.com/office/drawing/2014/main" id="{7D20336F-7165-832B-0D98-1B1A01D0F414}"/>
              </a:ext>
            </a:extLst>
          </p:cNvPr>
          <p:cNvSpPr/>
          <p:nvPr userDrawn="1"/>
        </p:nvSpPr>
        <p:spPr>
          <a:xfrm>
            <a:off x="4419135" y="2267334"/>
            <a:ext cx="3336664" cy="640080"/>
          </a:xfrm>
          <a:prstGeom prst="chevron">
            <a:avLst>
              <a:gd name="adj" fmla="val 50000"/>
            </a:avLst>
          </a:prstGeom>
          <a:solidFill>
            <a:srgbClr val="BB8FE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2B99"/>
              </a:buClr>
              <a:buSzPts val="1800"/>
              <a:buFont typeface="Montserrat"/>
              <a:buNone/>
            </a:pPr>
            <a:endParaRPr dirty="0"/>
          </a:p>
        </p:txBody>
      </p:sp>
      <p:sp>
        <p:nvSpPr>
          <p:cNvPr id="6" name="Google Shape;775;g3748561eeb1_2_180">
            <a:extLst>
              <a:ext uri="{FF2B5EF4-FFF2-40B4-BE49-F238E27FC236}">
                <a16:creationId xmlns:a16="http://schemas.microsoft.com/office/drawing/2014/main" id="{BF6157BB-FF80-4297-DB77-0B9AB6EEA411}"/>
              </a:ext>
            </a:extLst>
          </p:cNvPr>
          <p:cNvSpPr/>
          <p:nvPr userDrawn="1"/>
        </p:nvSpPr>
        <p:spPr>
          <a:xfrm>
            <a:off x="8289631" y="2267334"/>
            <a:ext cx="3336664" cy="640080"/>
          </a:xfrm>
          <a:prstGeom prst="chevron">
            <a:avLst>
              <a:gd name="adj" fmla="val 50000"/>
            </a:avLst>
          </a:prstGeom>
          <a:solidFill>
            <a:srgbClr val="EADB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2B99"/>
              </a:buClr>
              <a:buSzPts val="1800"/>
              <a:buFont typeface="Montserrat"/>
              <a:buNone/>
            </a:pPr>
            <a:endParaRPr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A75ED62-3B86-617F-2BE5-549786492A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275" y="3200400"/>
            <a:ext cx="3335338" cy="70485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2C9FD60-B851-DF84-642D-E5C57B5EF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63630" y="3200400"/>
            <a:ext cx="3335338" cy="70485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43D4356-CCF1-2414-9BB8-0D43AFDF9E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08612" y="3200400"/>
            <a:ext cx="3335338" cy="70485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461378"/>
                </a:solidFill>
              </a:defRPr>
            </a:lvl1pPr>
          </a:lstStyle>
          <a:p>
            <a:pPr lvl="0"/>
            <a:r>
              <a:rPr lang="en-US" dirty="0"/>
              <a:t>Add placeholder text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C0FF3878-3A79-2B76-56AA-029E69E7CE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9275" y="4114799"/>
            <a:ext cx="3335338" cy="1776549"/>
          </a:xfrm>
        </p:spPr>
        <p:txBody>
          <a:bodyPr>
            <a:normAutofit/>
          </a:bodyPr>
          <a:lstStyle>
            <a:lvl1pPr marL="19431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placeholder text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8A15A843-55C6-265D-681F-5F8897E1B5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3630" y="4114799"/>
            <a:ext cx="3335338" cy="1776549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placeholder text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5DE82CE8-9747-D464-3B14-CFED3539DB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08612" y="4114799"/>
            <a:ext cx="3335338" cy="1776549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placeholder text</a:t>
            </a:r>
          </a:p>
        </p:txBody>
      </p:sp>
      <p:pic>
        <p:nvPicPr>
          <p:cNvPr id="17" name="Picture 16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2035D8F6-75CF-8645-9FD6-41F1C5E01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884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D0F-25CB-808F-43F3-E6096277B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39" y="365126"/>
            <a:ext cx="11017371" cy="706266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821;p11">
            <a:extLst>
              <a:ext uri="{FF2B5EF4-FFF2-40B4-BE49-F238E27FC236}">
                <a16:creationId xmlns:a16="http://schemas.microsoft.com/office/drawing/2014/main" id="{F7F4B018-08C2-5A58-9361-3CF43E93A79D}"/>
              </a:ext>
            </a:extLst>
          </p:cNvPr>
          <p:cNvSpPr/>
          <p:nvPr userDrawn="1"/>
        </p:nvSpPr>
        <p:spPr>
          <a:xfrm>
            <a:off x="6156520" y="3723609"/>
            <a:ext cx="5486400" cy="237744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822;p11">
            <a:extLst>
              <a:ext uri="{FF2B5EF4-FFF2-40B4-BE49-F238E27FC236}">
                <a16:creationId xmlns:a16="http://schemas.microsoft.com/office/drawing/2014/main" id="{96F141DC-554D-CF13-736A-F894EE3612C0}"/>
              </a:ext>
            </a:extLst>
          </p:cNvPr>
          <p:cNvSpPr/>
          <p:nvPr userDrawn="1"/>
        </p:nvSpPr>
        <p:spPr>
          <a:xfrm>
            <a:off x="548639" y="1208780"/>
            <a:ext cx="5486400" cy="2377440"/>
          </a:xfrm>
          <a:prstGeom prst="rect">
            <a:avLst/>
          </a:prstGeom>
          <a:solidFill>
            <a:srgbClr val="461478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826;p11">
            <a:extLst>
              <a:ext uri="{FF2B5EF4-FFF2-40B4-BE49-F238E27FC236}">
                <a16:creationId xmlns:a16="http://schemas.microsoft.com/office/drawing/2014/main" id="{54EC9C7F-B16B-5667-345B-374CCF89EB4F}"/>
              </a:ext>
            </a:extLst>
          </p:cNvPr>
          <p:cNvSpPr/>
          <p:nvPr userDrawn="1"/>
        </p:nvSpPr>
        <p:spPr>
          <a:xfrm>
            <a:off x="6156963" y="1208780"/>
            <a:ext cx="5486400" cy="2377440"/>
          </a:xfrm>
          <a:prstGeom prst="rect">
            <a:avLst/>
          </a:prstGeom>
          <a:solidFill>
            <a:srgbClr val="9747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830;p11">
            <a:extLst>
              <a:ext uri="{FF2B5EF4-FFF2-40B4-BE49-F238E27FC236}">
                <a16:creationId xmlns:a16="http://schemas.microsoft.com/office/drawing/2014/main" id="{2C8FF463-97D5-D5DA-A026-5A8F8D4C7A56}"/>
              </a:ext>
            </a:extLst>
          </p:cNvPr>
          <p:cNvSpPr/>
          <p:nvPr userDrawn="1"/>
        </p:nvSpPr>
        <p:spPr>
          <a:xfrm>
            <a:off x="548639" y="3723609"/>
            <a:ext cx="5486400" cy="2377440"/>
          </a:xfrm>
          <a:prstGeom prst="rect">
            <a:avLst/>
          </a:prstGeom>
          <a:solidFill>
            <a:srgbClr val="EADAFF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" name="Picture 12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EA4FA4DB-690E-4F48-A404-575575FDE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046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D84A0F-49DE-5E0A-F419-31519FA8EBC4}"/>
              </a:ext>
            </a:extLst>
          </p:cNvPr>
          <p:cNvGrpSpPr/>
          <p:nvPr userDrawn="1"/>
        </p:nvGrpSpPr>
        <p:grpSpPr>
          <a:xfrm>
            <a:off x="3417859" y="1941320"/>
            <a:ext cx="2594760" cy="3542505"/>
            <a:chOff x="3417859" y="1941320"/>
            <a:chExt cx="2594760" cy="354250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877EDB-04B2-3A2C-FD9D-B0FDEF5CB1B3}"/>
                </a:ext>
              </a:extLst>
            </p:cNvPr>
            <p:cNvSpPr/>
            <p:nvPr/>
          </p:nvSpPr>
          <p:spPr>
            <a:xfrm>
              <a:off x="3418553" y="1941320"/>
              <a:ext cx="2594066" cy="186267"/>
            </a:xfrm>
            <a:prstGeom prst="rect">
              <a:avLst/>
            </a:prstGeom>
            <a:solidFill>
              <a:srgbClr val="EAD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6F30C6-3C85-6A6A-95ED-57059A32EF7A}"/>
                </a:ext>
              </a:extLst>
            </p:cNvPr>
            <p:cNvSpPr/>
            <p:nvPr/>
          </p:nvSpPr>
          <p:spPr>
            <a:xfrm>
              <a:off x="3417859" y="2110653"/>
              <a:ext cx="2594066" cy="3373172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E706DB-6CDE-8375-9B3A-90A1E09132A0}"/>
              </a:ext>
            </a:extLst>
          </p:cNvPr>
          <p:cNvGrpSpPr/>
          <p:nvPr userDrawn="1"/>
        </p:nvGrpSpPr>
        <p:grpSpPr>
          <a:xfrm>
            <a:off x="6177992" y="1941320"/>
            <a:ext cx="2595455" cy="3542505"/>
            <a:chOff x="6177992" y="1941320"/>
            <a:chExt cx="2595455" cy="354250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E41DA2-97F2-C99B-A3A9-19EC9F759283}"/>
                </a:ext>
              </a:extLst>
            </p:cNvPr>
            <p:cNvSpPr/>
            <p:nvPr/>
          </p:nvSpPr>
          <p:spPr>
            <a:xfrm>
              <a:off x="6179381" y="1941320"/>
              <a:ext cx="2594066" cy="186267"/>
            </a:xfrm>
            <a:prstGeom prst="rect">
              <a:avLst/>
            </a:prstGeom>
            <a:solidFill>
              <a:srgbClr val="461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0D7A06-BDE6-E7EB-15CE-F54E090EE3B3}"/>
                </a:ext>
              </a:extLst>
            </p:cNvPr>
            <p:cNvSpPr/>
            <p:nvPr/>
          </p:nvSpPr>
          <p:spPr>
            <a:xfrm>
              <a:off x="6177992" y="2110653"/>
              <a:ext cx="2594066" cy="3373172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3D847E-9CAB-50E5-F2D2-9DBB750D8314}"/>
              </a:ext>
            </a:extLst>
          </p:cNvPr>
          <p:cNvGrpSpPr/>
          <p:nvPr userDrawn="1"/>
        </p:nvGrpSpPr>
        <p:grpSpPr>
          <a:xfrm>
            <a:off x="8969860" y="1941320"/>
            <a:ext cx="2596150" cy="3542505"/>
            <a:chOff x="8938125" y="1941320"/>
            <a:chExt cx="2596150" cy="354250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9EDF095-5E35-4D66-68AC-281D04EEAFDD}"/>
                </a:ext>
              </a:extLst>
            </p:cNvPr>
            <p:cNvSpPr/>
            <p:nvPr/>
          </p:nvSpPr>
          <p:spPr>
            <a:xfrm>
              <a:off x="8940209" y="1941320"/>
              <a:ext cx="2594066" cy="186267"/>
            </a:xfrm>
            <a:prstGeom prst="rect">
              <a:avLst/>
            </a:prstGeom>
            <a:solidFill>
              <a:srgbClr val="974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8A043E-C77A-76ED-DD3A-20EDD224C628}"/>
                </a:ext>
              </a:extLst>
            </p:cNvPr>
            <p:cNvSpPr/>
            <p:nvPr/>
          </p:nvSpPr>
          <p:spPr>
            <a:xfrm>
              <a:off x="8938125" y="2110653"/>
              <a:ext cx="2594066" cy="3373172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C952C944-C143-046A-FFCF-85E20B099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65125"/>
            <a:ext cx="11017371" cy="446279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857040DA-8A43-4762-B388-9BDAD082C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0" y="791845"/>
            <a:ext cx="11017370" cy="44627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2C45F060-A2B6-CB5E-D1B1-7913BFA95B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19700" y="2242273"/>
            <a:ext cx="2439667" cy="58851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F0069BB3-24F7-017B-2229-0D756DE4F3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19700" y="2920191"/>
            <a:ext cx="2439667" cy="2408554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8667C683-C314-3630-05B1-6A82303010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900" y="2242273"/>
            <a:ext cx="2439667" cy="58851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0AB75F8B-89EC-E770-68E4-7F56486F30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62900" y="2920191"/>
            <a:ext cx="2439667" cy="2408554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3F224296-120A-7563-EAD0-95BF85B155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21866" y="2242273"/>
            <a:ext cx="2439667" cy="58851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1E3151B4-2B76-2810-A963-53B633AA3A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21866" y="2920191"/>
            <a:ext cx="2439667" cy="2408554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pic>
        <p:nvPicPr>
          <p:cNvPr id="31" name="Picture 30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827C7C13-585B-A448-BBA4-B1D1D2AC3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7BE057A-2C67-E145-9B8B-BDFE015B5C38}"/>
              </a:ext>
            </a:extLst>
          </p:cNvPr>
          <p:cNvGrpSpPr/>
          <p:nvPr userDrawn="1"/>
        </p:nvGrpSpPr>
        <p:grpSpPr>
          <a:xfrm>
            <a:off x="548640" y="1941320"/>
            <a:ext cx="2594066" cy="3542505"/>
            <a:chOff x="548640" y="1941320"/>
            <a:chExt cx="2594066" cy="35425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817130-0B03-0E93-DB00-CB430124521E}"/>
                </a:ext>
              </a:extLst>
            </p:cNvPr>
            <p:cNvSpPr/>
            <p:nvPr/>
          </p:nvSpPr>
          <p:spPr>
            <a:xfrm>
              <a:off x="548640" y="1941320"/>
              <a:ext cx="2594066" cy="186267"/>
            </a:xfrm>
            <a:prstGeom prst="rect">
              <a:avLst/>
            </a:prstGeom>
            <a:solidFill>
              <a:srgbClr val="BB8F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279A97-2371-9977-5906-EE1606714F4B}"/>
                </a:ext>
              </a:extLst>
            </p:cNvPr>
            <p:cNvSpPr/>
            <p:nvPr/>
          </p:nvSpPr>
          <p:spPr>
            <a:xfrm>
              <a:off x="548640" y="2110653"/>
              <a:ext cx="2594066" cy="3373172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C492BB5A-D4BC-FF5E-FE46-2310E4C3BC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118" y="2242273"/>
            <a:ext cx="2439667" cy="58851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3D2FD3BB-AC23-F225-A958-21F40ED374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118" y="2920191"/>
            <a:ext cx="2439667" cy="2408554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30828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2495E78-7B61-78CD-2D39-6131DD9EB9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</p:spPr>
        <p:txBody>
          <a:bodyPr/>
          <a:lstStyle/>
          <a:p>
            <a:fld id="{402E1856-8CA4-4342-B405-A5DB807BE79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E49511-8DE5-425D-8DDC-4B74D9B4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0" name="Google Shape;195;p41">
            <a:extLst>
              <a:ext uri="{FF2B5EF4-FFF2-40B4-BE49-F238E27FC236}">
                <a16:creationId xmlns:a16="http://schemas.microsoft.com/office/drawing/2014/main" id="{E2CF8FCF-EFAF-2870-CB4E-B3542B6C1BA8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6" name="Google Shape;200;p42">
            <a:extLst>
              <a:ext uri="{FF2B5EF4-FFF2-40B4-BE49-F238E27FC236}">
                <a16:creationId xmlns:a16="http://schemas.microsoft.com/office/drawing/2014/main" id="{72422565-CC5F-C5D6-505B-4E652BBA276A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52C944-C143-046A-FFCF-85E20B099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13" y="365125"/>
            <a:ext cx="11017371" cy="446279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857040DA-8A43-4762-B388-9BDAD082C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313" y="791845"/>
            <a:ext cx="11017370" cy="44627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defRPr>
            </a:lvl1pPr>
          </a:lstStyle>
          <a:p>
            <a:pPr lvl="0"/>
            <a:r>
              <a:rPr lang="en-US" dirty="0"/>
              <a:t>Add placeholder text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31881-A0DD-CF77-7E6E-2146B578587D}"/>
              </a:ext>
            </a:extLst>
          </p:cNvPr>
          <p:cNvSpPr/>
          <p:nvPr userDrawn="1"/>
        </p:nvSpPr>
        <p:spPr>
          <a:xfrm>
            <a:off x="587313" y="2216257"/>
            <a:ext cx="3451287" cy="3533613"/>
          </a:xfrm>
          <a:prstGeom prst="rect">
            <a:avLst/>
          </a:prstGeom>
          <a:solidFill>
            <a:srgbClr val="461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922537-AD51-4D74-3699-5A42BB4AB798}"/>
              </a:ext>
            </a:extLst>
          </p:cNvPr>
          <p:cNvSpPr>
            <a:spLocks noChangeAspect="1"/>
          </p:cNvSpPr>
          <p:nvPr userDrawn="1"/>
        </p:nvSpPr>
        <p:spPr>
          <a:xfrm>
            <a:off x="1808474" y="1713337"/>
            <a:ext cx="1005840" cy="1005840"/>
          </a:xfrm>
          <a:prstGeom prst="ellipse">
            <a:avLst/>
          </a:prstGeom>
          <a:solidFill>
            <a:srgbClr val="46137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98550A-43FD-D8B9-3CF0-B66F8B086B4F}"/>
              </a:ext>
            </a:extLst>
          </p:cNvPr>
          <p:cNvSpPr/>
          <p:nvPr userDrawn="1"/>
        </p:nvSpPr>
        <p:spPr>
          <a:xfrm>
            <a:off x="4442682" y="2216257"/>
            <a:ext cx="3451287" cy="3533613"/>
          </a:xfrm>
          <a:prstGeom prst="rect">
            <a:avLst/>
          </a:prstGeom>
          <a:solidFill>
            <a:srgbClr val="BB8F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B26B4BD-985C-EED3-70BD-DAF8987ECEA2}"/>
              </a:ext>
            </a:extLst>
          </p:cNvPr>
          <p:cNvSpPr>
            <a:spLocks noChangeAspect="1"/>
          </p:cNvSpPr>
          <p:nvPr userDrawn="1"/>
        </p:nvSpPr>
        <p:spPr>
          <a:xfrm>
            <a:off x="5665405" y="1713337"/>
            <a:ext cx="1005840" cy="1005840"/>
          </a:xfrm>
          <a:prstGeom prst="ellipse">
            <a:avLst/>
          </a:prstGeom>
          <a:solidFill>
            <a:srgbClr val="BB8FE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57990F-D015-91DF-14D7-3A334A1A566C}"/>
              </a:ext>
            </a:extLst>
          </p:cNvPr>
          <p:cNvSpPr/>
          <p:nvPr userDrawn="1"/>
        </p:nvSpPr>
        <p:spPr>
          <a:xfrm>
            <a:off x="8150486" y="2216257"/>
            <a:ext cx="3451287" cy="3533613"/>
          </a:xfrm>
          <a:prstGeom prst="rect">
            <a:avLst/>
          </a:prstGeom>
          <a:solidFill>
            <a:srgbClr val="EAD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B23DD0-0C03-2809-3870-CA0EEF451142}"/>
              </a:ext>
            </a:extLst>
          </p:cNvPr>
          <p:cNvSpPr>
            <a:spLocks noChangeAspect="1"/>
          </p:cNvSpPr>
          <p:nvPr userDrawn="1"/>
        </p:nvSpPr>
        <p:spPr>
          <a:xfrm>
            <a:off x="9377686" y="1713337"/>
            <a:ext cx="1005840" cy="1005840"/>
          </a:xfrm>
          <a:prstGeom prst="ellipse">
            <a:avLst/>
          </a:prstGeom>
          <a:solidFill>
            <a:srgbClr val="EADB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819963E3-EC1A-4EE9-5F4F-4624CA1711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706" y="3208727"/>
            <a:ext cx="3165377" cy="588510"/>
          </a:xfr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6DEC1884-181B-8279-2DEF-78DD95A877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8706" y="3828081"/>
            <a:ext cx="3165377" cy="181069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E0EBAC75-3402-6D32-5F35-B37445A39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91258" y="3208727"/>
            <a:ext cx="3165377" cy="588510"/>
          </a:xfr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53555DEB-9827-5129-E6E6-A996A49E63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91258" y="3828081"/>
            <a:ext cx="3165377" cy="181069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CB7CC97A-FBBF-7F0E-5322-4034221933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0389" y="3208727"/>
            <a:ext cx="3165377" cy="588510"/>
          </a:xfr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800" b="1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9C2C83FB-E776-E2A8-EAEB-B5E4FC59F3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80389" y="3828081"/>
            <a:ext cx="3165377" cy="181069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 b="0" i="0">
                <a:solidFill>
                  <a:srgbClr val="461378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pic>
        <p:nvPicPr>
          <p:cNvPr id="21" name="Picture 20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6A16D234-D7CC-E849-93EF-9AAFA1D8CD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920" y="6400800"/>
            <a:ext cx="914400" cy="2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14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Slide">
    <p:bg>
      <p:bgPr>
        <a:solidFill>
          <a:srgbClr val="7A0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A218CB-8A47-97E9-3A12-3AFE09EB41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6016B"/>
              </a:gs>
              <a:gs pos="50000">
                <a:srgbClr val="9747FF">
                  <a:tint val="23500"/>
                  <a:satMod val="160000"/>
                  <a:alpha val="0"/>
                </a:srgbClr>
              </a:gs>
            </a:gsLst>
            <a:lin ang="2700000" scaled="1"/>
            <a:tileRect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936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 type="tx">
  <p:cSld name="1_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0"/>
          <p:cNvSpPr>
            <a:spLocks noGrp="1"/>
          </p:cNvSpPr>
          <p:nvPr>
            <p:ph type="pic" idx="2"/>
          </p:nvPr>
        </p:nvSpPr>
        <p:spPr>
          <a:xfrm>
            <a:off x="5183187" y="987427"/>
            <a:ext cx="6172201" cy="487362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/>
            </a:lvl5pPr>
            <a:lvl6pPr marL="2743200" lvl="5" indent="-371475" algn="l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sldNum" idx="12"/>
          </p:nvPr>
        </p:nvSpPr>
        <p:spPr>
          <a:xfrm>
            <a:off x="11120923" y="6424660"/>
            <a:ext cx="232877" cy="22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/>
            </a:lvl1pPr>
            <a:lvl2pPr marL="0" lvl="1" indent="0" algn="r">
              <a:spcBef>
                <a:spcPts val="0"/>
              </a:spcBef>
              <a:buNone/>
              <a:defRPr sz="1000"/>
            </a:lvl2pPr>
            <a:lvl3pPr marL="0" lvl="2" indent="0" algn="r">
              <a:spcBef>
                <a:spcPts val="0"/>
              </a:spcBef>
              <a:buNone/>
              <a:defRPr sz="1000"/>
            </a:lvl3pPr>
            <a:lvl4pPr marL="0" lvl="3" indent="0" algn="r">
              <a:spcBef>
                <a:spcPts val="0"/>
              </a:spcBef>
              <a:buNone/>
              <a:defRPr sz="1000"/>
            </a:lvl4pPr>
            <a:lvl5pPr marL="0" lvl="4" indent="0" algn="r">
              <a:spcBef>
                <a:spcPts val="0"/>
              </a:spcBef>
              <a:buNone/>
              <a:defRPr sz="1000"/>
            </a:lvl5pPr>
            <a:lvl6pPr marL="0" lvl="5" indent="0" algn="r">
              <a:spcBef>
                <a:spcPts val="0"/>
              </a:spcBef>
              <a:buNone/>
              <a:defRPr sz="1000"/>
            </a:lvl6pPr>
            <a:lvl7pPr marL="0" lvl="6" indent="0" algn="r">
              <a:spcBef>
                <a:spcPts val="0"/>
              </a:spcBef>
              <a:buNone/>
              <a:defRPr sz="1000"/>
            </a:lvl7pPr>
            <a:lvl8pPr marL="0" lvl="7" indent="0" algn="r">
              <a:spcBef>
                <a:spcPts val="0"/>
              </a:spcBef>
              <a:buNone/>
              <a:defRPr sz="1000"/>
            </a:lvl8pPr>
            <a:lvl9pPr marL="0" lvl="8" indent="0" algn="r">
              <a:spcBef>
                <a:spcPts val="0"/>
              </a:spcBef>
              <a:buNone/>
              <a:defRPr sz="1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44874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>
            <a:spLocks noGrp="1"/>
          </p:cNvSpPr>
          <p:nvPr>
            <p:ph type="title"/>
          </p:nvPr>
        </p:nvSpPr>
        <p:spPr>
          <a:xfrm>
            <a:off x="1037569" y="551180"/>
            <a:ext cx="10363200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ftr" idx="11"/>
          </p:nvPr>
        </p:nvSpPr>
        <p:spPr>
          <a:xfrm>
            <a:off x="4038603" y="6356355"/>
            <a:ext cx="4105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2"/>
          <p:cNvSpPr txBox="1">
            <a:spLocks noGrp="1"/>
          </p:cNvSpPr>
          <p:nvPr>
            <p:ph type="dt" idx="10"/>
          </p:nvPr>
        </p:nvSpPr>
        <p:spPr>
          <a:xfrm>
            <a:off x="1320804" y="6356355"/>
            <a:ext cx="103383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2"/>
          <p:cNvSpPr txBox="1">
            <a:spLocks noGrp="1"/>
          </p:cNvSpPr>
          <p:nvPr>
            <p:ph type="sldNum" idx="12"/>
          </p:nvPr>
        </p:nvSpPr>
        <p:spPr>
          <a:xfrm>
            <a:off x="846668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190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93;p10">
            <a:extLst>
              <a:ext uri="{FF2B5EF4-FFF2-40B4-BE49-F238E27FC236}">
                <a16:creationId xmlns:a16="http://schemas.microsoft.com/office/drawing/2014/main" id="{86508ECF-3187-3F10-5B17-CD07344979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9D7FF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83185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34;p1" descr="A purple and black gradient&#10;&#10;Description automatically generated">
            <a:extLst>
              <a:ext uri="{FF2B5EF4-FFF2-40B4-BE49-F238E27FC236}">
                <a16:creationId xmlns:a16="http://schemas.microsoft.com/office/drawing/2014/main" id="{D196D072-BEB2-626A-5628-2D9DFBA96B7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2666"/>
          <a:stretch/>
        </p:blipFill>
        <p:spPr>
          <a:xfrm>
            <a:off x="20" y="0"/>
            <a:ext cx="12191980" cy="6857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40597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rgbClr val="7A0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02;p46">
            <a:extLst>
              <a:ext uri="{FF2B5EF4-FFF2-40B4-BE49-F238E27FC236}">
                <a16:creationId xmlns:a16="http://schemas.microsoft.com/office/drawing/2014/main" id="{3988931B-2574-9676-E75E-BDF07DEF70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6016B"/>
              </a:gs>
              <a:gs pos="50000">
                <a:srgbClr val="E7DBFF">
                  <a:alpha val="0"/>
                </a:srgbClr>
              </a:gs>
              <a:gs pos="100000">
                <a:srgbClr val="E7DBFF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02263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3;p2">
            <a:extLst>
              <a:ext uri="{FF2B5EF4-FFF2-40B4-BE49-F238E27FC236}">
                <a16:creationId xmlns:a16="http://schemas.microsoft.com/office/drawing/2014/main" id="{B5B647CA-8826-66CE-A450-942243DCD40A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249360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43;p2">
            <a:extLst>
              <a:ext uri="{FF2B5EF4-FFF2-40B4-BE49-F238E27FC236}">
                <a16:creationId xmlns:a16="http://schemas.microsoft.com/office/drawing/2014/main" id="{BF520D8F-7128-E633-BC73-5743B5DCE1AA}"/>
              </a:ext>
            </a:extLst>
          </p:cNvPr>
          <p:cNvSpPr/>
          <p:nvPr userDrawn="1"/>
        </p:nvSpPr>
        <p:spPr>
          <a:xfrm>
            <a:off x="0" y="3582296"/>
            <a:ext cx="12192000" cy="3275704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387076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3;p2">
            <a:extLst>
              <a:ext uri="{FF2B5EF4-FFF2-40B4-BE49-F238E27FC236}">
                <a16:creationId xmlns:a16="http://schemas.microsoft.com/office/drawing/2014/main" id="{F5173110-6906-E0B4-C106-BD847A3E0911}"/>
              </a:ext>
            </a:extLst>
          </p:cNvPr>
          <p:cNvSpPr/>
          <p:nvPr userDrawn="1"/>
        </p:nvSpPr>
        <p:spPr>
          <a:xfrm>
            <a:off x="0" y="6108832"/>
            <a:ext cx="12192000" cy="749168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559704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84;p4">
            <a:extLst>
              <a:ext uri="{FF2B5EF4-FFF2-40B4-BE49-F238E27FC236}">
                <a16:creationId xmlns:a16="http://schemas.microsoft.com/office/drawing/2014/main" id="{6420A3A7-A673-D6C8-F5FB-C695092FF24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EADA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705523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4;p4">
            <a:extLst>
              <a:ext uri="{FF2B5EF4-FFF2-40B4-BE49-F238E27FC236}">
                <a16:creationId xmlns:a16="http://schemas.microsoft.com/office/drawing/2014/main" id="{F879661D-178B-0EBB-2295-EDAB030D6955}"/>
              </a:ext>
            </a:extLst>
          </p:cNvPr>
          <p:cNvSpPr/>
          <p:nvPr userDrawn="1"/>
        </p:nvSpPr>
        <p:spPr>
          <a:xfrm>
            <a:off x="6638544" y="0"/>
            <a:ext cx="5553456" cy="6858000"/>
          </a:xfrm>
          <a:prstGeom prst="rect">
            <a:avLst/>
          </a:prstGeom>
          <a:solidFill>
            <a:srgbClr val="EADA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452225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93;p10">
            <a:extLst>
              <a:ext uri="{FF2B5EF4-FFF2-40B4-BE49-F238E27FC236}">
                <a16:creationId xmlns:a16="http://schemas.microsoft.com/office/drawing/2014/main" id="{86508ECF-3187-3F10-5B17-CD07344979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9D7FF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Montserrat" pitchFamily="2" charset="77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811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B6BE2-D8FE-8661-A5C8-18DC1D57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561FA-3E71-88B9-EBDD-D03F74865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oogle Shape;195;p41">
            <a:extLst>
              <a:ext uri="{FF2B5EF4-FFF2-40B4-BE49-F238E27FC236}">
                <a16:creationId xmlns:a16="http://schemas.microsoft.com/office/drawing/2014/main" id="{2A794201-C48F-2350-48FE-ACE0A61472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26687-FF64-7EA4-3B91-DD8B28F96E2E}"/>
              </a:ext>
            </a:extLst>
          </p:cNvPr>
          <p:cNvSpPr txBox="1"/>
          <p:nvPr userDrawn="1"/>
        </p:nvSpPr>
        <p:spPr>
          <a:xfrm>
            <a:off x="-1965960" y="21122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96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7" r:id="rId3"/>
    <p:sldLayoutId id="2147483702" r:id="rId4"/>
    <p:sldLayoutId id="2147483673" r:id="rId5"/>
    <p:sldLayoutId id="2147483650" r:id="rId6"/>
    <p:sldLayoutId id="2147483679" r:id="rId7"/>
    <p:sldLayoutId id="2147483662" r:id="rId8"/>
    <p:sldLayoutId id="2147483693" r:id="rId9"/>
    <p:sldLayoutId id="2147483678" r:id="rId10"/>
    <p:sldLayoutId id="2147483696" r:id="rId11"/>
    <p:sldLayoutId id="2147483692" r:id="rId12"/>
    <p:sldLayoutId id="2147483663" r:id="rId13"/>
    <p:sldLayoutId id="2147483680" r:id="rId14"/>
    <p:sldLayoutId id="2147483664" r:id="rId15"/>
    <p:sldLayoutId id="2147483672" r:id="rId16"/>
    <p:sldLayoutId id="2147483665" r:id="rId17"/>
    <p:sldLayoutId id="2147483666" r:id="rId18"/>
    <p:sldLayoutId id="2147483668" r:id="rId19"/>
    <p:sldLayoutId id="2147483669" r:id="rId20"/>
    <p:sldLayoutId id="2147483671" r:id="rId21"/>
    <p:sldLayoutId id="2147483674" r:id="rId22"/>
    <p:sldLayoutId id="2147483698" r:id="rId23"/>
    <p:sldLayoutId id="2147483675" r:id="rId24"/>
    <p:sldLayoutId id="2147483676" r:id="rId25"/>
    <p:sldLayoutId id="2147483699" r:id="rId26"/>
    <p:sldLayoutId id="2147483700" r:id="rId27"/>
    <p:sldLayoutId id="2147483703" r:id="rId28"/>
    <p:sldLayoutId id="2147483704" r:id="rId29"/>
    <p:sldLayoutId id="2147483705" r:id="rId30"/>
    <p:sldLayoutId id="2147483706" r:id="rId3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9;p42">
            <a:extLst>
              <a:ext uri="{FF2B5EF4-FFF2-40B4-BE49-F238E27FC236}">
                <a16:creationId xmlns:a16="http://schemas.microsoft.com/office/drawing/2014/main" id="{76A33CD2-B87C-63B1-C7D4-14677C948E2F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1083060" y="6356355"/>
            <a:ext cx="103383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4E4CA9A-C7EB-934B-B529-83BE8AE3F4FA}" type="datetime1">
              <a:rPr lang="en-US" smtClean="0"/>
              <a:t>7/23/2026</a:t>
            </a:fld>
            <a:endParaRPr dirty="0"/>
          </a:p>
        </p:txBody>
      </p:sp>
      <p:sp>
        <p:nvSpPr>
          <p:cNvPr id="10" name="Google Shape;200;p42">
            <a:extLst>
              <a:ext uri="{FF2B5EF4-FFF2-40B4-BE49-F238E27FC236}">
                <a16:creationId xmlns:a16="http://schemas.microsoft.com/office/drawing/2014/main" id="{3B95D1B1-E39D-8817-1484-F15FB411C51E}"/>
              </a:ext>
            </a:extLst>
          </p:cNvPr>
          <p:cNvSpPr txBox="1">
            <a:spLocks/>
          </p:cNvSpPr>
          <p:nvPr userDrawn="1"/>
        </p:nvSpPr>
        <p:spPr>
          <a:xfrm>
            <a:off x="608924" y="6356355"/>
            <a:ext cx="474133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6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Google Shape;195;p41">
            <a:extLst>
              <a:ext uri="{FF2B5EF4-FFF2-40B4-BE49-F238E27FC236}">
                <a16:creationId xmlns:a16="http://schemas.microsoft.com/office/drawing/2014/main" id="{F954E24C-883C-A5A3-118E-050B8A6F840C}"/>
              </a:ext>
            </a:extLst>
          </p:cNvPr>
          <p:cNvSpPr txBox="1"/>
          <p:nvPr userDrawn="1"/>
        </p:nvSpPr>
        <p:spPr>
          <a:xfrm>
            <a:off x="8279219" y="6357979"/>
            <a:ext cx="21111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dirty="0"/>
          </a:p>
        </p:txBody>
      </p:sp>
      <p:sp>
        <p:nvSpPr>
          <p:cNvPr id="12" name="Footer Placeholder 21">
            <a:extLst>
              <a:ext uri="{FF2B5EF4-FFF2-40B4-BE49-F238E27FC236}">
                <a16:creationId xmlns:a16="http://schemas.microsoft.com/office/drawing/2014/main" id="{83F2346A-60BE-35BA-C7EE-13AE837A1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54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3" r:id="rId2"/>
    <p:sldLayoutId id="2147483685" r:id="rId3"/>
    <p:sldLayoutId id="2147483689" r:id="rId4"/>
    <p:sldLayoutId id="2147483691" r:id="rId5"/>
    <p:sldLayoutId id="2147483686" r:id="rId6"/>
    <p:sldLayoutId id="2147483687" r:id="rId7"/>
    <p:sldLayoutId id="214748368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1" descr="A purple and black gradien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2666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1"/>
          <p:cNvSpPr txBox="1"/>
          <p:nvPr/>
        </p:nvSpPr>
        <p:spPr>
          <a:xfrm>
            <a:off x="914400" y="2337296"/>
            <a:ext cx="544860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"/>
              <a:buNone/>
            </a:pPr>
            <a:r>
              <a:rPr lang="en-US" sz="5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Meet Identity on Your Terms</a:t>
            </a:r>
            <a:endParaRPr sz="54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1"/>
          <p:cNvSpPr txBox="1"/>
          <p:nvPr/>
        </p:nvSpPr>
        <p:spPr>
          <a:xfrm>
            <a:off x="914400" y="4777184"/>
            <a:ext cx="40796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SemiBold"/>
              <a:buNone/>
            </a:pPr>
            <a:r>
              <a:rPr lang="en-US" sz="2000" b="1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Adstra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Overview</a:t>
            </a:r>
            <a:endParaRPr sz="2000" b="1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637" name="Google Shape;637;p1" descr="A white letter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371600"/>
            <a:ext cx="1357022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"/>
          <p:cNvSpPr/>
          <p:nvPr/>
        </p:nvSpPr>
        <p:spPr>
          <a:xfrm>
            <a:off x="0" y="3582296"/>
            <a:ext cx="12192000" cy="3275700"/>
          </a:xfrm>
          <a:prstGeom prst="rect">
            <a:avLst/>
          </a:prstGeom>
          <a:gradFill>
            <a:gsLst>
              <a:gs pos="0">
                <a:srgbClr val="5B2B99"/>
              </a:gs>
              <a:gs pos="100000">
                <a:srgbClr val="9747FF"/>
              </a:gs>
            </a:gsLst>
            <a:lin ang="162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2"/>
          <p:cNvSpPr txBox="1"/>
          <p:nvPr/>
        </p:nvSpPr>
        <p:spPr>
          <a:xfrm>
            <a:off x="548640" y="460997"/>
            <a:ext cx="53504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1478"/>
              </a:buClr>
              <a:buSzPts val="2800"/>
              <a:buFont typeface="Montserrat"/>
              <a:buNone/>
            </a:pPr>
            <a:r>
              <a:rPr lang="en-US" sz="2800" b="1" dirty="0">
                <a:solidFill>
                  <a:srgbClr val="461478"/>
                </a:solidFill>
                <a:latin typeface="Montserrat"/>
                <a:ea typeface="Montserrat Light"/>
                <a:cs typeface="Montserrat Light"/>
                <a:sym typeface="Montserrat"/>
              </a:rPr>
              <a:t>Who We Are</a:t>
            </a:r>
            <a:endParaRPr sz="2800" b="0" i="0" u="none" strike="noStrike" cap="none" dirty="0">
              <a:solidFill>
                <a:srgbClr val="46147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646" name="Google Shape;646;p2"/>
          <p:cNvGrpSpPr/>
          <p:nvPr/>
        </p:nvGrpSpPr>
        <p:grpSpPr>
          <a:xfrm>
            <a:off x="6096000" y="4122240"/>
            <a:ext cx="4988520" cy="1866708"/>
            <a:chOff x="6546777" y="1038873"/>
            <a:chExt cx="4988520" cy="1866708"/>
          </a:xfrm>
        </p:grpSpPr>
        <p:sp>
          <p:nvSpPr>
            <p:cNvPr id="647" name="Google Shape;647;p2"/>
            <p:cNvSpPr txBox="1"/>
            <p:nvPr/>
          </p:nvSpPr>
          <p:spPr>
            <a:xfrm>
              <a:off x="6991691" y="2172635"/>
              <a:ext cx="966104" cy="326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0800" rIns="0" bIns="508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Montserrat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BRANDS</a:t>
              </a:r>
              <a:endParaRPr/>
            </a:p>
          </p:txBody>
        </p:sp>
        <p:sp>
          <p:nvSpPr>
            <p:cNvPr id="648" name="Google Shape;648;p2"/>
            <p:cNvSpPr txBox="1"/>
            <p:nvPr/>
          </p:nvSpPr>
          <p:spPr>
            <a:xfrm>
              <a:off x="6984603" y="2578850"/>
              <a:ext cx="1175208" cy="326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0800" rIns="0" bIns="508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Montserrat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AGENCIES</a:t>
              </a:r>
              <a:endParaRPr/>
            </a:p>
          </p:txBody>
        </p:sp>
        <p:sp>
          <p:nvSpPr>
            <p:cNvPr id="649" name="Google Shape;649;p2"/>
            <p:cNvSpPr txBox="1"/>
            <p:nvPr/>
          </p:nvSpPr>
          <p:spPr>
            <a:xfrm>
              <a:off x="8749607" y="2172635"/>
              <a:ext cx="1521942" cy="326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0800" rIns="0" bIns="508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Montserrat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PUBLISHERS</a:t>
              </a:r>
              <a:endParaRPr dirty="0"/>
            </a:p>
          </p:txBody>
        </p:sp>
        <p:sp>
          <p:nvSpPr>
            <p:cNvPr id="650" name="Google Shape;650;p2"/>
            <p:cNvSpPr txBox="1"/>
            <p:nvPr/>
          </p:nvSpPr>
          <p:spPr>
            <a:xfrm>
              <a:off x="8749607" y="2578850"/>
              <a:ext cx="1521942" cy="326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0800" rIns="0" bIns="508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Montserrat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 TECH</a:t>
              </a:r>
              <a:endParaRPr/>
            </a:p>
          </p:txBody>
        </p:sp>
        <p:pic>
          <p:nvPicPr>
            <p:cNvPr id="651" name="Google Shape;651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08375" y="2209000"/>
              <a:ext cx="241300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2" name="Google Shape;652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08375" y="2615215"/>
              <a:ext cx="241300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69214" y="2209000"/>
              <a:ext cx="241300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69214" y="2615215"/>
              <a:ext cx="241300" cy="25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2"/>
            <p:cNvSpPr txBox="1"/>
            <p:nvPr/>
          </p:nvSpPr>
          <p:spPr>
            <a:xfrm>
              <a:off x="6546777" y="1347624"/>
              <a:ext cx="4988520" cy="512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entire advertising community – unlocking deeper customer insights and driving measurable growth.</a:t>
              </a:r>
              <a:endParaRPr/>
            </a:p>
          </p:txBody>
        </p:sp>
        <p:sp>
          <p:nvSpPr>
            <p:cNvPr id="656" name="Google Shape;656;p2"/>
            <p:cNvSpPr txBox="1"/>
            <p:nvPr/>
          </p:nvSpPr>
          <p:spPr>
            <a:xfrm>
              <a:off x="6546777" y="1038873"/>
              <a:ext cx="44056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 PROUDLY SUPPORT</a:t>
              </a:r>
              <a:endPara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57" name="Google Shape;657;p2"/>
          <p:cNvSpPr txBox="1"/>
          <p:nvPr/>
        </p:nvSpPr>
        <p:spPr>
          <a:xfrm>
            <a:off x="548640" y="1023456"/>
            <a:ext cx="4892040" cy="1929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Adstra’s preconnected omnichannel identity graph enables clients to recognize and engage customers across all touchpoints with unprecedented precision.</a:t>
            </a:r>
            <a:endParaRPr dirty="0"/>
          </a:p>
          <a:p>
            <a:pPr marL="0" marR="0" lvl="0" indent="0" algn="l" rtl="0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leading provider of </a:t>
            </a:r>
            <a:r>
              <a:rPr lang="en-US" sz="1400" b="1" i="0" u="none" strike="noStrike" cap="none" dirty="0">
                <a:solidFill>
                  <a:srgbClr val="9747FF"/>
                </a:solidFill>
                <a:latin typeface="Montserrat"/>
                <a:ea typeface="Montserrat"/>
                <a:cs typeface="Montserrat"/>
                <a:sym typeface="Montserrat"/>
              </a:rPr>
              <a:t>composable identity solutions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Adstra empowers clients with flexible, scalable options that seamlessly integrate within today’s data ecosystems.</a:t>
            </a:r>
            <a:endParaRPr dirty="0"/>
          </a:p>
        </p:txBody>
      </p:sp>
      <p:grpSp>
        <p:nvGrpSpPr>
          <p:cNvPr id="659" name="Google Shape;659;p2"/>
          <p:cNvGrpSpPr/>
          <p:nvPr/>
        </p:nvGrpSpPr>
        <p:grpSpPr>
          <a:xfrm>
            <a:off x="6099208" y="1248592"/>
            <a:ext cx="5648550" cy="1664025"/>
            <a:chOff x="548639" y="3936420"/>
            <a:chExt cx="5648550" cy="1664025"/>
          </a:xfrm>
        </p:grpSpPr>
        <p:sp>
          <p:nvSpPr>
            <p:cNvPr id="660" name="Google Shape;660;p2"/>
            <p:cNvSpPr/>
            <p:nvPr/>
          </p:nvSpPr>
          <p:spPr>
            <a:xfrm>
              <a:off x="548639" y="3936420"/>
              <a:ext cx="1887575" cy="825758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747FF"/>
                </a:buClr>
                <a:buSzPts val="2500"/>
                <a:buFont typeface="Montserrat"/>
                <a:buNone/>
              </a:pPr>
              <a:r>
                <a:rPr lang="en-US" sz="2000" b="1" i="0" u="none" strike="noStrike" cap="none">
                  <a:solidFill>
                    <a:srgbClr val="9747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40+ Year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History of market leadership in data</a:t>
              </a:r>
              <a:endParaRPr/>
            </a:p>
          </p:txBody>
        </p:sp>
        <p:sp>
          <p:nvSpPr>
            <p:cNvPr id="661" name="Google Shape;661;p2"/>
            <p:cNvSpPr/>
            <p:nvPr/>
          </p:nvSpPr>
          <p:spPr>
            <a:xfrm>
              <a:off x="2429127" y="3936420"/>
              <a:ext cx="1887575" cy="783193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747FF"/>
                </a:buClr>
                <a:buSzPts val="2500"/>
                <a:buFont typeface="Montserrat"/>
                <a:buNone/>
              </a:pPr>
              <a:r>
                <a:rPr lang="en-US" sz="2000" b="1" i="0" u="none" strike="noStrike" cap="none">
                  <a:solidFill>
                    <a:srgbClr val="9747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800+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Clients across wide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range of industries</a:t>
              </a:r>
              <a:endParaRPr/>
            </a:p>
          </p:txBody>
        </p:sp>
        <p:sp>
          <p:nvSpPr>
            <p:cNvPr id="662" name="Google Shape;662;p2"/>
            <p:cNvSpPr/>
            <p:nvPr/>
          </p:nvSpPr>
          <p:spPr>
            <a:xfrm>
              <a:off x="4309614" y="3937606"/>
              <a:ext cx="1887575" cy="783193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747FF"/>
                </a:buClr>
                <a:buSzPts val="2500"/>
                <a:buFont typeface="Montserrat"/>
                <a:buNone/>
              </a:pPr>
              <a:r>
                <a:rPr lang="en-US" sz="2000" b="1" i="0" u="none" strike="noStrike" cap="none">
                  <a:solidFill>
                    <a:srgbClr val="9747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Privacy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security by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design</a:t>
              </a:r>
              <a:endParaRPr/>
            </a:p>
          </p:txBody>
        </p:sp>
        <p:sp>
          <p:nvSpPr>
            <p:cNvPr id="663" name="Google Shape;663;p2"/>
            <p:cNvSpPr/>
            <p:nvPr/>
          </p:nvSpPr>
          <p:spPr>
            <a:xfrm>
              <a:off x="548639" y="4953459"/>
              <a:ext cx="1887575" cy="64698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747FF"/>
                </a:buClr>
                <a:buSzPts val="2500"/>
                <a:buFont typeface="Montserrat"/>
                <a:buNone/>
              </a:pPr>
              <a:r>
                <a:rPr lang="en-US" sz="2000" b="1" i="0" u="none" strike="noStrike" cap="none">
                  <a:solidFill>
                    <a:srgbClr val="9747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175+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Employees</a:t>
              </a:r>
              <a:endParaRPr/>
            </a:p>
          </p:txBody>
        </p:sp>
        <p:sp>
          <p:nvSpPr>
            <p:cNvPr id="664" name="Google Shape;664;p2"/>
            <p:cNvSpPr/>
            <p:nvPr/>
          </p:nvSpPr>
          <p:spPr>
            <a:xfrm>
              <a:off x="2436214" y="4953459"/>
              <a:ext cx="1887575" cy="64698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747FF"/>
                </a:buClr>
                <a:buSzPts val="2500"/>
                <a:buFont typeface="Montserrat"/>
                <a:buNone/>
              </a:pPr>
              <a:r>
                <a:rPr lang="en-US" sz="2000" b="1" i="0" u="none" strike="noStrike" cap="none">
                  <a:solidFill>
                    <a:srgbClr val="9747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46573"/>
                </a:buClr>
                <a:buSzPts val="1313"/>
                <a:buFont typeface="Montserrat"/>
                <a:buNone/>
              </a:pPr>
              <a:r>
                <a:rPr lang="en-US" sz="1050" b="0" i="0" u="none" strike="noStrike" cap="none">
                  <a:solidFill>
                    <a:srgbClr val="54657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Utility patents</a:t>
              </a:r>
              <a:endParaRPr/>
            </a:p>
          </p:txBody>
        </p:sp>
      </p:grpSp>
      <p:pic>
        <p:nvPicPr>
          <p:cNvPr id="4" name="Google Shape;862;p14">
            <a:extLst>
              <a:ext uri="{FF2B5EF4-FFF2-40B4-BE49-F238E27FC236}">
                <a16:creationId xmlns:a16="http://schemas.microsoft.com/office/drawing/2014/main" id="{E1188A36-24B9-509F-63CA-3F6EC80A834A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10789920" y="6400817"/>
            <a:ext cx="914400" cy="247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969;p20">
            <a:extLst>
              <a:ext uri="{FF2B5EF4-FFF2-40B4-BE49-F238E27FC236}">
                <a16:creationId xmlns:a16="http://schemas.microsoft.com/office/drawing/2014/main" id="{1BBC007C-83C9-715C-4BA7-DF47AB452C83}"/>
              </a:ext>
            </a:extLst>
          </p:cNvPr>
          <p:cNvSpPr/>
          <p:nvPr/>
        </p:nvSpPr>
        <p:spPr>
          <a:xfrm>
            <a:off x="548638" y="1078797"/>
            <a:ext cx="11094723" cy="5109352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txBody>
          <a:bodyPr spcFirstLastPara="1" wrap="square" lIns="914400" tIns="0" rIns="45720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F7B4EC-7EC3-6D0A-2C34-F5422516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8" y="-608511"/>
            <a:ext cx="10363200" cy="782320"/>
          </a:xfrm>
        </p:spPr>
        <p:txBody>
          <a:bodyPr lIns="0" tIns="0" rIns="0" bIns="0" anchor="t">
            <a:noAutofit/>
          </a:bodyPr>
          <a:lstStyle/>
          <a:p>
            <a:endParaRPr lang="en-US" sz="2400" dirty="0">
              <a:latin typeface="Montserrat Bold"/>
            </a:endParaRPr>
          </a:p>
          <a:p>
            <a:endParaRPr lang="en-US" sz="2400" dirty="0">
              <a:latin typeface="Montserrat Bold"/>
            </a:endParaRPr>
          </a:p>
        </p:txBody>
      </p:sp>
      <p:sp>
        <p:nvSpPr>
          <p:cNvPr id="10" name="Google Shape;677;p8">
            <a:extLst>
              <a:ext uri="{FF2B5EF4-FFF2-40B4-BE49-F238E27FC236}">
                <a16:creationId xmlns:a16="http://schemas.microsoft.com/office/drawing/2014/main" id="{65858652-E9EC-26ED-F2B1-EF2B6235C0C0}"/>
              </a:ext>
            </a:extLst>
          </p:cNvPr>
          <p:cNvSpPr/>
          <p:nvPr/>
        </p:nvSpPr>
        <p:spPr>
          <a:xfrm>
            <a:off x="1173796" y="1919772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7719E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Conexa Enterprise Identity Platform</a:t>
            </a:r>
            <a:endParaRPr sz="1600" dirty="0">
              <a:solidFill>
                <a:srgbClr val="7719E1"/>
              </a:solidFill>
              <a:latin typeface="Montserrat" pitchFamily="2" charset="77"/>
            </a:endParaRPr>
          </a:p>
        </p:txBody>
      </p:sp>
      <p:sp>
        <p:nvSpPr>
          <p:cNvPr id="11" name="Google Shape;677;p8">
            <a:extLst>
              <a:ext uri="{FF2B5EF4-FFF2-40B4-BE49-F238E27FC236}">
                <a16:creationId xmlns:a16="http://schemas.microsoft.com/office/drawing/2014/main" id="{23194E68-1D32-0AC0-6ADF-4C8169E9B2FE}"/>
              </a:ext>
            </a:extLst>
          </p:cNvPr>
          <p:cNvSpPr/>
          <p:nvPr/>
        </p:nvSpPr>
        <p:spPr>
          <a:xfrm>
            <a:off x="1173797" y="3617604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7719E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Data Attributes</a:t>
            </a:r>
            <a:endParaRPr sz="1600">
              <a:solidFill>
                <a:srgbClr val="7719E1"/>
              </a:solidFill>
              <a:latin typeface="Montserrat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DCE1B2-9C79-941B-A45C-595A291D4599}"/>
              </a:ext>
            </a:extLst>
          </p:cNvPr>
          <p:cNvSpPr txBox="1"/>
          <p:nvPr/>
        </p:nvSpPr>
        <p:spPr>
          <a:xfrm>
            <a:off x="4200332" y="3665923"/>
            <a:ext cx="215441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1200" dirty="0">
                <a:solidFill>
                  <a:srgbClr val="000000"/>
                </a:solidFill>
                <a:latin typeface="Montserrat"/>
                <a:cs typeface="Arial"/>
              </a:rPr>
              <a:t>ENRICH YOUR AUDIENCE PROFILES</a:t>
            </a:r>
          </a:p>
        </p:txBody>
      </p:sp>
      <p:sp>
        <p:nvSpPr>
          <p:cNvPr id="13" name="Google Shape;677;p8">
            <a:extLst>
              <a:ext uri="{FF2B5EF4-FFF2-40B4-BE49-F238E27FC236}">
                <a16:creationId xmlns:a16="http://schemas.microsoft.com/office/drawing/2014/main" id="{A70320FB-0F4E-B557-3EB5-052B6AA89924}"/>
              </a:ext>
            </a:extLst>
          </p:cNvPr>
          <p:cNvSpPr/>
          <p:nvPr/>
        </p:nvSpPr>
        <p:spPr>
          <a:xfrm>
            <a:off x="1173798" y="2751776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>
                <a:solidFill>
                  <a:srgbClr val="7719E1"/>
                </a:solidFill>
                <a:latin typeface="Montserrat"/>
                <a:cs typeface="Arial"/>
                <a:sym typeface="Arial"/>
              </a:rPr>
              <a:t>Premium Audiences</a:t>
            </a:r>
            <a:endParaRPr sz="1600">
              <a:solidFill>
                <a:srgbClr val="7719E1"/>
              </a:solidFill>
              <a:latin typeface="Montserrat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B57304-4900-21DA-716F-0CF4FED48306}"/>
              </a:ext>
            </a:extLst>
          </p:cNvPr>
          <p:cNvSpPr txBox="1"/>
          <p:nvPr/>
        </p:nvSpPr>
        <p:spPr>
          <a:xfrm>
            <a:off x="4183822" y="2851386"/>
            <a:ext cx="2170928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US" sz="1200">
                <a:latin typeface="Montserrat"/>
                <a:cs typeface="Arial"/>
              </a:rPr>
              <a:t>REACH THE AUDIENCES THAT MATTER MOST</a:t>
            </a:r>
          </a:p>
          <a:p>
            <a:pPr defTabSz="825500"/>
            <a:endParaRPr lang="en-US" sz="1200">
              <a:latin typeface="Montserrat"/>
              <a:cs typeface="Arial"/>
            </a:endParaRPr>
          </a:p>
          <a:p>
            <a:pPr defTabSz="825500"/>
            <a:endParaRPr lang="en-US" sz="1200">
              <a:latin typeface="Montserrat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17FE3-CF8F-8834-2CED-0E18138569E3}"/>
              </a:ext>
            </a:extLst>
          </p:cNvPr>
          <p:cNvSpPr txBox="1"/>
          <p:nvPr/>
        </p:nvSpPr>
        <p:spPr>
          <a:xfrm>
            <a:off x="6744413" y="3532548"/>
            <a:ext cx="440503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Comprehensive consumer and business data files providing access to high quality individual data attributes that serve as the foundation of marketing, customer and advertising decisions</a:t>
            </a:r>
            <a:r>
              <a:rPr lang="en-US" sz="1200">
                <a:solidFill>
                  <a:srgbClr val="000000"/>
                </a:solidFill>
                <a:latin typeface="Montserrat" panose="00000500000000000000" pitchFamily="2" charset="0"/>
              </a:rPr>
              <a:t>.</a:t>
            </a:r>
            <a:endParaRPr lang="en-US" sz="1200" b="0" i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>
              <a:buNone/>
            </a:pPr>
            <a:br>
              <a:rPr lang="en-US" sz="1200" b="0" i="0">
                <a:solidFill>
                  <a:srgbClr val="333333"/>
                </a:solidFill>
                <a:effectLst/>
                <a:latin typeface="-apple-system"/>
              </a:rPr>
            </a:br>
            <a:endParaRPr lang="en-US" sz="1200">
              <a:latin typeface="Montserrat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5354A1-D500-D5FC-F686-109C517EF5F6}"/>
              </a:ext>
            </a:extLst>
          </p:cNvPr>
          <p:cNvSpPr txBox="1"/>
          <p:nvPr/>
        </p:nvSpPr>
        <p:spPr>
          <a:xfrm>
            <a:off x="6724908" y="2813790"/>
            <a:ext cx="4121373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1200" b="0" i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Effectively reach your target market through our premium person-based data. </a:t>
            </a:r>
          </a:p>
          <a:p>
            <a:pPr algn="l">
              <a:buNone/>
            </a:pPr>
            <a:endParaRPr lang="en-US" sz="1200">
              <a:latin typeface="Montserrat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945CC-A1DE-A707-3437-5C885B6F41A5}"/>
              </a:ext>
            </a:extLst>
          </p:cNvPr>
          <p:cNvSpPr txBox="1"/>
          <p:nvPr/>
        </p:nvSpPr>
        <p:spPr>
          <a:xfrm>
            <a:off x="6700611" y="1846768"/>
            <a:ext cx="431759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1200" dirty="0">
                <a:latin typeface="Montserrat"/>
                <a:cs typeface="Arial"/>
              </a:rPr>
              <a:t>Composable identity empowers brands with unprecedented ownership and control over their data, providing the flexibility needed to drive growth. </a:t>
            </a:r>
          </a:p>
          <a:p>
            <a:pPr algn="l">
              <a:buNone/>
            </a:pPr>
            <a:endParaRPr lang="en-US" sz="1200" dirty="0">
              <a:latin typeface="Montserrat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77D2FB-A98E-26FD-3CC1-3BC75BFAE222}"/>
              </a:ext>
            </a:extLst>
          </p:cNvPr>
          <p:cNvSpPr txBox="1"/>
          <p:nvPr/>
        </p:nvSpPr>
        <p:spPr>
          <a:xfrm>
            <a:off x="4186751" y="1993140"/>
            <a:ext cx="200792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1200" dirty="0">
                <a:solidFill>
                  <a:srgbClr val="000000"/>
                </a:solidFill>
                <a:latin typeface="Montserrat"/>
                <a:cs typeface="Arial"/>
              </a:rPr>
              <a:t>MEET IDENTITY ON YOUR TERMS</a:t>
            </a:r>
          </a:p>
        </p:txBody>
      </p:sp>
      <p:sp>
        <p:nvSpPr>
          <p:cNvPr id="19" name="Google Shape;677;p8">
            <a:extLst>
              <a:ext uri="{FF2B5EF4-FFF2-40B4-BE49-F238E27FC236}">
                <a16:creationId xmlns:a16="http://schemas.microsoft.com/office/drawing/2014/main" id="{313ABB7F-CC3D-5CAE-248A-CC3B65AD00B2}"/>
              </a:ext>
            </a:extLst>
          </p:cNvPr>
          <p:cNvSpPr/>
          <p:nvPr/>
        </p:nvSpPr>
        <p:spPr>
          <a:xfrm>
            <a:off x="1173117" y="4497427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7719E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Custome</a:t>
            </a:r>
            <a:r>
              <a:rPr lang="en-US" sz="1600" b="1" dirty="0">
                <a:solidFill>
                  <a:srgbClr val="7719E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r </a:t>
            </a:r>
            <a:r>
              <a:rPr lang="en-US" sz="1600" b="1" dirty="0" err="1">
                <a:solidFill>
                  <a:srgbClr val="7719E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Acquistion</a:t>
            </a:r>
            <a:r>
              <a:rPr lang="en-US" sz="1600" b="1" i="0" u="none" strike="noStrike" cap="none" dirty="0">
                <a:solidFill>
                  <a:srgbClr val="7719E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 Marketing Services </a:t>
            </a:r>
            <a:endParaRPr sz="1600" dirty="0">
              <a:solidFill>
                <a:srgbClr val="7719E1"/>
              </a:solidFill>
              <a:latin typeface="Montserrat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0D772-B2C5-99A5-AB38-E8A2E6B349CA}"/>
              </a:ext>
            </a:extLst>
          </p:cNvPr>
          <p:cNvSpPr txBox="1"/>
          <p:nvPr/>
        </p:nvSpPr>
        <p:spPr>
          <a:xfrm>
            <a:off x="4198563" y="4613667"/>
            <a:ext cx="215441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US" sz="1200" dirty="0">
                <a:solidFill>
                  <a:srgbClr val="000000"/>
                </a:solidFill>
                <a:latin typeface="Montserrat"/>
                <a:cs typeface="Arial"/>
              </a:rPr>
              <a:t>DRIVE PERFORMANCE MARKETING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5912B-4B3B-EFED-3093-13D017CC15D2}"/>
              </a:ext>
            </a:extLst>
          </p:cNvPr>
          <p:cNvSpPr txBox="1"/>
          <p:nvPr/>
        </p:nvSpPr>
        <p:spPr>
          <a:xfrm>
            <a:off x="6744413" y="4470352"/>
            <a:ext cx="427378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1200">
                <a:solidFill>
                  <a:srgbClr val="000000"/>
                </a:solidFill>
                <a:latin typeface="Montserrat" panose="00000500000000000000" pitchFamily="2" charset="0"/>
              </a:rPr>
              <a:t>P</a:t>
            </a:r>
            <a:r>
              <a:rPr lang="en-US" sz="1200" b="0" i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erformance marketing expertise to effectively target and reach potential customers with sophisticated audience insights and data-driven strategies.</a:t>
            </a:r>
          </a:p>
          <a:p>
            <a:pPr algn="l">
              <a:buNone/>
            </a:pPr>
            <a:endParaRPr lang="en-US" sz="1200" b="0" i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196935-E663-4217-7294-26EAC46EE6FD}"/>
              </a:ext>
            </a:extLst>
          </p:cNvPr>
          <p:cNvCxnSpPr>
            <a:cxnSpLocks/>
          </p:cNvCxnSpPr>
          <p:nvPr/>
        </p:nvCxnSpPr>
        <p:spPr>
          <a:xfrm>
            <a:off x="1173118" y="2671718"/>
            <a:ext cx="972694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6E0648-158D-B969-BE71-6FBC82E7D938}"/>
              </a:ext>
            </a:extLst>
          </p:cNvPr>
          <p:cNvCxnSpPr>
            <a:cxnSpLocks/>
          </p:cNvCxnSpPr>
          <p:nvPr/>
        </p:nvCxnSpPr>
        <p:spPr>
          <a:xfrm>
            <a:off x="1173118" y="3500011"/>
            <a:ext cx="972694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8B08E7-50C5-B86B-4E0A-C451BFF321CA}"/>
              </a:ext>
            </a:extLst>
          </p:cNvPr>
          <p:cNvCxnSpPr>
            <a:cxnSpLocks/>
          </p:cNvCxnSpPr>
          <p:nvPr/>
        </p:nvCxnSpPr>
        <p:spPr>
          <a:xfrm>
            <a:off x="1173118" y="4378079"/>
            <a:ext cx="972694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Google Shape;971;p20">
            <a:extLst>
              <a:ext uri="{FF2B5EF4-FFF2-40B4-BE49-F238E27FC236}">
                <a16:creationId xmlns:a16="http://schemas.microsoft.com/office/drawing/2014/main" id="{2D7B6586-9A08-CBEF-B58C-48AC2EEB8125}"/>
              </a:ext>
            </a:extLst>
          </p:cNvPr>
          <p:cNvSpPr txBox="1"/>
          <p:nvPr/>
        </p:nvSpPr>
        <p:spPr>
          <a:xfrm>
            <a:off x="548638" y="460997"/>
            <a:ext cx="1005202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rPr>
              <a:t>Adstra Can Support All Your Data and Identity Needs</a:t>
            </a:r>
            <a:endParaRPr sz="2800" b="0" i="0" u="none" strike="noStrike" cap="none" dirty="0">
              <a:solidFill>
                <a:srgbClr val="46147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53714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0938" y="4732171"/>
            <a:ext cx="44547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777" y="473603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215" y="25597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16"/>
          <p:cNvSpPr txBox="1"/>
          <p:nvPr/>
        </p:nvSpPr>
        <p:spPr>
          <a:xfrm>
            <a:off x="548639" y="460997"/>
            <a:ext cx="9372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rPr>
              <a:t>Composable Identity: Your Identity, Your Terms</a:t>
            </a:r>
            <a:endParaRPr sz="2800" b="0" i="0" u="none" strike="noStrike" cap="none">
              <a:solidFill>
                <a:srgbClr val="46147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886" name="Google Shape;886;p16" descr="A purple letter on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89920" y="6400800"/>
            <a:ext cx="914400" cy="2471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7" name="Google Shape;887;p16"/>
          <p:cNvGrpSpPr/>
          <p:nvPr/>
        </p:nvGrpSpPr>
        <p:grpSpPr>
          <a:xfrm>
            <a:off x="1281044" y="2548578"/>
            <a:ext cx="3657600" cy="1666441"/>
            <a:chOff x="7589523" y="1950008"/>
            <a:chExt cx="3657600" cy="1666441"/>
          </a:xfrm>
        </p:grpSpPr>
        <p:sp>
          <p:nvSpPr>
            <p:cNvPr id="888" name="Google Shape;888;p16"/>
            <p:cNvSpPr txBox="1"/>
            <p:nvPr/>
          </p:nvSpPr>
          <p:spPr>
            <a:xfrm>
              <a:off x="7589523" y="2251139"/>
              <a:ext cx="3657600" cy="1365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 from our suite of identity resolution, data onboarding, and privacy components. Our modular approach lets you pay only for what you need while maintaining scalability options.</a:t>
              </a:r>
              <a:endParaRPr/>
            </a:p>
          </p:txBody>
        </p:sp>
        <p:sp>
          <p:nvSpPr>
            <p:cNvPr id="889" name="Google Shape;889;p16"/>
            <p:cNvSpPr txBox="1"/>
            <p:nvPr/>
          </p:nvSpPr>
          <p:spPr>
            <a:xfrm>
              <a:off x="7589523" y="1950008"/>
              <a:ext cx="36576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1478"/>
                </a:buClr>
                <a:buSzPts val="1600"/>
                <a:buFont typeface="Montserrat"/>
                <a:buNone/>
              </a:pPr>
              <a:r>
                <a:rPr lang="en-US" sz="1600" b="1">
                  <a:solidFill>
                    <a:srgbClr val="461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Build Your Ideal Solution</a:t>
              </a:r>
              <a:endParaRPr sz="1600" b="1" u="none" strike="noStrike" cap="none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90" name="Google Shape;890;p16"/>
          <p:cNvSpPr txBox="1"/>
          <p:nvPr/>
        </p:nvSpPr>
        <p:spPr>
          <a:xfrm>
            <a:off x="548639" y="1208516"/>
            <a:ext cx="9144000" cy="53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Adstra enables partners to choose any part of the identity network they want, across any tech stack, and at the level of privacy you need to adhere to – all of it being adaptable as your business evolves.</a:t>
            </a:r>
            <a:endParaRPr/>
          </a:p>
        </p:txBody>
      </p:sp>
      <p:pic>
        <p:nvPicPr>
          <p:cNvPr id="891" name="Google Shape;891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77" y="2535288"/>
            <a:ext cx="45720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2" name="Google Shape;892;p16"/>
          <p:cNvGrpSpPr/>
          <p:nvPr/>
        </p:nvGrpSpPr>
        <p:grpSpPr>
          <a:xfrm>
            <a:off x="7113482" y="2544715"/>
            <a:ext cx="3657600" cy="1204776"/>
            <a:chOff x="7589523" y="1950008"/>
            <a:chExt cx="3657600" cy="1204776"/>
          </a:xfrm>
        </p:grpSpPr>
        <p:sp>
          <p:nvSpPr>
            <p:cNvPr id="893" name="Google Shape;893;p16"/>
            <p:cNvSpPr txBox="1"/>
            <p:nvPr/>
          </p:nvSpPr>
          <p:spPr>
            <a:xfrm>
              <a:off x="7589523" y="2251139"/>
              <a:ext cx="3657600" cy="903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Integrate effortlessly with your existing systems through pre-built connectors and robust APIs. Our implementation team ensures smooth deployment with minimal disruption.</a:t>
              </a:r>
              <a:endParaRPr/>
            </a:p>
          </p:txBody>
        </p:sp>
        <p:sp>
          <p:nvSpPr>
            <p:cNvPr id="894" name="Google Shape;894;p16"/>
            <p:cNvSpPr txBox="1"/>
            <p:nvPr/>
          </p:nvSpPr>
          <p:spPr>
            <a:xfrm>
              <a:off x="7589523" y="1950008"/>
              <a:ext cx="36576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1478"/>
                </a:buClr>
                <a:buSzPts val="1600"/>
                <a:buFont typeface="Montserrat"/>
                <a:buNone/>
              </a:pPr>
              <a:r>
                <a:rPr lang="en-US" sz="1600" b="1">
                  <a:solidFill>
                    <a:srgbClr val="461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Seamless Integration</a:t>
              </a:r>
              <a:endParaRPr sz="1600" b="1" u="none" strike="noStrike" cap="none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95" name="Google Shape;895;p16"/>
          <p:cNvGrpSpPr/>
          <p:nvPr/>
        </p:nvGrpSpPr>
        <p:grpSpPr>
          <a:xfrm>
            <a:off x="1281044" y="4739897"/>
            <a:ext cx="3657600" cy="1204776"/>
            <a:chOff x="7589523" y="1950008"/>
            <a:chExt cx="3657600" cy="1204776"/>
          </a:xfrm>
        </p:grpSpPr>
        <p:sp>
          <p:nvSpPr>
            <p:cNvPr id="896" name="Google Shape;896;p16"/>
            <p:cNvSpPr txBox="1"/>
            <p:nvPr/>
          </p:nvSpPr>
          <p:spPr>
            <a:xfrm>
              <a:off x="7589523" y="2251139"/>
              <a:ext cx="3657600" cy="903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Built-in security and compliance with CCPA, and emerging regulations. End-to-end encryption and granular access controls keep your data protected throughout.</a:t>
              </a:r>
              <a:endParaRPr/>
            </a:p>
          </p:txBody>
        </p:sp>
        <p:sp>
          <p:nvSpPr>
            <p:cNvPr id="897" name="Google Shape;897;p16"/>
            <p:cNvSpPr txBox="1"/>
            <p:nvPr/>
          </p:nvSpPr>
          <p:spPr>
            <a:xfrm>
              <a:off x="7589523" y="1950008"/>
              <a:ext cx="36576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1478"/>
                </a:buClr>
                <a:buSzPts val="1600"/>
                <a:buFont typeface="Montserrat"/>
                <a:buNone/>
              </a:pPr>
              <a:r>
                <a:rPr lang="en-US" sz="1600" b="1" dirty="0">
                  <a:solidFill>
                    <a:srgbClr val="461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Privacy Compliant by Design</a:t>
              </a:r>
              <a:endParaRPr sz="1600" b="1" u="none" strike="noStrike" cap="none" dirty="0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98" name="Google Shape;898;p16"/>
          <p:cNvGrpSpPr/>
          <p:nvPr/>
        </p:nvGrpSpPr>
        <p:grpSpPr>
          <a:xfrm>
            <a:off x="7113482" y="4736034"/>
            <a:ext cx="3657600" cy="1204776"/>
            <a:chOff x="7589523" y="1950008"/>
            <a:chExt cx="3657600" cy="1204776"/>
          </a:xfrm>
        </p:grpSpPr>
        <p:sp>
          <p:nvSpPr>
            <p:cNvPr id="899" name="Google Shape;899;p16"/>
            <p:cNvSpPr txBox="1"/>
            <p:nvPr/>
          </p:nvSpPr>
          <p:spPr>
            <a:xfrm>
              <a:off x="7589523" y="2251139"/>
              <a:ext cx="3657600" cy="903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Scale and modify your identity infrastructure as needed. Our future-proof architecture ensures you can easily adjust capabilities and workflows as your business grows.</a:t>
              </a:r>
              <a:endParaRPr/>
            </a:p>
          </p:txBody>
        </p:sp>
        <p:sp>
          <p:nvSpPr>
            <p:cNvPr id="900" name="Google Shape;900;p16"/>
            <p:cNvSpPr txBox="1"/>
            <p:nvPr/>
          </p:nvSpPr>
          <p:spPr>
            <a:xfrm>
              <a:off x="7589523" y="1950008"/>
              <a:ext cx="365760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1478"/>
                </a:buClr>
                <a:buSzPts val="1600"/>
                <a:buFont typeface="Montserrat"/>
                <a:buNone/>
              </a:pPr>
              <a:r>
                <a:rPr lang="en-US" sz="1600" b="1">
                  <a:solidFill>
                    <a:srgbClr val="46147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Adapt to Evolving Needs</a:t>
              </a:r>
              <a:endParaRPr sz="1600" b="1" u="none" strike="noStrike" cap="none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166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C305-0512-BDF8-A6B0-A88CEA6387A4}"/>
              </a:ext>
            </a:extLst>
          </p:cNvPr>
          <p:cNvSpPr txBox="1">
            <a:spLocks/>
          </p:cNvSpPr>
          <p:nvPr/>
        </p:nvSpPr>
        <p:spPr>
          <a:xfrm>
            <a:off x="800315" y="574877"/>
            <a:ext cx="3329438" cy="3877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461478"/>
              </a:buClr>
              <a:buSzPts val="2800"/>
            </a:pPr>
            <a:r>
              <a:rPr lang="en-US" sz="2800" b="1" dirty="0">
                <a:solidFill>
                  <a:srgbClr val="461478"/>
                </a:solidFill>
                <a:latin typeface="Montserrat"/>
              </a:rPr>
              <a:t>Adstra Audiences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2C855D-BA93-3BDD-F58B-B686DFB1E69D}"/>
              </a:ext>
            </a:extLst>
          </p:cNvPr>
          <p:cNvSpPr txBox="1">
            <a:spLocks/>
          </p:cNvSpPr>
          <p:nvPr/>
        </p:nvSpPr>
        <p:spPr>
          <a:xfrm>
            <a:off x="800315" y="1530748"/>
            <a:ext cx="4283054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50800" rIns="0" bIns="50800" anchor="t">
            <a:spAutoFit/>
          </a:bodyPr>
          <a:lstStyle>
            <a:lvl1pPr marL="0" marR="0" indent="0" algn="l" defTabSz="309548" latinLnBrk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125000"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Neue"/>
              </a:defRPr>
            </a:lvl1pPr>
            <a:lvl2pPr marL="220256" marR="0" indent="-213112" algn="l" defTabSz="309548" latinLnBrk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Neue"/>
              </a:defRPr>
            </a:lvl2pPr>
            <a:lvl3pPr marL="388124" marR="0" indent="-167871" algn="l" defTabSz="309548" latinLnBrk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125000"/>
              <a:buFont typeface="System Font Regular"/>
              <a:buChar char="-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Neue"/>
              </a:defRPr>
            </a:lvl3pPr>
            <a:lvl4pPr marL="952452" marR="0" indent="-238113" algn="l" defTabSz="309548" latinLnBrk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Gotham Rounded"/>
                <a:cs typeface="Arial" panose="020B0604020202020204" pitchFamily="34" charset="0"/>
                <a:sym typeface="Helvetica Neue"/>
              </a:defRPr>
            </a:lvl4pPr>
            <a:lvl5pPr marL="1190565" marR="0" indent="-238113" algn="l" defTabSz="309548" latinLnBrk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Gotham Rounded"/>
                <a:cs typeface="Arial" panose="020B0604020202020204" pitchFamily="34" charset="0"/>
                <a:sym typeface="Helvetica Neue"/>
              </a:defRPr>
            </a:lvl5pPr>
            <a:lvl6pPr marL="1428678" marR="0" indent="-238113" algn="l" defTabSz="309548" latinLnBrk="0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95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66791" marR="0" indent="-238113" algn="l" defTabSz="309548" latinLnBrk="0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95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904906" marR="0" indent="-238113" algn="l" defTabSz="309548" latinLnBrk="0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95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143019" marR="0" indent="-238113" algn="l" defTabSz="309548" latinLnBrk="0">
              <a:lnSpc>
                <a:spcPct val="100000"/>
              </a:lnSpc>
              <a:spcBef>
                <a:spcPts val="2213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95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spcAft>
                <a:spcPts val="700"/>
              </a:spcAft>
              <a:buClr>
                <a:srgbClr val="5C5C5C"/>
              </a:buClr>
            </a:pPr>
            <a:r>
              <a:rPr lang="en-US" sz="1800" b="1" dirty="0">
                <a:solidFill>
                  <a:srgbClr val="56277C"/>
                </a:solidFill>
                <a:latin typeface="Montserrat"/>
                <a:cs typeface="Arial"/>
              </a:rPr>
              <a:t>Leverage targeted audiences through our premium person-based data – designed to deliver accuracy and scale for omnichannel engagement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26C553-30A5-E3A4-D962-85F2E4C9B54E}"/>
              </a:ext>
            </a:extLst>
          </p:cNvPr>
          <p:cNvGrpSpPr/>
          <p:nvPr/>
        </p:nvGrpSpPr>
        <p:grpSpPr>
          <a:xfrm>
            <a:off x="800315" y="3794255"/>
            <a:ext cx="10582161" cy="2132794"/>
            <a:chOff x="800315" y="3794255"/>
            <a:chExt cx="10582161" cy="213279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9295F22-474A-3765-C0B9-49DA791D9839}"/>
                </a:ext>
              </a:extLst>
            </p:cNvPr>
            <p:cNvGrpSpPr/>
            <p:nvPr/>
          </p:nvGrpSpPr>
          <p:grpSpPr>
            <a:xfrm>
              <a:off x="7240898" y="3811132"/>
              <a:ext cx="2011680" cy="966810"/>
              <a:chOff x="6346370" y="1523999"/>
              <a:chExt cx="2286000" cy="9144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DA2D947-D2B7-E31D-814B-87FB5B5338D8}"/>
                  </a:ext>
                </a:extLst>
              </p:cNvPr>
              <p:cNvSpPr/>
              <p:nvPr/>
            </p:nvSpPr>
            <p:spPr>
              <a:xfrm>
                <a:off x="6346370" y="1523999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5CF59E3-22E0-7AE5-479F-57E752D4A20D}"/>
                  </a:ext>
                </a:extLst>
              </p:cNvPr>
              <p:cNvGrpSpPr/>
              <p:nvPr/>
            </p:nvGrpSpPr>
            <p:grpSpPr>
              <a:xfrm>
                <a:off x="6574970" y="1674097"/>
                <a:ext cx="1828800" cy="675852"/>
                <a:chOff x="6469237" y="1659063"/>
                <a:chExt cx="1828800" cy="675852"/>
              </a:xfrm>
            </p:grpSpPr>
            <p:sp>
              <p:nvSpPr>
                <p:cNvPr id="55" name="BUSINESS">
                  <a:extLst>
                    <a:ext uri="{FF2B5EF4-FFF2-40B4-BE49-F238E27FC236}">
                      <a16:creationId xmlns:a16="http://schemas.microsoft.com/office/drawing/2014/main" id="{CC77AEA4-E60F-0987-D263-2C8F9AA7793F}"/>
                    </a:ext>
                  </a:extLst>
                </p:cNvPr>
                <p:cNvSpPr txBox="1"/>
                <p:nvPr/>
              </p:nvSpPr>
              <p:spPr>
                <a:xfrm>
                  <a:off x="6469237" y="1659063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CONSUMER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56" name="Delivers depth and breadth…">
                  <a:extLst>
                    <a:ext uri="{FF2B5EF4-FFF2-40B4-BE49-F238E27FC236}">
                      <a16:creationId xmlns:a16="http://schemas.microsoft.com/office/drawing/2014/main" id="{7F07B0E9-0B12-4853-7CBF-807727C4CEBC}"/>
                    </a:ext>
                  </a:extLst>
                </p:cNvPr>
                <p:cNvSpPr txBox="1"/>
                <p:nvPr/>
              </p:nvSpPr>
              <p:spPr>
                <a:xfrm>
                  <a:off x="6469237" y="1979705"/>
                  <a:ext cx="1828800" cy="3552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1000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360° View of more than 260MM Americans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EAB341-B676-FA68-D5D8-C00950793A09}"/>
                </a:ext>
              </a:extLst>
            </p:cNvPr>
            <p:cNvGrpSpPr/>
            <p:nvPr/>
          </p:nvGrpSpPr>
          <p:grpSpPr>
            <a:xfrm>
              <a:off x="800866" y="3808572"/>
              <a:ext cx="2011680" cy="966810"/>
              <a:chOff x="6346370" y="2549075"/>
              <a:chExt cx="2286000" cy="9144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BA84D3B-074F-D6E9-805A-9E1AEF1665F6}"/>
                  </a:ext>
                </a:extLst>
              </p:cNvPr>
              <p:cNvSpPr/>
              <p:nvPr/>
            </p:nvSpPr>
            <p:spPr>
              <a:xfrm>
                <a:off x="6346370" y="2549075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52F8453-1F0B-A0EB-9B81-0F240114118F}"/>
                  </a:ext>
                </a:extLst>
              </p:cNvPr>
              <p:cNvGrpSpPr/>
              <p:nvPr/>
            </p:nvGrpSpPr>
            <p:grpSpPr>
              <a:xfrm>
                <a:off x="6574970" y="2675546"/>
                <a:ext cx="1828800" cy="666990"/>
                <a:chOff x="6469237" y="2573748"/>
                <a:chExt cx="1828800" cy="666990"/>
              </a:xfrm>
            </p:grpSpPr>
            <p:sp>
              <p:nvSpPr>
                <p:cNvPr id="51" name="BUSINESS">
                  <a:extLst>
                    <a:ext uri="{FF2B5EF4-FFF2-40B4-BE49-F238E27FC236}">
                      <a16:creationId xmlns:a16="http://schemas.microsoft.com/office/drawing/2014/main" id="{1D1BC967-57E3-4AC8-E66A-48B301770FA1}"/>
                    </a:ext>
                  </a:extLst>
                </p:cNvPr>
                <p:cNvSpPr txBox="1"/>
                <p:nvPr/>
              </p:nvSpPr>
              <p:spPr>
                <a:xfrm>
                  <a:off x="6469237" y="2573748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AUTO</a:t>
                  </a:r>
                  <a:r>
                    <a:rPr lang="en-US" sz="1417"/>
                    <a:t>+</a:t>
                  </a:r>
                  <a:endParaRPr sz="1417"/>
                </a:p>
              </p:txBody>
            </p:sp>
            <p:sp>
              <p:nvSpPr>
                <p:cNvPr id="52" name="Delivers depth and breadth…">
                  <a:extLst>
                    <a:ext uri="{FF2B5EF4-FFF2-40B4-BE49-F238E27FC236}">
                      <a16:creationId xmlns:a16="http://schemas.microsoft.com/office/drawing/2014/main" id="{71674C17-B382-9C66-DD36-E634BB1C5EE7}"/>
                    </a:ext>
                  </a:extLst>
                </p:cNvPr>
                <p:cNvSpPr txBox="1"/>
                <p:nvPr/>
              </p:nvSpPr>
              <p:spPr>
                <a:xfrm>
                  <a:off x="6469237" y="2885528"/>
                  <a:ext cx="1828800" cy="3552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1000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Powerful combination of VIN-based  and in-market auto data</a:t>
                  </a: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BB2B1A4-A8B5-E89D-B5CF-49338DDF5155}"/>
                </a:ext>
              </a:extLst>
            </p:cNvPr>
            <p:cNvGrpSpPr/>
            <p:nvPr/>
          </p:nvGrpSpPr>
          <p:grpSpPr>
            <a:xfrm>
              <a:off x="9370796" y="3820854"/>
              <a:ext cx="2011680" cy="966810"/>
              <a:chOff x="6346370" y="3665649"/>
              <a:chExt cx="2286000" cy="91440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2682B04-38F5-096E-552C-6AF931956C83}"/>
                  </a:ext>
                </a:extLst>
              </p:cNvPr>
              <p:cNvSpPr/>
              <p:nvPr/>
            </p:nvSpPr>
            <p:spPr>
              <a:xfrm>
                <a:off x="6346370" y="3665649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A54F867-669F-F9BB-8E58-C1D366533602}"/>
                  </a:ext>
                </a:extLst>
              </p:cNvPr>
              <p:cNvGrpSpPr/>
              <p:nvPr/>
            </p:nvGrpSpPr>
            <p:grpSpPr>
              <a:xfrm>
                <a:off x="6574970" y="3806553"/>
                <a:ext cx="1828800" cy="666553"/>
                <a:chOff x="6469237" y="3501579"/>
                <a:chExt cx="1828800" cy="666553"/>
              </a:xfrm>
            </p:grpSpPr>
            <p:sp>
              <p:nvSpPr>
                <p:cNvPr id="47" name="BUSINESS">
                  <a:extLst>
                    <a:ext uri="{FF2B5EF4-FFF2-40B4-BE49-F238E27FC236}">
                      <a16:creationId xmlns:a16="http://schemas.microsoft.com/office/drawing/2014/main" id="{EFF32315-4E79-E8D3-B2F7-3F09A9F34918}"/>
                    </a:ext>
                  </a:extLst>
                </p:cNvPr>
                <p:cNvSpPr txBox="1"/>
                <p:nvPr/>
              </p:nvSpPr>
              <p:spPr>
                <a:xfrm>
                  <a:off x="6469237" y="3501579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HCP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48" name="Delivers depth and breadth…">
                  <a:extLst>
                    <a:ext uri="{FF2B5EF4-FFF2-40B4-BE49-F238E27FC236}">
                      <a16:creationId xmlns:a16="http://schemas.microsoft.com/office/drawing/2014/main" id="{0A588042-E9D0-9BD8-0AA2-EA32C9B859B4}"/>
                    </a:ext>
                  </a:extLst>
                </p:cNvPr>
                <p:cNvSpPr txBox="1"/>
                <p:nvPr/>
              </p:nvSpPr>
              <p:spPr>
                <a:xfrm>
                  <a:off x="6469237" y="3812923"/>
                  <a:ext cx="1828800" cy="3552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1000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Comprehensive coverage of healthcare providers</a:t>
                  </a: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9661FA6-14FB-0D6F-4C91-7FA8B9C26418}"/>
                </a:ext>
              </a:extLst>
            </p:cNvPr>
            <p:cNvGrpSpPr/>
            <p:nvPr/>
          </p:nvGrpSpPr>
          <p:grpSpPr>
            <a:xfrm>
              <a:off x="5092608" y="4942007"/>
              <a:ext cx="2011680" cy="966810"/>
              <a:chOff x="6346370" y="3683013"/>
              <a:chExt cx="2286000" cy="9144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43E8246-D0C6-97AE-FB6D-1EBC072E1EAE}"/>
                  </a:ext>
                </a:extLst>
              </p:cNvPr>
              <p:cNvSpPr/>
              <p:nvPr/>
            </p:nvSpPr>
            <p:spPr>
              <a:xfrm>
                <a:off x="6346370" y="3683013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DD6859C-82EE-3799-580B-A9F74CE74BE3}"/>
                  </a:ext>
                </a:extLst>
              </p:cNvPr>
              <p:cNvGrpSpPr/>
              <p:nvPr/>
            </p:nvGrpSpPr>
            <p:grpSpPr>
              <a:xfrm>
                <a:off x="6574970" y="3790999"/>
                <a:ext cx="1828800" cy="682107"/>
                <a:chOff x="6469237" y="3486025"/>
                <a:chExt cx="1828800" cy="682107"/>
              </a:xfrm>
            </p:grpSpPr>
            <p:sp>
              <p:nvSpPr>
                <p:cNvPr id="43" name="BUSINESS">
                  <a:extLst>
                    <a:ext uri="{FF2B5EF4-FFF2-40B4-BE49-F238E27FC236}">
                      <a16:creationId xmlns:a16="http://schemas.microsoft.com/office/drawing/2014/main" id="{7234F2E6-0FF7-CDC1-7C60-3748ADCE96FF}"/>
                    </a:ext>
                  </a:extLst>
                </p:cNvPr>
                <p:cNvSpPr txBox="1"/>
                <p:nvPr/>
              </p:nvSpPr>
              <p:spPr>
                <a:xfrm>
                  <a:off x="6469237" y="3486025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POLITICAL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44" name="Delivers depth and breadth…">
                  <a:extLst>
                    <a:ext uri="{FF2B5EF4-FFF2-40B4-BE49-F238E27FC236}">
                      <a16:creationId xmlns:a16="http://schemas.microsoft.com/office/drawing/2014/main" id="{762A5FD6-14C6-D079-D93A-068DBBE287D2}"/>
                    </a:ext>
                  </a:extLst>
                </p:cNvPr>
                <p:cNvSpPr txBox="1"/>
                <p:nvPr/>
              </p:nvSpPr>
              <p:spPr>
                <a:xfrm>
                  <a:off x="6469237" y="3812923"/>
                  <a:ext cx="1828800" cy="3552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1000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Access to 99% of registered voters in the U.S.</a:t>
                  </a:r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0C980E-A94E-5689-E0B3-F453AB73D102}"/>
                </a:ext>
              </a:extLst>
            </p:cNvPr>
            <p:cNvGrpSpPr/>
            <p:nvPr/>
          </p:nvGrpSpPr>
          <p:grpSpPr>
            <a:xfrm>
              <a:off x="9370586" y="4932697"/>
              <a:ext cx="2011680" cy="966810"/>
              <a:chOff x="6346370" y="3683013"/>
              <a:chExt cx="2286000" cy="9144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1DD7C98-DC0B-08BE-95D4-F3267F7DB653}"/>
                  </a:ext>
                </a:extLst>
              </p:cNvPr>
              <p:cNvSpPr/>
              <p:nvPr/>
            </p:nvSpPr>
            <p:spPr>
              <a:xfrm>
                <a:off x="6346370" y="3683013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27FB3304-AAD7-8A4D-5758-FBD05D990E51}"/>
                  </a:ext>
                </a:extLst>
              </p:cNvPr>
              <p:cNvGrpSpPr/>
              <p:nvPr/>
            </p:nvGrpSpPr>
            <p:grpSpPr>
              <a:xfrm>
                <a:off x="6574970" y="3791121"/>
                <a:ext cx="1828800" cy="692871"/>
                <a:chOff x="6469237" y="3486147"/>
                <a:chExt cx="1828800" cy="692871"/>
              </a:xfrm>
            </p:grpSpPr>
            <p:sp>
              <p:nvSpPr>
                <p:cNvPr id="39" name="BUSINESS">
                  <a:extLst>
                    <a:ext uri="{FF2B5EF4-FFF2-40B4-BE49-F238E27FC236}">
                      <a16:creationId xmlns:a16="http://schemas.microsoft.com/office/drawing/2014/main" id="{6265DF4F-5C51-C22D-496E-F6846658C8A7}"/>
                    </a:ext>
                  </a:extLst>
                </p:cNvPr>
                <p:cNvSpPr txBox="1"/>
                <p:nvPr/>
              </p:nvSpPr>
              <p:spPr>
                <a:xfrm>
                  <a:off x="6469237" y="3486147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WEALTH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40" name="Delivers depth and breadth…">
                  <a:extLst>
                    <a:ext uri="{FF2B5EF4-FFF2-40B4-BE49-F238E27FC236}">
                      <a16:creationId xmlns:a16="http://schemas.microsoft.com/office/drawing/2014/main" id="{337B736E-F924-3324-ABE1-12477FD5F66F}"/>
                    </a:ext>
                  </a:extLst>
                </p:cNvPr>
                <p:cNvSpPr txBox="1"/>
                <p:nvPr/>
              </p:nvSpPr>
              <p:spPr>
                <a:xfrm>
                  <a:off x="6469237" y="3823809"/>
                  <a:ext cx="1828800" cy="3552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1000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Top 10% of affluent consumers in the U.S.</a:t>
                  </a:r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C65ECE-8318-1C41-0D90-6CC42C0713F4}"/>
                </a:ext>
              </a:extLst>
            </p:cNvPr>
            <p:cNvGrpSpPr/>
            <p:nvPr/>
          </p:nvGrpSpPr>
          <p:grpSpPr>
            <a:xfrm>
              <a:off x="5095027" y="3794255"/>
              <a:ext cx="2011680" cy="966810"/>
              <a:chOff x="6346370" y="1523999"/>
              <a:chExt cx="2286000" cy="9144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CAD6BB5-7EB4-7922-38EF-F6F30AA3958D}"/>
                  </a:ext>
                </a:extLst>
              </p:cNvPr>
              <p:cNvSpPr/>
              <p:nvPr/>
            </p:nvSpPr>
            <p:spPr>
              <a:xfrm>
                <a:off x="6346370" y="1523999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1E2DE28-A141-9D9C-A810-AA1A90F0EF3C}"/>
                  </a:ext>
                </a:extLst>
              </p:cNvPr>
              <p:cNvGrpSpPr/>
              <p:nvPr/>
            </p:nvGrpSpPr>
            <p:grpSpPr>
              <a:xfrm>
                <a:off x="6574970" y="1664010"/>
                <a:ext cx="1828800" cy="685939"/>
                <a:chOff x="6469237" y="1648976"/>
                <a:chExt cx="1828800" cy="685939"/>
              </a:xfrm>
            </p:grpSpPr>
            <p:sp>
              <p:nvSpPr>
                <p:cNvPr id="35" name="BUSINESS">
                  <a:extLst>
                    <a:ext uri="{FF2B5EF4-FFF2-40B4-BE49-F238E27FC236}">
                      <a16:creationId xmlns:a16="http://schemas.microsoft.com/office/drawing/2014/main" id="{09F77AF6-26BB-43F8-4EC8-85891C75F575}"/>
                    </a:ext>
                  </a:extLst>
                </p:cNvPr>
                <p:cNvSpPr txBox="1"/>
                <p:nvPr/>
              </p:nvSpPr>
              <p:spPr>
                <a:xfrm>
                  <a:off x="6469237" y="1648976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CAREGIVERS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36" name="Delivers depth and breadth…">
                  <a:extLst>
                    <a:ext uri="{FF2B5EF4-FFF2-40B4-BE49-F238E27FC236}">
                      <a16:creationId xmlns:a16="http://schemas.microsoft.com/office/drawing/2014/main" id="{F0A3D42A-D8C8-BF08-AC3A-F5C5D65D5A4D}"/>
                    </a:ext>
                  </a:extLst>
                </p:cNvPr>
                <p:cNvSpPr txBox="1"/>
                <p:nvPr/>
              </p:nvSpPr>
              <p:spPr>
                <a:xfrm>
                  <a:off x="6469237" y="1979705"/>
                  <a:ext cx="1828800" cy="3552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917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Proprietary audience of </a:t>
                  </a:r>
                </a:p>
                <a:p>
                  <a:pPr algn="ctr">
                    <a:lnSpc>
                      <a:spcPts val="917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decision-making familial caregivers</a:t>
                  </a: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1E9B8D4-7F11-694A-E596-722D1F620A73}"/>
                </a:ext>
              </a:extLst>
            </p:cNvPr>
            <p:cNvGrpSpPr/>
            <p:nvPr/>
          </p:nvGrpSpPr>
          <p:grpSpPr>
            <a:xfrm>
              <a:off x="800315" y="4946981"/>
              <a:ext cx="2011680" cy="966810"/>
              <a:chOff x="6346370" y="2549075"/>
              <a:chExt cx="2286000" cy="9144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2C50A65-8EF8-887D-BAE0-DC5D27E7C942}"/>
                  </a:ext>
                </a:extLst>
              </p:cNvPr>
              <p:cNvSpPr/>
              <p:nvPr/>
            </p:nvSpPr>
            <p:spPr>
              <a:xfrm>
                <a:off x="6346370" y="2549075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309988C-402A-7444-3DCB-03B1AF3C339F}"/>
                  </a:ext>
                </a:extLst>
              </p:cNvPr>
              <p:cNvGrpSpPr/>
              <p:nvPr/>
            </p:nvGrpSpPr>
            <p:grpSpPr>
              <a:xfrm>
                <a:off x="6574970" y="2675546"/>
                <a:ext cx="1828800" cy="666990"/>
                <a:chOff x="6469237" y="2573748"/>
                <a:chExt cx="1828800" cy="666990"/>
              </a:xfrm>
            </p:grpSpPr>
            <p:sp>
              <p:nvSpPr>
                <p:cNvPr id="31" name="BUSINESS">
                  <a:extLst>
                    <a:ext uri="{FF2B5EF4-FFF2-40B4-BE49-F238E27FC236}">
                      <a16:creationId xmlns:a16="http://schemas.microsoft.com/office/drawing/2014/main" id="{6D389D7F-8552-8993-03A4-518AEBB08C41}"/>
                    </a:ext>
                  </a:extLst>
                </p:cNvPr>
                <p:cNvSpPr txBox="1"/>
                <p:nvPr/>
              </p:nvSpPr>
              <p:spPr>
                <a:xfrm>
                  <a:off x="6469237" y="2573748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HEALTH</a:t>
                  </a:r>
                  <a:endParaRPr sz="1417"/>
                </a:p>
              </p:txBody>
            </p:sp>
            <p:sp>
              <p:nvSpPr>
                <p:cNvPr id="32" name="Delivers depth and breadth…">
                  <a:extLst>
                    <a:ext uri="{FF2B5EF4-FFF2-40B4-BE49-F238E27FC236}">
                      <a16:creationId xmlns:a16="http://schemas.microsoft.com/office/drawing/2014/main" id="{0C2D69A8-780B-866F-1132-4A44192D16B6}"/>
                    </a:ext>
                  </a:extLst>
                </p:cNvPr>
                <p:cNvSpPr txBox="1"/>
                <p:nvPr/>
              </p:nvSpPr>
              <p:spPr>
                <a:xfrm>
                  <a:off x="6469237" y="2885528"/>
                  <a:ext cx="1828800" cy="35521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917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HIPAA-compliant consumer-level health data</a:t>
                  </a: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9BAF602-98EE-A0F9-70F2-84822B84E4EE}"/>
                </a:ext>
              </a:extLst>
            </p:cNvPr>
            <p:cNvGrpSpPr/>
            <p:nvPr/>
          </p:nvGrpSpPr>
          <p:grpSpPr>
            <a:xfrm>
              <a:off x="2946738" y="4960239"/>
              <a:ext cx="2011680" cy="966810"/>
              <a:chOff x="6346370" y="3683013"/>
              <a:chExt cx="2286000" cy="9144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66C079F-5CE5-9A8D-D1E4-CC2B71C7795C}"/>
                  </a:ext>
                </a:extLst>
              </p:cNvPr>
              <p:cNvSpPr/>
              <p:nvPr/>
            </p:nvSpPr>
            <p:spPr>
              <a:xfrm>
                <a:off x="6346370" y="3683013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9442FE1-68B3-277C-C369-8AE799F9D05D}"/>
                  </a:ext>
                </a:extLst>
              </p:cNvPr>
              <p:cNvGrpSpPr/>
              <p:nvPr/>
            </p:nvGrpSpPr>
            <p:grpSpPr>
              <a:xfrm>
                <a:off x="6574970" y="3791121"/>
                <a:ext cx="1828800" cy="681985"/>
                <a:chOff x="6469237" y="3486147"/>
                <a:chExt cx="1828800" cy="681985"/>
              </a:xfrm>
            </p:grpSpPr>
            <p:sp>
              <p:nvSpPr>
                <p:cNvPr id="27" name="BUSINESS">
                  <a:extLst>
                    <a:ext uri="{FF2B5EF4-FFF2-40B4-BE49-F238E27FC236}">
                      <a16:creationId xmlns:a16="http://schemas.microsoft.com/office/drawing/2014/main" id="{C72B930D-CDCE-31EE-9AD4-488970CFFCD7}"/>
                    </a:ext>
                  </a:extLst>
                </p:cNvPr>
                <p:cNvSpPr txBox="1"/>
                <p:nvPr/>
              </p:nvSpPr>
              <p:spPr>
                <a:xfrm>
                  <a:off x="6469237" y="3486147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ORBITS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28" name="Delivers depth and breadth…">
                  <a:extLst>
                    <a:ext uri="{FF2B5EF4-FFF2-40B4-BE49-F238E27FC236}">
                      <a16:creationId xmlns:a16="http://schemas.microsoft.com/office/drawing/2014/main" id="{712A10CC-AD44-6040-3E7B-220A9DC94DAC}"/>
                    </a:ext>
                  </a:extLst>
                </p:cNvPr>
                <p:cNvSpPr txBox="1"/>
                <p:nvPr/>
              </p:nvSpPr>
              <p:spPr>
                <a:xfrm>
                  <a:off x="6469237" y="3812923"/>
                  <a:ext cx="1828800" cy="3552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917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Intent-powered lifestyle clusters</a:t>
                  </a: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5A170A8-B8BA-9EA5-EE19-BEA1263A6874}"/>
                </a:ext>
              </a:extLst>
            </p:cNvPr>
            <p:cNvGrpSpPr/>
            <p:nvPr/>
          </p:nvGrpSpPr>
          <p:grpSpPr>
            <a:xfrm>
              <a:off x="7241077" y="4938973"/>
              <a:ext cx="2011680" cy="966810"/>
              <a:chOff x="6346370" y="3683013"/>
              <a:chExt cx="2286000" cy="9144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512DE76-A465-1528-1F3E-61B44D2B6DA9}"/>
                  </a:ext>
                </a:extLst>
              </p:cNvPr>
              <p:cNvSpPr/>
              <p:nvPr/>
            </p:nvSpPr>
            <p:spPr>
              <a:xfrm>
                <a:off x="6346370" y="3683013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D9B3099-B5E3-F2A6-139D-450067B9786C}"/>
                  </a:ext>
                </a:extLst>
              </p:cNvPr>
              <p:cNvGrpSpPr/>
              <p:nvPr/>
            </p:nvGrpSpPr>
            <p:grpSpPr>
              <a:xfrm>
                <a:off x="6574970" y="3802551"/>
                <a:ext cx="1828800" cy="670555"/>
                <a:chOff x="6469237" y="3497577"/>
                <a:chExt cx="1828800" cy="670555"/>
              </a:xfrm>
            </p:grpSpPr>
            <p:sp>
              <p:nvSpPr>
                <p:cNvPr id="23" name="BUSINESS">
                  <a:extLst>
                    <a:ext uri="{FF2B5EF4-FFF2-40B4-BE49-F238E27FC236}">
                      <a16:creationId xmlns:a16="http://schemas.microsoft.com/office/drawing/2014/main" id="{03101365-72B8-B111-C8BD-28B2B1EDE3C3}"/>
                    </a:ext>
                  </a:extLst>
                </p:cNvPr>
                <p:cNvSpPr txBox="1"/>
                <p:nvPr/>
              </p:nvSpPr>
              <p:spPr>
                <a:xfrm>
                  <a:off x="6469237" y="3497577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TRAVEL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24" name="Delivers depth and breadth…">
                  <a:extLst>
                    <a:ext uri="{FF2B5EF4-FFF2-40B4-BE49-F238E27FC236}">
                      <a16:creationId xmlns:a16="http://schemas.microsoft.com/office/drawing/2014/main" id="{0535C84F-5B5D-8863-BAF1-C375BC3DE3E3}"/>
                    </a:ext>
                  </a:extLst>
                </p:cNvPr>
                <p:cNvSpPr txBox="1"/>
                <p:nvPr/>
              </p:nvSpPr>
              <p:spPr>
                <a:xfrm>
                  <a:off x="6469237" y="3812923"/>
                  <a:ext cx="1828800" cy="3552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917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Reach consumers in-market to travel</a:t>
                  </a: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E683D8-AF16-A6C8-281C-EA01A75856D3}"/>
                </a:ext>
              </a:extLst>
            </p:cNvPr>
            <p:cNvGrpSpPr/>
            <p:nvPr/>
          </p:nvGrpSpPr>
          <p:grpSpPr>
            <a:xfrm>
              <a:off x="2944289" y="3812649"/>
              <a:ext cx="2011680" cy="966810"/>
              <a:chOff x="6346370" y="3683013"/>
              <a:chExt cx="2286000" cy="9144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35AC79E-9785-BDB7-9523-938BE7502D8C}"/>
                  </a:ext>
                </a:extLst>
              </p:cNvPr>
              <p:cNvSpPr/>
              <p:nvPr/>
            </p:nvSpPr>
            <p:spPr>
              <a:xfrm>
                <a:off x="6346370" y="3683013"/>
                <a:ext cx="2286000" cy="914400"/>
              </a:xfrm>
              <a:prstGeom prst="rect">
                <a:avLst/>
              </a:prstGeom>
              <a:solidFill>
                <a:srgbClr val="ECE3F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2E442B2-104F-C26C-785B-182DF3DDB074}"/>
                  </a:ext>
                </a:extLst>
              </p:cNvPr>
              <p:cNvGrpSpPr/>
              <p:nvPr/>
            </p:nvGrpSpPr>
            <p:grpSpPr>
              <a:xfrm>
                <a:off x="6574970" y="3791121"/>
                <a:ext cx="1828800" cy="692871"/>
                <a:chOff x="6469237" y="3486147"/>
                <a:chExt cx="1828800" cy="692871"/>
              </a:xfrm>
            </p:grpSpPr>
            <p:sp>
              <p:nvSpPr>
                <p:cNvPr id="19" name="BUSINESS">
                  <a:extLst>
                    <a:ext uri="{FF2B5EF4-FFF2-40B4-BE49-F238E27FC236}">
                      <a16:creationId xmlns:a16="http://schemas.microsoft.com/office/drawing/2014/main" id="{3547ED02-73E3-3C66-D783-7E6B6ABCD472}"/>
                    </a:ext>
                  </a:extLst>
                </p:cNvPr>
                <p:cNvSpPr txBox="1"/>
                <p:nvPr/>
              </p:nvSpPr>
              <p:spPr>
                <a:xfrm>
                  <a:off x="6469237" y="3486147"/>
                  <a:ext cx="1828800" cy="330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38099" tIns="38099" rIns="38099" bIns="38099" numCol="1" anchor="ctr">
                  <a:noAutofit/>
                </a:bodyPr>
                <a:lstStyle>
                  <a:lvl1pPr algn="ctr">
                    <a:lnSpc>
                      <a:spcPct val="70000"/>
                    </a:lnSpc>
                    <a:defRPr sz="1700">
                      <a:latin typeface="Montserrat Bold"/>
                      <a:ea typeface="Montserrat Bold"/>
                      <a:cs typeface="Montserrat Bold"/>
                      <a:sym typeface="Montserrat Bold"/>
                    </a:defRPr>
                  </a:lvl1pPr>
                </a:lstStyle>
                <a:p>
                  <a:r>
                    <a:rPr lang="en-US" sz="1417">
                      <a:solidFill>
                        <a:srgbClr val="56277C"/>
                      </a:solidFill>
                    </a:rPr>
                    <a:t>BUSINESS</a:t>
                  </a:r>
                  <a:endParaRPr sz="1417">
                    <a:solidFill>
                      <a:srgbClr val="56277C"/>
                    </a:solidFill>
                  </a:endParaRPr>
                </a:p>
              </p:txBody>
            </p:sp>
            <p:sp>
              <p:nvSpPr>
                <p:cNvPr id="20" name="Delivers depth and breadth…">
                  <a:extLst>
                    <a:ext uri="{FF2B5EF4-FFF2-40B4-BE49-F238E27FC236}">
                      <a16:creationId xmlns:a16="http://schemas.microsoft.com/office/drawing/2014/main" id="{7D375479-5393-DD25-363B-CFD7E5BC2677}"/>
                    </a:ext>
                  </a:extLst>
                </p:cNvPr>
                <p:cNvSpPr txBox="1"/>
                <p:nvPr/>
              </p:nvSpPr>
              <p:spPr>
                <a:xfrm>
                  <a:off x="6469237" y="3823809"/>
                  <a:ext cx="1828800" cy="3552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0" tIns="91440" rIns="0" bIns="91440" numCol="1" anchor="ctr">
                  <a:noAutofit/>
                </a:bodyPr>
                <a:lstStyle/>
                <a:p>
                  <a:pPr algn="ctr">
                    <a:lnSpc>
                      <a:spcPts val="917"/>
                    </a:lnSpc>
                    <a:defRPr sz="1000">
                      <a:latin typeface="Montserrat Regular"/>
                      <a:ea typeface="Montserrat Regular"/>
                      <a:cs typeface="Montserrat Regular"/>
                      <a:sym typeface="Montserrat Regular"/>
                    </a:defRPr>
                  </a:pPr>
                  <a:r>
                    <a:rPr lang="en-US" sz="900"/>
                    <a:t>Delivers depth and breadth across the business landscape</a:t>
                  </a:r>
                </a:p>
              </p:txBody>
            </p:sp>
          </p:grpSp>
        </p:grp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8859861D-07CA-721E-CE34-BC8A8A2633F8}"/>
              </a:ext>
            </a:extLst>
          </p:cNvPr>
          <p:cNvSpPr/>
          <p:nvPr/>
        </p:nvSpPr>
        <p:spPr>
          <a:xfrm>
            <a:off x="5725886" y="1377918"/>
            <a:ext cx="5656799" cy="21390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91440" rIns="0" bIns="91440" numCol="1" spcCol="38100" rtlCol="0" anchor="t">
            <a:spAutoFit/>
          </a:bodyPr>
          <a:lstStyle/>
          <a:p>
            <a:pPr marL="91440" defTabSz="825500" hangingPunct="0">
              <a:lnSpc>
                <a:spcPct val="150000"/>
              </a:lnSpc>
              <a:spcAft>
                <a:spcPts val="600"/>
              </a:spcAft>
            </a:pPr>
            <a:r>
              <a:rPr lang="en-US" b="1" dirty="0">
                <a:solidFill>
                  <a:srgbClr val="56277C"/>
                </a:solidFill>
                <a:latin typeface="Montserrat"/>
                <a:cs typeface="Arial"/>
                <a:sym typeface="Helvetica Neue"/>
              </a:rPr>
              <a:t>Adstra Digital Audiences:</a:t>
            </a:r>
          </a:p>
          <a:p>
            <a:pPr marL="285750" indent="-194310" defTabSz="825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Built with deterministic data based on 1:1 matching</a:t>
            </a:r>
            <a:endParaRPr lang="en-US" dirty="0">
              <a:latin typeface="Montserrat" panose="00000500000000000000" pitchFamily="2" charset="0"/>
            </a:endParaRPr>
          </a:p>
          <a:p>
            <a:pPr marL="285750" indent="-194310" defTabSz="82550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Enhanced with online behavioral data – updated daily</a:t>
            </a:r>
          </a:p>
          <a:p>
            <a:pPr marL="285750" indent="-194310" defTabSz="82550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Custom audience creation at no additional cost</a:t>
            </a:r>
          </a:p>
          <a:p>
            <a:pPr marL="285750" indent="-194310" defTabSz="825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Available anytime, anywhere</a:t>
            </a:r>
          </a:p>
          <a:p>
            <a:pPr marL="285750" indent="-194310" defTabSz="825500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All audiences are CTV eligible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4EAE9A-7C88-924A-FCAD-9A9070E95AFB}"/>
              </a:ext>
            </a:extLst>
          </p:cNvPr>
          <p:cNvSpPr txBox="1"/>
          <p:nvPr/>
        </p:nvSpPr>
        <p:spPr>
          <a:xfrm>
            <a:off x="764229" y="942989"/>
            <a:ext cx="7126717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ontserrat" pitchFamily="2" charset="77"/>
              </a:rPr>
              <a:t>REACH THE AUDIENCES THAT MATTER MOST.</a:t>
            </a:r>
          </a:p>
        </p:txBody>
      </p:sp>
    </p:spTree>
    <p:extLst>
      <p:ext uri="{BB962C8B-B14F-4D97-AF65-F5344CB8AC3E}">
        <p14:creationId xmlns:p14="http://schemas.microsoft.com/office/powerpoint/2010/main" val="119828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F00D2A81-028D-BFC6-6DE1-1CC7E08E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">
            <a:extLst>
              <a:ext uri="{FF2B5EF4-FFF2-40B4-BE49-F238E27FC236}">
                <a16:creationId xmlns:a16="http://schemas.microsoft.com/office/drawing/2014/main" id="{28DCD357-54AA-B15F-D3D4-4D2D254D7A53}"/>
              </a:ext>
            </a:extLst>
          </p:cNvPr>
          <p:cNvSpPr txBox="1"/>
          <p:nvPr/>
        </p:nvSpPr>
        <p:spPr>
          <a:xfrm>
            <a:off x="548640" y="460997"/>
            <a:ext cx="53504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1478"/>
              </a:buClr>
              <a:buSzPts val="2800"/>
              <a:buFont typeface="Montserrat"/>
              <a:buNone/>
            </a:pPr>
            <a:r>
              <a:rPr lang="en-US" sz="2800" b="1" i="0" u="none" strike="noStrike" cap="none" dirty="0">
                <a:solidFill>
                  <a:srgbClr val="461478"/>
                </a:solidFill>
                <a:latin typeface="Montserrat"/>
                <a:ea typeface="Montserrat"/>
                <a:cs typeface="Montserrat"/>
                <a:sym typeface="Montserrat"/>
              </a:rPr>
              <a:t>Adstra Attributes</a:t>
            </a:r>
            <a:endParaRPr sz="2800" b="0" i="0" u="none" strike="noStrike" cap="none" dirty="0">
              <a:solidFill>
                <a:srgbClr val="46147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73" name="Google Shape;673;p3">
            <a:extLst>
              <a:ext uri="{FF2B5EF4-FFF2-40B4-BE49-F238E27FC236}">
                <a16:creationId xmlns:a16="http://schemas.microsoft.com/office/drawing/2014/main" id="{71640DBF-EA88-2778-039F-AE37F2533C17}"/>
              </a:ext>
            </a:extLst>
          </p:cNvPr>
          <p:cNvSpPr txBox="1"/>
          <p:nvPr/>
        </p:nvSpPr>
        <p:spPr>
          <a:xfrm>
            <a:off x="544790" y="1008653"/>
            <a:ext cx="5469149" cy="1232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Comprehensive high quality data attributes serve as the foundation of marketing and advertising decisions. Offered in a flexible and value-based pricing model that allows for portability of data across platforms and media channels.</a:t>
            </a:r>
          </a:p>
        </p:txBody>
      </p:sp>
      <p:pic>
        <p:nvPicPr>
          <p:cNvPr id="678" name="Google Shape;678;p3" descr="A purple letter on a black background&#10;&#10;Description automatically generated">
            <a:extLst>
              <a:ext uri="{FF2B5EF4-FFF2-40B4-BE49-F238E27FC236}">
                <a16:creationId xmlns:a16="http://schemas.microsoft.com/office/drawing/2014/main" id="{845425EF-9881-BC66-9CC6-BCFF6E8944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89920" y="6400800"/>
            <a:ext cx="914400" cy="2471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129B71-33CA-01E1-5E0C-A361C3CA3B58}"/>
              </a:ext>
            </a:extLst>
          </p:cNvPr>
          <p:cNvSpPr/>
          <p:nvPr/>
        </p:nvSpPr>
        <p:spPr>
          <a:xfrm>
            <a:off x="0" y="2725119"/>
            <a:ext cx="6057935" cy="3581701"/>
          </a:xfrm>
          <a:prstGeom prst="rect">
            <a:avLst/>
          </a:prstGeom>
          <a:solidFill>
            <a:srgbClr val="F2F2F2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Google Shape;585;p13">
            <a:extLst>
              <a:ext uri="{FF2B5EF4-FFF2-40B4-BE49-F238E27FC236}">
                <a16:creationId xmlns:a16="http://schemas.microsoft.com/office/drawing/2014/main" id="{D24C17BC-4568-42F0-B116-DC67D278A5A1}"/>
              </a:ext>
            </a:extLst>
          </p:cNvPr>
          <p:cNvSpPr txBox="1"/>
          <p:nvPr/>
        </p:nvSpPr>
        <p:spPr>
          <a:xfrm>
            <a:off x="993364" y="2879008"/>
            <a:ext cx="4572000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spAutoFit/>
          </a:bodyPr>
          <a:lstStyle/>
          <a:p>
            <a:pPr marL="295275" marR="0" lvl="0" indent="-285750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b="1" u="none" strike="noStrike" cap="none" dirty="0">
                <a:latin typeface="Montserrat SemiBold"/>
                <a:ea typeface="Arial"/>
                <a:cs typeface="Arial"/>
                <a:sym typeface="Arial"/>
              </a:rPr>
              <a:t>Contains </a:t>
            </a:r>
            <a:r>
              <a:rPr lang="en-US" sz="1200" b="1" dirty="0">
                <a:latin typeface="Montserrat SemiBold"/>
                <a:ea typeface="Arial"/>
                <a:cs typeface="Arial"/>
                <a:sym typeface="Arial"/>
              </a:rPr>
              <a:t>260MM+</a:t>
            </a:r>
            <a:r>
              <a:rPr lang="en-US" sz="1200" b="1" u="none" strike="noStrike" cap="none" dirty="0">
                <a:latin typeface="Montserrat SemiBold"/>
                <a:ea typeface="Arial"/>
                <a:cs typeface="Arial"/>
                <a:sym typeface="Arial"/>
              </a:rPr>
              <a:t> validated US individuals</a:t>
            </a:r>
            <a:endParaRPr sz="1200" b="1" u="none" strike="noStrike" cap="none" dirty="0">
              <a:latin typeface="Montserrat SemiBold"/>
              <a:ea typeface="Arial"/>
              <a:cs typeface="Arial"/>
              <a:sym typeface="Arial"/>
            </a:endParaRPr>
          </a:p>
          <a:p>
            <a:pPr marL="295275" marR="0" lvl="0" indent="-285750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b="1" u="none" strike="noStrike" cap="none" dirty="0">
                <a:latin typeface="Montserrat SemiBold"/>
                <a:ea typeface="Arial"/>
                <a:cs typeface="Arial"/>
                <a:sym typeface="Arial"/>
              </a:rPr>
              <a:t>Enhance consumer knowledge and fill in gaps in your data</a:t>
            </a:r>
          </a:p>
          <a:p>
            <a:pPr marL="295275" indent="-285750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b="1" u="none" strike="noStrike" cap="none" dirty="0">
                <a:latin typeface="Montserrat SemiBold"/>
                <a:ea typeface="Arial"/>
                <a:cs typeface="Arial"/>
                <a:sym typeface="Arial"/>
              </a:rPr>
              <a:t>Better understand your ideal </a:t>
            </a:r>
            <a:r>
              <a:rPr lang="en-US" sz="1200" b="1" dirty="0">
                <a:latin typeface="Montserrat SemiBold"/>
                <a:ea typeface="Arial"/>
                <a:cs typeface="Arial"/>
                <a:sym typeface="Arial"/>
              </a:rPr>
              <a:t>audience through</a:t>
            </a:r>
            <a:r>
              <a:rPr lang="en-US" sz="1200" b="1" u="none" strike="noStrike" cap="none" dirty="0">
                <a:latin typeface="Montserrat SemiBold"/>
                <a:ea typeface="Arial"/>
                <a:cs typeface="Arial"/>
                <a:sym typeface="Arial"/>
              </a:rPr>
              <a:t> 200+ data elements</a:t>
            </a:r>
          </a:p>
          <a:p>
            <a:pPr marL="295275" marR="0" lvl="0" indent="-285750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b="1" u="none" strike="noStrike" cap="none" dirty="0">
                <a:latin typeface="Montserrat SemiBold"/>
                <a:ea typeface="Arial"/>
                <a:cs typeface="Arial"/>
                <a:sym typeface="Arial"/>
              </a:rPr>
              <a:t>Enable omnichannel marketing:</a:t>
            </a:r>
            <a:endParaRPr lang="en-US" sz="1200" b="1" dirty="0">
              <a:latin typeface="Montserrat SemiBold"/>
              <a:sym typeface="Arial"/>
            </a:endParaRPr>
          </a:p>
          <a:p>
            <a:pPr marL="751840" lvl="1" indent="-285750">
              <a:buClr>
                <a:schemeClr val="dk1"/>
              </a:buClr>
              <a:buSzPct val="125000"/>
              <a:buFont typeface="Courier New" panose="02070309020205020404" pitchFamily="49" charset="0"/>
              <a:buChar char="o"/>
            </a:pPr>
            <a:r>
              <a:rPr lang="en-US" sz="1200" u="none" strike="noStrike" cap="none" dirty="0">
                <a:latin typeface="Montserrat"/>
                <a:ea typeface="Arial"/>
                <a:cs typeface="Arial"/>
                <a:sym typeface="Arial"/>
              </a:rPr>
              <a:t>modeling best audiences</a:t>
            </a:r>
            <a:endParaRPr lang="en-US" sz="1200" dirty="0">
              <a:latin typeface="Montserrat"/>
            </a:endParaRPr>
          </a:p>
          <a:p>
            <a:pPr marL="751840" lvl="1" indent="-285750">
              <a:buClr>
                <a:schemeClr val="dk1"/>
              </a:buClr>
              <a:buSzPct val="125000"/>
              <a:buFont typeface="Courier New" panose="02070309020205020404" pitchFamily="49" charset="0"/>
              <a:buChar char="o"/>
            </a:pPr>
            <a:r>
              <a:rPr lang="en-US" sz="1200" u="none" strike="noStrike" cap="none" dirty="0">
                <a:latin typeface="Montserrat"/>
                <a:ea typeface="Arial"/>
                <a:cs typeface="Arial"/>
                <a:sym typeface="Arial"/>
              </a:rPr>
              <a:t>targeting new and existing customers</a:t>
            </a:r>
            <a:endParaRPr lang="en-US" sz="1200" dirty="0">
              <a:latin typeface="Montserrat"/>
            </a:endParaRPr>
          </a:p>
          <a:p>
            <a:pPr marL="751840" lvl="1" indent="-285750">
              <a:spcAft>
                <a:spcPts val="600"/>
              </a:spcAft>
              <a:buClr>
                <a:schemeClr val="dk1"/>
              </a:buClr>
              <a:buSzPct val="125000"/>
              <a:buFont typeface="Courier New" panose="02070309020205020404" pitchFamily="49" charset="0"/>
              <a:buChar char="o"/>
            </a:pPr>
            <a:r>
              <a:rPr lang="en-US" sz="1200" u="none" strike="noStrike" cap="none" dirty="0">
                <a:latin typeface="Montserrat"/>
                <a:ea typeface="Arial"/>
                <a:cs typeface="Arial"/>
                <a:sym typeface="Arial"/>
              </a:rPr>
              <a:t>campaign measurement/ attribution</a:t>
            </a:r>
            <a:endParaRPr lang="en-US" sz="1200" b="1" u="none" strike="noStrike" dirty="0">
              <a:effectLst/>
              <a:latin typeface="Montserra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effectLst/>
                <a:latin typeface="Montserrat SemiBold"/>
              </a:rPr>
              <a:t>Adstra integrates privacy and compliance requirements in the development of all products</a:t>
            </a:r>
            <a:r>
              <a:rPr lang="en-US" sz="1200" b="1" dirty="0">
                <a:latin typeface="Montserrat SemiBold"/>
              </a:rPr>
              <a:t>.</a:t>
            </a:r>
            <a:endParaRPr lang="en-US" sz="1200" b="1" u="none" strike="noStrike" dirty="0">
              <a:effectLst/>
              <a:latin typeface="Montserrat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270F7-CF1A-9ED8-C0DE-90D5B31611C7}"/>
              </a:ext>
            </a:extLst>
          </p:cNvPr>
          <p:cNvSpPr/>
          <p:nvPr/>
        </p:nvSpPr>
        <p:spPr>
          <a:xfrm>
            <a:off x="6514454" y="600430"/>
            <a:ext cx="5677545" cy="2845103"/>
          </a:xfrm>
          <a:prstGeom prst="rect">
            <a:avLst/>
          </a:prstGeom>
          <a:solidFill>
            <a:srgbClr val="EADBFF">
              <a:alpha val="2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5" name="Picture 2" descr="Woman leaving plane">
            <a:extLst>
              <a:ext uri="{FF2B5EF4-FFF2-40B4-BE49-F238E27FC236}">
                <a16:creationId xmlns:a16="http://schemas.microsoft.com/office/drawing/2014/main" id="{BE8FCE45-5629-91CE-851D-5520BD636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847" y="5578082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Black woman holding LGBTQI+ flag">
            <a:extLst>
              <a:ext uri="{FF2B5EF4-FFF2-40B4-BE49-F238E27FC236}">
                <a16:creationId xmlns:a16="http://schemas.microsoft.com/office/drawing/2014/main" id="{0042C1A9-61D0-ADF8-7695-3E734FD83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352" y="5578082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Happy healthcare professional with patient">
            <a:extLst>
              <a:ext uri="{FF2B5EF4-FFF2-40B4-BE49-F238E27FC236}">
                <a16:creationId xmlns:a16="http://schemas.microsoft.com/office/drawing/2014/main" id="{56FC6BF5-E35B-97B1-363E-CF742C12D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847" y="4777269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Portrait of smiling nurse in scrubs">
            <a:extLst>
              <a:ext uri="{FF2B5EF4-FFF2-40B4-BE49-F238E27FC236}">
                <a16:creationId xmlns:a16="http://schemas.microsoft.com/office/drawing/2014/main" id="{AFE47E8F-3D05-AFA2-691D-C3953E52F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352" y="4777269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Person holding a hand">
            <a:extLst>
              <a:ext uri="{FF2B5EF4-FFF2-40B4-BE49-F238E27FC236}">
                <a16:creationId xmlns:a16="http://schemas.microsoft.com/office/drawing/2014/main" id="{4786609F-860B-87EC-8DC4-83EC0CE35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847" y="399928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Teenage girl driving car">
            <a:extLst>
              <a:ext uri="{FF2B5EF4-FFF2-40B4-BE49-F238E27FC236}">
                <a16:creationId xmlns:a16="http://schemas.microsoft.com/office/drawing/2014/main" id="{1E06FF5E-87DD-9AD1-C9B1-59EBFC24F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352" y="399928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568;p13">
            <a:extLst>
              <a:ext uri="{FF2B5EF4-FFF2-40B4-BE49-F238E27FC236}">
                <a16:creationId xmlns:a16="http://schemas.microsoft.com/office/drawing/2014/main" id="{BB3DE52E-5E92-6AF0-A01D-971A17DDAFE2}"/>
              </a:ext>
            </a:extLst>
          </p:cNvPr>
          <p:cNvSpPr txBox="1"/>
          <p:nvPr/>
        </p:nvSpPr>
        <p:spPr>
          <a:xfrm>
            <a:off x="7170438" y="3999280"/>
            <a:ext cx="106279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Adstra Auto+</a:t>
            </a:r>
            <a:endParaRPr sz="1200" dirty="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12" name="Google Shape;583;p13">
            <a:extLst>
              <a:ext uri="{FF2B5EF4-FFF2-40B4-BE49-F238E27FC236}">
                <a16:creationId xmlns:a16="http://schemas.microsoft.com/office/drawing/2014/main" id="{89D26913-6926-A1E0-FEAD-9C8CEBB8B264}"/>
              </a:ext>
            </a:extLst>
          </p:cNvPr>
          <p:cNvSpPr txBox="1"/>
          <p:nvPr/>
        </p:nvSpPr>
        <p:spPr>
          <a:xfrm>
            <a:off x="7189634" y="4244282"/>
            <a:ext cx="17373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00">
                <a:solidFill>
                  <a:schemeClr val="dk1"/>
                </a:solidFill>
                <a:latin typeface="Montserrat"/>
                <a:cs typeface="Arial"/>
                <a:sym typeface="Arial"/>
              </a:rPr>
              <a:t>Make, Model, Year, Fuel Type, Class/Style, VIN, etc.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13" name="Google Shape;568;p13">
            <a:extLst>
              <a:ext uri="{FF2B5EF4-FFF2-40B4-BE49-F238E27FC236}">
                <a16:creationId xmlns:a16="http://schemas.microsoft.com/office/drawing/2014/main" id="{68B86C2D-4DDD-F4B7-633F-5E94692BF562}"/>
              </a:ext>
            </a:extLst>
          </p:cNvPr>
          <p:cNvSpPr txBox="1"/>
          <p:nvPr/>
        </p:nvSpPr>
        <p:spPr>
          <a:xfrm>
            <a:off x="9598075" y="3999280"/>
            <a:ext cx="143789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Adstra Caregivers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14" name="Google Shape;583;p13">
            <a:extLst>
              <a:ext uri="{FF2B5EF4-FFF2-40B4-BE49-F238E27FC236}">
                <a16:creationId xmlns:a16="http://schemas.microsoft.com/office/drawing/2014/main" id="{7E47F6DC-9BE8-00E1-501B-71A1CA43A145}"/>
              </a:ext>
            </a:extLst>
          </p:cNvPr>
          <p:cNvSpPr txBox="1"/>
          <p:nvPr/>
        </p:nvSpPr>
        <p:spPr>
          <a:xfrm>
            <a:off x="9598075" y="4246479"/>
            <a:ext cx="17373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/>
                <a:ea typeface="Arial"/>
                <a:cs typeface="Arial"/>
              </a:rPr>
              <a:t>Relationship, Ailment, Demographics, etc. </a:t>
            </a:r>
            <a:endParaRPr lang="en-US" sz="1000">
              <a:solidFill>
                <a:schemeClr val="dk1"/>
              </a:solidFill>
              <a:latin typeface="Montserrat" pitchFamily="2" charset="77"/>
              <a:ea typeface="Arial"/>
              <a:cs typeface="Arial"/>
            </a:endParaRPr>
          </a:p>
        </p:txBody>
      </p:sp>
      <p:sp>
        <p:nvSpPr>
          <p:cNvPr id="15" name="Google Shape;568;p13">
            <a:extLst>
              <a:ext uri="{FF2B5EF4-FFF2-40B4-BE49-F238E27FC236}">
                <a16:creationId xmlns:a16="http://schemas.microsoft.com/office/drawing/2014/main" id="{F0EF293F-D68B-5D9F-FC2B-E814540A9F88}"/>
              </a:ext>
            </a:extLst>
          </p:cNvPr>
          <p:cNvSpPr txBox="1"/>
          <p:nvPr/>
        </p:nvSpPr>
        <p:spPr>
          <a:xfrm>
            <a:off x="7189634" y="4777269"/>
            <a:ext cx="92653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Adstra HCP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16" name="Google Shape;583;p13">
            <a:extLst>
              <a:ext uri="{FF2B5EF4-FFF2-40B4-BE49-F238E27FC236}">
                <a16:creationId xmlns:a16="http://schemas.microsoft.com/office/drawing/2014/main" id="{0E108B86-3E89-48D2-1A50-5E653A38EAE1}"/>
              </a:ext>
            </a:extLst>
          </p:cNvPr>
          <p:cNvSpPr txBox="1"/>
          <p:nvPr/>
        </p:nvSpPr>
        <p:spPr>
          <a:xfrm>
            <a:off x="7189634" y="5024468"/>
            <a:ext cx="17373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/>
                <a:ea typeface="Arial"/>
                <a:cs typeface="Arial"/>
              </a:rPr>
              <a:t>MDs, Nurses, Dentists, Allied Healthcare Practitioners, etc.</a:t>
            </a:r>
          </a:p>
          <a:p>
            <a:pPr>
              <a:buSzPts val="1200"/>
            </a:pPr>
            <a:endParaRPr lang="en-US" sz="1000">
              <a:solidFill>
                <a:schemeClr val="dk1"/>
              </a:solidFill>
              <a:latin typeface="Montserrat" pitchFamily="2" charset="77"/>
              <a:ea typeface="Arial"/>
              <a:cs typeface="Arial"/>
            </a:endParaRPr>
          </a:p>
        </p:txBody>
      </p:sp>
      <p:sp>
        <p:nvSpPr>
          <p:cNvPr id="17" name="Google Shape;568;p13">
            <a:extLst>
              <a:ext uri="{FF2B5EF4-FFF2-40B4-BE49-F238E27FC236}">
                <a16:creationId xmlns:a16="http://schemas.microsoft.com/office/drawing/2014/main" id="{EB225E44-8983-F2F7-F19D-1A40E266C640}"/>
              </a:ext>
            </a:extLst>
          </p:cNvPr>
          <p:cNvSpPr txBox="1"/>
          <p:nvPr/>
        </p:nvSpPr>
        <p:spPr>
          <a:xfrm>
            <a:off x="7189634" y="5578082"/>
            <a:ext cx="122950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Adstra Political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18" name="Google Shape;583;p13">
            <a:extLst>
              <a:ext uri="{FF2B5EF4-FFF2-40B4-BE49-F238E27FC236}">
                <a16:creationId xmlns:a16="http://schemas.microsoft.com/office/drawing/2014/main" id="{BC2C292D-9E07-75F2-17C7-E0231D6918CE}"/>
              </a:ext>
            </a:extLst>
          </p:cNvPr>
          <p:cNvSpPr txBox="1"/>
          <p:nvPr/>
        </p:nvSpPr>
        <p:spPr>
          <a:xfrm>
            <a:off x="7189634" y="5825281"/>
            <a:ext cx="17373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/>
                <a:ea typeface="Arial"/>
                <a:cs typeface="Arial"/>
                <a:sym typeface="Arial"/>
              </a:rPr>
              <a:t>Affiliation, Voting History, Issue/Cause Support, etc.</a:t>
            </a:r>
            <a:endParaRPr lang="en-US" sz="1000">
              <a:solidFill>
                <a:schemeClr val="dk1"/>
              </a:solidFill>
              <a:latin typeface="Montserrat" pitchFamily="2" charset="77"/>
              <a:ea typeface="Arial"/>
              <a:cs typeface="Arial"/>
            </a:endParaRPr>
          </a:p>
        </p:txBody>
      </p:sp>
      <p:sp>
        <p:nvSpPr>
          <p:cNvPr id="19" name="Google Shape;568;p13">
            <a:extLst>
              <a:ext uri="{FF2B5EF4-FFF2-40B4-BE49-F238E27FC236}">
                <a16:creationId xmlns:a16="http://schemas.microsoft.com/office/drawing/2014/main" id="{6453EDF2-D04D-1198-AA62-1529061B673B}"/>
              </a:ext>
            </a:extLst>
          </p:cNvPr>
          <p:cNvSpPr txBox="1"/>
          <p:nvPr/>
        </p:nvSpPr>
        <p:spPr>
          <a:xfrm>
            <a:off x="9598075" y="4777269"/>
            <a:ext cx="111408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Adstra Health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20" name="Google Shape;583;p13">
            <a:extLst>
              <a:ext uri="{FF2B5EF4-FFF2-40B4-BE49-F238E27FC236}">
                <a16:creationId xmlns:a16="http://schemas.microsoft.com/office/drawing/2014/main" id="{6972495B-4000-3E6C-913A-34CBB550E418}"/>
              </a:ext>
            </a:extLst>
          </p:cNvPr>
          <p:cNvSpPr txBox="1"/>
          <p:nvPr/>
        </p:nvSpPr>
        <p:spPr>
          <a:xfrm>
            <a:off x="9598075" y="5024468"/>
            <a:ext cx="17373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/>
                <a:ea typeface="Arial"/>
                <a:cs typeface="Arial"/>
                <a:sym typeface="Arial"/>
              </a:rPr>
              <a:t>Health Lifestyle, Ailment, Prevention, Therapy, etc.</a:t>
            </a:r>
            <a:endParaRPr lang="en-US" sz="1000">
              <a:solidFill>
                <a:schemeClr val="dk1"/>
              </a:solidFill>
              <a:latin typeface="Montserrat" pitchFamily="2" charset="77"/>
              <a:ea typeface="Arial"/>
              <a:cs typeface="Arial"/>
            </a:endParaRPr>
          </a:p>
        </p:txBody>
      </p:sp>
      <p:sp>
        <p:nvSpPr>
          <p:cNvPr id="21" name="Google Shape;568;p13">
            <a:extLst>
              <a:ext uri="{FF2B5EF4-FFF2-40B4-BE49-F238E27FC236}">
                <a16:creationId xmlns:a16="http://schemas.microsoft.com/office/drawing/2014/main" id="{10291F44-B794-6451-EFEC-BFB021127FBA}"/>
              </a:ext>
            </a:extLst>
          </p:cNvPr>
          <p:cNvSpPr txBox="1"/>
          <p:nvPr/>
        </p:nvSpPr>
        <p:spPr>
          <a:xfrm>
            <a:off x="9598075" y="5578082"/>
            <a:ext cx="11685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Adstra Wealth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22" name="Google Shape;583;p13">
            <a:extLst>
              <a:ext uri="{FF2B5EF4-FFF2-40B4-BE49-F238E27FC236}">
                <a16:creationId xmlns:a16="http://schemas.microsoft.com/office/drawing/2014/main" id="{FD053B7A-5D7A-BF99-F28C-4285361E55B1}"/>
              </a:ext>
            </a:extLst>
          </p:cNvPr>
          <p:cNvSpPr txBox="1"/>
          <p:nvPr/>
        </p:nvSpPr>
        <p:spPr>
          <a:xfrm>
            <a:off x="9598075" y="5825281"/>
            <a:ext cx="17373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/>
                <a:ea typeface="Arial"/>
                <a:cs typeface="Arial"/>
              </a:rPr>
              <a:t>Net Worth, Income, Investments, Lifestyle, etc.</a:t>
            </a:r>
            <a:endParaRPr lang="en-US" sz="1000">
              <a:solidFill>
                <a:schemeClr val="dk1"/>
              </a:solidFill>
              <a:latin typeface="Montserrat" pitchFamily="2" charset="77"/>
              <a:ea typeface="Arial"/>
              <a:cs typeface="Arial"/>
            </a:endParaRPr>
          </a:p>
        </p:txBody>
      </p:sp>
      <p:sp>
        <p:nvSpPr>
          <p:cNvPr id="23" name="Google Shape;568;p13">
            <a:extLst>
              <a:ext uri="{FF2B5EF4-FFF2-40B4-BE49-F238E27FC236}">
                <a16:creationId xmlns:a16="http://schemas.microsoft.com/office/drawing/2014/main" id="{47A265CE-EF12-5B88-CADC-77770C0C291C}"/>
              </a:ext>
            </a:extLst>
          </p:cNvPr>
          <p:cNvSpPr txBox="1"/>
          <p:nvPr/>
        </p:nvSpPr>
        <p:spPr>
          <a:xfrm>
            <a:off x="7151162" y="1020312"/>
            <a:ext cx="79829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Individual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grpSp>
        <p:nvGrpSpPr>
          <p:cNvPr id="24" name="Google Shape;569;p13">
            <a:extLst>
              <a:ext uri="{FF2B5EF4-FFF2-40B4-BE49-F238E27FC236}">
                <a16:creationId xmlns:a16="http://schemas.microsoft.com/office/drawing/2014/main" id="{4C145ABA-A93F-6786-7F18-4E1D2712311E}"/>
              </a:ext>
            </a:extLst>
          </p:cNvPr>
          <p:cNvGrpSpPr>
            <a:grpSpLocks noChangeAspect="1"/>
          </p:cNvGrpSpPr>
          <p:nvPr/>
        </p:nvGrpSpPr>
        <p:grpSpPr>
          <a:xfrm>
            <a:off x="6714072" y="1050486"/>
            <a:ext cx="274320" cy="266117"/>
            <a:chOff x="415925" y="3217863"/>
            <a:chExt cx="436563" cy="412750"/>
          </a:xfrm>
        </p:grpSpPr>
        <p:sp>
          <p:nvSpPr>
            <p:cNvPr id="25" name="Google Shape;570;p13">
              <a:extLst>
                <a:ext uri="{FF2B5EF4-FFF2-40B4-BE49-F238E27FC236}">
                  <a16:creationId xmlns:a16="http://schemas.microsoft.com/office/drawing/2014/main" id="{690EF00E-4527-1601-6E45-9CE5045148C8}"/>
                </a:ext>
              </a:extLst>
            </p:cNvPr>
            <p:cNvSpPr/>
            <p:nvPr/>
          </p:nvSpPr>
          <p:spPr>
            <a:xfrm>
              <a:off x="517525" y="3217863"/>
              <a:ext cx="233363" cy="231775"/>
            </a:xfrm>
            <a:custGeom>
              <a:avLst/>
              <a:gdLst/>
              <a:ahLst/>
              <a:cxnLst/>
              <a:rect l="l" t="t" r="r" b="b"/>
              <a:pathLst>
                <a:path w="1768" h="1756" extrusionOk="0">
                  <a:moveTo>
                    <a:pt x="884" y="229"/>
                  </a:moveTo>
                  <a:lnTo>
                    <a:pt x="821" y="232"/>
                  </a:lnTo>
                  <a:lnTo>
                    <a:pt x="761" y="241"/>
                  </a:lnTo>
                  <a:lnTo>
                    <a:pt x="702" y="255"/>
                  </a:lnTo>
                  <a:lnTo>
                    <a:pt x="645" y="274"/>
                  </a:lnTo>
                  <a:lnTo>
                    <a:pt x="591" y="299"/>
                  </a:lnTo>
                  <a:lnTo>
                    <a:pt x="539" y="328"/>
                  </a:lnTo>
                  <a:lnTo>
                    <a:pt x="491" y="361"/>
                  </a:lnTo>
                  <a:lnTo>
                    <a:pt x="446" y="399"/>
                  </a:lnTo>
                  <a:lnTo>
                    <a:pt x="403" y="440"/>
                  </a:lnTo>
                  <a:lnTo>
                    <a:pt x="366" y="485"/>
                  </a:lnTo>
                  <a:lnTo>
                    <a:pt x="332" y="534"/>
                  </a:lnTo>
                  <a:lnTo>
                    <a:pt x="303" y="585"/>
                  </a:lnTo>
                  <a:lnTo>
                    <a:pt x="279" y="639"/>
                  </a:lnTo>
                  <a:lnTo>
                    <a:pt x="259" y="696"/>
                  </a:lnTo>
                  <a:lnTo>
                    <a:pt x="244" y="754"/>
                  </a:lnTo>
                  <a:lnTo>
                    <a:pt x="236" y="815"/>
                  </a:lnTo>
                  <a:lnTo>
                    <a:pt x="233" y="877"/>
                  </a:lnTo>
                  <a:lnTo>
                    <a:pt x="236" y="939"/>
                  </a:lnTo>
                  <a:lnTo>
                    <a:pt x="244" y="999"/>
                  </a:lnTo>
                  <a:lnTo>
                    <a:pt x="259" y="1058"/>
                  </a:lnTo>
                  <a:lnTo>
                    <a:pt x="279" y="1114"/>
                  </a:lnTo>
                  <a:lnTo>
                    <a:pt x="303" y="1168"/>
                  </a:lnTo>
                  <a:lnTo>
                    <a:pt x="332" y="1219"/>
                  </a:lnTo>
                  <a:lnTo>
                    <a:pt x="366" y="1267"/>
                  </a:lnTo>
                  <a:lnTo>
                    <a:pt x="403" y="1312"/>
                  </a:lnTo>
                  <a:lnTo>
                    <a:pt x="446" y="1353"/>
                  </a:lnTo>
                  <a:lnTo>
                    <a:pt x="491" y="1391"/>
                  </a:lnTo>
                  <a:lnTo>
                    <a:pt x="539" y="1424"/>
                  </a:lnTo>
                  <a:lnTo>
                    <a:pt x="591" y="1453"/>
                  </a:lnTo>
                  <a:lnTo>
                    <a:pt x="645" y="1478"/>
                  </a:lnTo>
                  <a:lnTo>
                    <a:pt x="702" y="1497"/>
                  </a:lnTo>
                  <a:lnTo>
                    <a:pt x="761" y="1511"/>
                  </a:lnTo>
                  <a:lnTo>
                    <a:pt x="821" y="1520"/>
                  </a:lnTo>
                  <a:lnTo>
                    <a:pt x="884" y="1523"/>
                  </a:lnTo>
                  <a:lnTo>
                    <a:pt x="946" y="1520"/>
                  </a:lnTo>
                  <a:lnTo>
                    <a:pt x="1008" y="1511"/>
                  </a:lnTo>
                  <a:lnTo>
                    <a:pt x="1066" y="1497"/>
                  </a:lnTo>
                  <a:lnTo>
                    <a:pt x="1124" y="1478"/>
                  </a:lnTo>
                  <a:lnTo>
                    <a:pt x="1177" y="1453"/>
                  </a:lnTo>
                  <a:lnTo>
                    <a:pt x="1229" y="1424"/>
                  </a:lnTo>
                  <a:lnTo>
                    <a:pt x="1278" y="1391"/>
                  </a:lnTo>
                  <a:lnTo>
                    <a:pt x="1323" y="1353"/>
                  </a:lnTo>
                  <a:lnTo>
                    <a:pt x="1364" y="1312"/>
                  </a:lnTo>
                  <a:lnTo>
                    <a:pt x="1403" y="1267"/>
                  </a:lnTo>
                  <a:lnTo>
                    <a:pt x="1436" y="1219"/>
                  </a:lnTo>
                  <a:lnTo>
                    <a:pt x="1465" y="1168"/>
                  </a:lnTo>
                  <a:lnTo>
                    <a:pt x="1489" y="1114"/>
                  </a:lnTo>
                  <a:lnTo>
                    <a:pt x="1509" y="1058"/>
                  </a:lnTo>
                  <a:lnTo>
                    <a:pt x="1524" y="999"/>
                  </a:lnTo>
                  <a:lnTo>
                    <a:pt x="1533" y="939"/>
                  </a:lnTo>
                  <a:lnTo>
                    <a:pt x="1536" y="877"/>
                  </a:lnTo>
                  <a:lnTo>
                    <a:pt x="1533" y="815"/>
                  </a:lnTo>
                  <a:lnTo>
                    <a:pt x="1524" y="754"/>
                  </a:lnTo>
                  <a:lnTo>
                    <a:pt x="1509" y="696"/>
                  </a:lnTo>
                  <a:lnTo>
                    <a:pt x="1489" y="639"/>
                  </a:lnTo>
                  <a:lnTo>
                    <a:pt x="1465" y="585"/>
                  </a:lnTo>
                  <a:lnTo>
                    <a:pt x="1436" y="534"/>
                  </a:lnTo>
                  <a:lnTo>
                    <a:pt x="1403" y="485"/>
                  </a:lnTo>
                  <a:lnTo>
                    <a:pt x="1364" y="440"/>
                  </a:lnTo>
                  <a:lnTo>
                    <a:pt x="1323" y="399"/>
                  </a:lnTo>
                  <a:lnTo>
                    <a:pt x="1278" y="361"/>
                  </a:lnTo>
                  <a:lnTo>
                    <a:pt x="1229" y="328"/>
                  </a:lnTo>
                  <a:lnTo>
                    <a:pt x="1177" y="299"/>
                  </a:lnTo>
                  <a:lnTo>
                    <a:pt x="1124" y="274"/>
                  </a:lnTo>
                  <a:lnTo>
                    <a:pt x="1066" y="255"/>
                  </a:lnTo>
                  <a:lnTo>
                    <a:pt x="1008" y="241"/>
                  </a:lnTo>
                  <a:lnTo>
                    <a:pt x="946" y="232"/>
                  </a:lnTo>
                  <a:lnTo>
                    <a:pt x="884" y="229"/>
                  </a:lnTo>
                  <a:close/>
                  <a:moveTo>
                    <a:pt x="884" y="0"/>
                  </a:moveTo>
                  <a:lnTo>
                    <a:pt x="956" y="3"/>
                  </a:lnTo>
                  <a:lnTo>
                    <a:pt x="1028" y="12"/>
                  </a:lnTo>
                  <a:lnTo>
                    <a:pt x="1096" y="25"/>
                  </a:lnTo>
                  <a:lnTo>
                    <a:pt x="1164" y="45"/>
                  </a:lnTo>
                  <a:lnTo>
                    <a:pt x="1228" y="69"/>
                  </a:lnTo>
                  <a:lnTo>
                    <a:pt x="1291" y="98"/>
                  </a:lnTo>
                  <a:lnTo>
                    <a:pt x="1350" y="131"/>
                  </a:lnTo>
                  <a:lnTo>
                    <a:pt x="1407" y="169"/>
                  </a:lnTo>
                  <a:lnTo>
                    <a:pt x="1460" y="210"/>
                  </a:lnTo>
                  <a:lnTo>
                    <a:pt x="1509" y="256"/>
                  </a:lnTo>
                  <a:lnTo>
                    <a:pt x="1556" y="305"/>
                  </a:lnTo>
                  <a:lnTo>
                    <a:pt x="1598" y="358"/>
                  </a:lnTo>
                  <a:lnTo>
                    <a:pt x="1636" y="414"/>
                  </a:lnTo>
                  <a:lnTo>
                    <a:pt x="1670" y="473"/>
                  </a:lnTo>
                  <a:lnTo>
                    <a:pt x="1699" y="535"/>
                  </a:lnTo>
                  <a:lnTo>
                    <a:pt x="1724" y="599"/>
                  </a:lnTo>
                  <a:lnTo>
                    <a:pt x="1743" y="666"/>
                  </a:lnTo>
                  <a:lnTo>
                    <a:pt x="1757" y="734"/>
                  </a:lnTo>
                  <a:lnTo>
                    <a:pt x="1766" y="805"/>
                  </a:lnTo>
                  <a:lnTo>
                    <a:pt x="1768" y="877"/>
                  </a:lnTo>
                  <a:lnTo>
                    <a:pt x="1766" y="949"/>
                  </a:lnTo>
                  <a:lnTo>
                    <a:pt x="1757" y="1019"/>
                  </a:lnTo>
                  <a:lnTo>
                    <a:pt x="1743" y="1088"/>
                  </a:lnTo>
                  <a:lnTo>
                    <a:pt x="1724" y="1154"/>
                  </a:lnTo>
                  <a:lnTo>
                    <a:pt x="1699" y="1218"/>
                  </a:lnTo>
                  <a:lnTo>
                    <a:pt x="1670" y="1280"/>
                  </a:lnTo>
                  <a:lnTo>
                    <a:pt x="1636" y="1339"/>
                  </a:lnTo>
                  <a:lnTo>
                    <a:pt x="1598" y="1395"/>
                  </a:lnTo>
                  <a:lnTo>
                    <a:pt x="1556" y="1448"/>
                  </a:lnTo>
                  <a:lnTo>
                    <a:pt x="1509" y="1497"/>
                  </a:lnTo>
                  <a:lnTo>
                    <a:pt x="1460" y="1543"/>
                  </a:lnTo>
                  <a:lnTo>
                    <a:pt x="1407" y="1586"/>
                  </a:lnTo>
                  <a:lnTo>
                    <a:pt x="1350" y="1624"/>
                  </a:lnTo>
                  <a:lnTo>
                    <a:pt x="1291" y="1658"/>
                  </a:lnTo>
                  <a:lnTo>
                    <a:pt x="1228" y="1687"/>
                  </a:lnTo>
                  <a:lnTo>
                    <a:pt x="1164" y="1711"/>
                  </a:lnTo>
                  <a:lnTo>
                    <a:pt x="1096" y="1730"/>
                  </a:lnTo>
                  <a:lnTo>
                    <a:pt x="1028" y="1744"/>
                  </a:lnTo>
                  <a:lnTo>
                    <a:pt x="956" y="1753"/>
                  </a:lnTo>
                  <a:lnTo>
                    <a:pt x="884" y="1756"/>
                  </a:lnTo>
                  <a:lnTo>
                    <a:pt x="811" y="1753"/>
                  </a:lnTo>
                  <a:lnTo>
                    <a:pt x="741" y="1744"/>
                  </a:lnTo>
                  <a:lnTo>
                    <a:pt x="671" y="1730"/>
                  </a:lnTo>
                  <a:lnTo>
                    <a:pt x="605" y="1711"/>
                  </a:lnTo>
                  <a:lnTo>
                    <a:pt x="539" y="1686"/>
                  </a:lnTo>
                  <a:lnTo>
                    <a:pt x="478" y="1657"/>
                  </a:lnTo>
                  <a:lnTo>
                    <a:pt x="419" y="1624"/>
                  </a:lnTo>
                  <a:lnTo>
                    <a:pt x="362" y="1585"/>
                  </a:lnTo>
                  <a:lnTo>
                    <a:pt x="309" y="1542"/>
                  </a:lnTo>
                  <a:lnTo>
                    <a:pt x="258" y="1496"/>
                  </a:lnTo>
                  <a:lnTo>
                    <a:pt x="212" y="1447"/>
                  </a:lnTo>
                  <a:lnTo>
                    <a:pt x="170" y="1394"/>
                  </a:lnTo>
                  <a:lnTo>
                    <a:pt x="132" y="1338"/>
                  </a:lnTo>
                  <a:lnTo>
                    <a:pt x="98" y="1279"/>
                  </a:lnTo>
                  <a:lnTo>
                    <a:pt x="69" y="1217"/>
                  </a:lnTo>
                  <a:lnTo>
                    <a:pt x="45" y="1153"/>
                  </a:lnTo>
                  <a:lnTo>
                    <a:pt x="26" y="1087"/>
                  </a:lnTo>
                  <a:lnTo>
                    <a:pt x="11" y="1018"/>
                  </a:lnTo>
                  <a:lnTo>
                    <a:pt x="3" y="948"/>
                  </a:lnTo>
                  <a:lnTo>
                    <a:pt x="0" y="877"/>
                  </a:lnTo>
                  <a:lnTo>
                    <a:pt x="3" y="805"/>
                  </a:lnTo>
                  <a:lnTo>
                    <a:pt x="11" y="735"/>
                  </a:lnTo>
                  <a:lnTo>
                    <a:pt x="26" y="667"/>
                  </a:lnTo>
                  <a:lnTo>
                    <a:pt x="45" y="600"/>
                  </a:lnTo>
                  <a:lnTo>
                    <a:pt x="69" y="536"/>
                  </a:lnTo>
                  <a:lnTo>
                    <a:pt x="98" y="474"/>
                  </a:lnTo>
                  <a:lnTo>
                    <a:pt x="132" y="415"/>
                  </a:lnTo>
                  <a:lnTo>
                    <a:pt x="170" y="359"/>
                  </a:lnTo>
                  <a:lnTo>
                    <a:pt x="212" y="306"/>
                  </a:lnTo>
                  <a:lnTo>
                    <a:pt x="258" y="257"/>
                  </a:lnTo>
                  <a:lnTo>
                    <a:pt x="309" y="211"/>
                  </a:lnTo>
                  <a:lnTo>
                    <a:pt x="362" y="169"/>
                  </a:lnTo>
                  <a:lnTo>
                    <a:pt x="419" y="132"/>
                  </a:lnTo>
                  <a:lnTo>
                    <a:pt x="478" y="98"/>
                  </a:lnTo>
                  <a:lnTo>
                    <a:pt x="539" y="69"/>
                  </a:lnTo>
                  <a:lnTo>
                    <a:pt x="605" y="45"/>
                  </a:lnTo>
                  <a:lnTo>
                    <a:pt x="671" y="26"/>
                  </a:lnTo>
                  <a:lnTo>
                    <a:pt x="741" y="12"/>
                  </a:lnTo>
                  <a:lnTo>
                    <a:pt x="811" y="3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endPara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571;p13">
              <a:extLst>
                <a:ext uri="{FF2B5EF4-FFF2-40B4-BE49-F238E27FC236}">
                  <a16:creationId xmlns:a16="http://schemas.microsoft.com/office/drawing/2014/main" id="{065A2AC2-747E-8CC9-DC90-16CA0E3991A7}"/>
                </a:ext>
              </a:extLst>
            </p:cNvPr>
            <p:cNvSpPr/>
            <p:nvPr/>
          </p:nvSpPr>
          <p:spPr>
            <a:xfrm>
              <a:off x="415925" y="3470275"/>
              <a:ext cx="436563" cy="160338"/>
            </a:xfrm>
            <a:custGeom>
              <a:avLst/>
              <a:gdLst/>
              <a:ahLst/>
              <a:cxnLst/>
              <a:rect l="l" t="t" r="r" b="b"/>
              <a:pathLst>
                <a:path w="3305" h="1219" extrusionOk="0">
                  <a:moveTo>
                    <a:pt x="1110" y="232"/>
                  </a:moveTo>
                  <a:lnTo>
                    <a:pt x="1036" y="235"/>
                  </a:lnTo>
                  <a:lnTo>
                    <a:pt x="965" y="244"/>
                  </a:lnTo>
                  <a:lnTo>
                    <a:pt x="894" y="259"/>
                  </a:lnTo>
                  <a:lnTo>
                    <a:pt x="827" y="278"/>
                  </a:lnTo>
                  <a:lnTo>
                    <a:pt x="763" y="304"/>
                  </a:lnTo>
                  <a:lnTo>
                    <a:pt x="700" y="334"/>
                  </a:lnTo>
                  <a:lnTo>
                    <a:pt x="640" y="368"/>
                  </a:lnTo>
                  <a:lnTo>
                    <a:pt x="583" y="407"/>
                  </a:lnTo>
                  <a:lnTo>
                    <a:pt x="530" y="451"/>
                  </a:lnTo>
                  <a:lnTo>
                    <a:pt x="480" y="498"/>
                  </a:lnTo>
                  <a:lnTo>
                    <a:pt x="435" y="549"/>
                  </a:lnTo>
                  <a:lnTo>
                    <a:pt x="393" y="603"/>
                  </a:lnTo>
                  <a:lnTo>
                    <a:pt x="356" y="660"/>
                  </a:lnTo>
                  <a:lnTo>
                    <a:pt x="322" y="721"/>
                  </a:lnTo>
                  <a:lnTo>
                    <a:pt x="295" y="785"/>
                  </a:lnTo>
                  <a:lnTo>
                    <a:pt x="272" y="850"/>
                  </a:lnTo>
                  <a:lnTo>
                    <a:pt x="254" y="918"/>
                  </a:lnTo>
                  <a:lnTo>
                    <a:pt x="242" y="987"/>
                  </a:lnTo>
                  <a:lnTo>
                    <a:pt x="3063" y="987"/>
                  </a:lnTo>
                  <a:lnTo>
                    <a:pt x="3051" y="917"/>
                  </a:lnTo>
                  <a:lnTo>
                    <a:pt x="3033" y="849"/>
                  </a:lnTo>
                  <a:lnTo>
                    <a:pt x="3011" y="784"/>
                  </a:lnTo>
                  <a:lnTo>
                    <a:pt x="2983" y="720"/>
                  </a:lnTo>
                  <a:lnTo>
                    <a:pt x="2949" y="659"/>
                  </a:lnTo>
                  <a:lnTo>
                    <a:pt x="2912" y="602"/>
                  </a:lnTo>
                  <a:lnTo>
                    <a:pt x="2871" y="547"/>
                  </a:lnTo>
                  <a:lnTo>
                    <a:pt x="2824" y="497"/>
                  </a:lnTo>
                  <a:lnTo>
                    <a:pt x="2775" y="450"/>
                  </a:lnTo>
                  <a:lnTo>
                    <a:pt x="2722" y="406"/>
                  </a:lnTo>
                  <a:lnTo>
                    <a:pt x="2665" y="368"/>
                  </a:lnTo>
                  <a:lnTo>
                    <a:pt x="2606" y="333"/>
                  </a:lnTo>
                  <a:lnTo>
                    <a:pt x="2543" y="303"/>
                  </a:lnTo>
                  <a:lnTo>
                    <a:pt x="2478" y="278"/>
                  </a:lnTo>
                  <a:lnTo>
                    <a:pt x="2410" y="258"/>
                  </a:lnTo>
                  <a:lnTo>
                    <a:pt x="2340" y="244"/>
                  </a:lnTo>
                  <a:lnTo>
                    <a:pt x="2268" y="235"/>
                  </a:lnTo>
                  <a:lnTo>
                    <a:pt x="2195" y="232"/>
                  </a:lnTo>
                  <a:lnTo>
                    <a:pt x="1110" y="232"/>
                  </a:lnTo>
                  <a:close/>
                  <a:moveTo>
                    <a:pt x="1110" y="0"/>
                  </a:moveTo>
                  <a:lnTo>
                    <a:pt x="2195" y="0"/>
                  </a:lnTo>
                  <a:lnTo>
                    <a:pt x="2278" y="3"/>
                  </a:lnTo>
                  <a:lnTo>
                    <a:pt x="2359" y="12"/>
                  </a:lnTo>
                  <a:lnTo>
                    <a:pt x="2439" y="27"/>
                  </a:lnTo>
                  <a:lnTo>
                    <a:pt x="2516" y="47"/>
                  </a:lnTo>
                  <a:lnTo>
                    <a:pt x="2591" y="73"/>
                  </a:lnTo>
                  <a:lnTo>
                    <a:pt x="2663" y="103"/>
                  </a:lnTo>
                  <a:lnTo>
                    <a:pt x="2733" y="139"/>
                  </a:lnTo>
                  <a:lnTo>
                    <a:pt x="2799" y="178"/>
                  </a:lnTo>
                  <a:lnTo>
                    <a:pt x="2864" y="223"/>
                  </a:lnTo>
                  <a:lnTo>
                    <a:pt x="2923" y="271"/>
                  </a:lnTo>
                  <a:lnTo>
                    <a:pt x="2981" y="324"/>
                  </a:lnTo>
                  <a:lnTo>
                    <a:pt x="3033" y="380"/>
                  </a:lnTo>
                  <a:lnTo>
                    <a:pt x="3081" y="440"/>
                  </a:lnTo>
                  <a:lnTo>
                    <a:pt x="3127" y="503"/>
                  </a:lnTo>
                  <a:lnTo>
                    <a:pt x="3167" y="570"/>
                  </a:lnTo>
                  <a:lnTo>
                    <a:pt x="3202" y="639"/>
                  </a:lnTo>
                  <a:lnTo>
                    <a:pt x="3232" y="710"/>
                  </a:lnTo>
                  <a:lnTo>
                    <a:pt x="3259" y="786"/>
                  </a:lnTo>
                  <a:lnTo>
                    <a:pt x="3279" y="862"/>
                  </a:lnTo>
                  <a:lnTo>
                    <a:pt x="3293" y="941"/>
                  </a:lnTo>
                  <a:lnTo>
                    <a:pt x="3302" y="1021"/>
                  </a:lnTo>
                  <a:lnTo>
                    <a:pt x="3305" y="1103"/>
                  </a:lnTo>
                  <a:lnTo>
                    <a:pt x="3302" y="1130"/>
                  </a:lnTo>
                  <a:lnTo>
                    <a:pt x="3294" y="1154"/>
                  </a:lnTo>
                  <a:lnTo>
                    <a:pt x="3280" y="1176"/>
                  </a:lnTo>
                  <a:lnTo>
                    <a:pt x="3262" y="1194"/>
                  </a:lnTo>
                  <a:lnTo>
                    <a:pt x="3240" y="1207"/>
                  </a:lnTo>
                  <a:lnTo>
                    <a:pt x="3215" y="1216"/>
                  </a:lnTo>
                  <a:lnTo>
                    <a:pt x="3188" y="1219"/>
                  </a:lnTo>
                  <a:lnTo>
                    <a:pt x="117" y="1219"/>
                  </a:lnTo>
                  <a:lnTo>
                    <a:pt x="90" y="1216"/>
                  </a:lnTo>
                  <a:lnTo>
                    <a:pt x="65" y="1207"/>
                  </a:lnTo>
                  <a:lnTo>
                    <a:pt x="43" y="1194"/>
                  </a:lnTo>
                  <a:lnTo>
                    <a:pt x="25" y="1176"/>
                  </a:lnTo>
                  <a:lnTo>
                    <a:pt x="12" y="1154"/>
                  </a:lnTo>
                  <a:lnTo>
                    <a:pt x="3" y="1130"/>
                  </a:lnTo>
                  <a:lnTo>
                    <a:pt x="0" y="1103"/>
                  </a:lnTo>
                  <a:lnTo>
                    <a:pt x="3" y="1021"/>
                  </a:lnTo>
                  <a:lnTo>
                    <a:pt x="12" y="940"/>
                  </a:lnTo>
                  <a:lnTo>
                    <a:pt x="27" y="861"/>
                  </a:lnTo>
                  <a:lnTo>
                    <a:pt x="47" y="785"/>
                  </a:lnTo>
                  <a:lnTo>
                    <a:pt x="73" y="709"/>
                  </a:lnTo>
                  <a:lnTo>
                    <a:pt x="104" y="638"/>
                  </a:lnTo>
                  <a:lnTo>
                    <a:pt x="139" y="568"/>
                  </a:lnTo>
                  <a:lnTo>
                    <a:pt x="179" y="502"/>
                  </a:lnTo>
                  <a:lnTo>
                    <a:pt x="224" y="439"/>
                  </a:lnTo>
                  <a:lnTo>
                    <a:pt x="273" y="379"/>
                  </a:lnTo>
                  <a:lnTo>
                    <a:pt x="326" y="323"/>
                  </a:lnTo>
                  <a:lnTo>
                    <a:pt x="383" y="271"/>
                  </a:lnTo>
                  <a:lnTo>
                    <a:pt x="443" y="222"/>
                  </a:lnTo>
                  <a:lnTo>
                    <a:pt x="507" y="178"/>
                  </a:lnTo>
                  <a:lnTo>
                    <a:pt x="573" y="138"/>
                  </a:lnTo>
                  <a:lnTo>
                    <a:pt x="643" y="103"/>
                  </a:lnTo>
                  <a:lnTo>
                    <a:pt x="715" y="72"/>
                  </a:lnTo>
                  <a:lnTo>
                    <a:pt x="790" y="47"/>
                  </a:lnTo>
                  <a:lnTo>
                    <a:pt x="867" y="27"/>
                  </a:lnTo>
                  <a:lnTo>
                    <a:pt x="946" y="12"/>
                  </a:lnTo>
                  <a:lnTo>
                    <a:pt x="1027" y="3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endPara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583;p13">
            <a:extLst>
              <a:ext uri="{FF2B5EF4-FFF2-40B4-BE49-F238E27FC236}">
                <a16:creationId xmlns:a16="http://schemas.microsoft.com/office/drawing/2014/main" id="{6D476485-98ED-AE69-DBCE-BCF526004295}"/>
              </a:ext>
            </a:extLst>
          </p:cNvPr>
          <p:cNvSpPr txBox="1"/>
          <p:nvPr/>
        </p:nvSpPr>
        <p:spPr>
          <a:xfrm>
            <a:off x="7189634" y="1254930"/>
            <a:ext cx="20116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Age, gender, education,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ethnicity, etc. </a:t>
            </a:r>
            <a:endParaRPr sz="1000">
              <a:latin typeface="Montserrat" pitchFamily="2" charset="77"/>
            </a:endParaRPr>
          </a:p>
        </p:txBody>
      </p:sp>
      <p:pic>
        <p:nvPicPr>
          <p:cNvPr id="28" name="Google Shape;572;p13">
            <a:extLst>
              <a:ext uri="{FF2B5EF4-FFF2-40B4-BE49-F238E27FC236}">
                <a16:creationId xmlns:a16="http://schemas.microsoft.com/office/drawing/2014/main" id="{099F0601-FBB5-B9DC-18E4-4713589DEB3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68352" y="1740670"/>
            <a:ext cx="365760" cy="27544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568;p13">
            <a:extLst>
              <a:ext uri="{FF2B5EF4-FFF2-40B4-BE49-F238E27FC236}">
                <a16:creationId xmlns:a16="http://schemas.microsoft.com/office/drawing/2014/main" id="{2B5A5E01-9543-893A-7D2F-F70962AC8A94}"/>
              </a:ext>
            </a:extLst>
          </p:cNvPr>
          <p:cNvSpPr txBox="1"/>
          <p:nvPr/>
        </p:nvSpPr>
        <p:spPr>
          <a:xfrm>
            <a:off x="7189634" y="1722007"/>
            <a:ext cx="8704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Household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30" name="Google Shape;583;p13">
            <a:extLst>
              <a:ext uri="{FF2B5EF4-FFF2-40B4-BE49-F238E27FC236}">
                <a16:creationId xmlns:a16="http://schemas.microsoft.com/office/drawing/2014/main" id="{B752D86C-6C64-CFA0-5ACD-550B83A58A70}"/>
              </a:ext>
            </a:extLst>
          </p:cNvPr>
          <p:cNvSpPr txBox="1"/>
          <p:nvPr/>
        </p:nvSpPr>
        <p:spPr>
          <a:xfrm>
            <a:off x="7189634" y="1956625"/>
            <a:ext cx="20116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Number of persons inside an individual household, head of household, income, etc. </a:t>
            </a:r>
          </a:p>
        </p:txBody>
      </p:sp>
      <p:grpSp>
        <p:nvGrpSpPr>
          <p:cNvPr id="31" name="Google Shape;573;p13">
            <a:extLst>
              <a:ext uri="{FF2B5EF4-FFF2-40B4-BE49-F238E27FC236}">
                <a16:creationId xmlns:a16="http://schemas.microsoft.com/office/drawing/2014/main" id="{ACFD250F-2003-39FB-60DB-B7A8B2DE9ABF}"/>
              </a:ext>
            </a:extLst>
          </p:cNvPr>
          <p:cNvGrpSpPr>
            <a:grpSpLocks noChangeAspect="1"/>
          </p:cNvGrpSpPr>
          <p:nvPr/>
        </p:nvGrpSpPr>
        <p:grpSpPr>
          <a:xfrm>
            <a:off x="6714072" y="2521637"/>
            <a:ext cx="274320" cy="307061"/>
            <a:chOff x="3471863" y="1916113"/>
            <a:chExt cx="492125" cy="550863"/>
          </a:xfrm>
        </p:grpSpPr>
        <p:sp>
          <p:nvSpPr>
            <p:cNvPr id="32" name="Google Shape;574;p13">
              <a:extLst>
                <a:ext uri="{FF2B5EF4-FFF2-40B4-BE49-F238E27FC236}">
                  <a16:creationId xmlns:a16="http://schemas.microsoft.com/office/drawing/2014/main" id="{A5B981DF-5EAA-35DA-A8B0-722AF6D41336}"/>
                </a:ext>
              </a:extLst>
            </p:cNvPr>
            <p:cNvSpPr/>
            <p:nvPr/>
          </p:nvSpPr>
          <p:spPr>
            <a:xfrm>
              <a:off x="3633788" y="1916113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2077" h="2076" extrusionOk="0">
                  <a:moveTo>
                    <a:pt x="971" y="140"/>
                  </a:moveTo>
                  <a:lnTo>
                    <a:pt x="967" y="140"/>
                  </a:lnTo>
                  <a:lnTo>
                    <a:pt x="964" y="142"/>
                  </a:lnTo>
                  <a:lnTo>
                    <a:pt x="961" y="145"/>
                  </a:lnTo>
                  <a:lnTo>
                    <a:pt x="959" y="149"/>
                  </a:lnTo>
                  <a:lnTo>
                    <a:pt x="958" y="152"/>
                  </a:lnTo>
                  <a:lnTo>
                    <a:pt x="958" y="277"/>
                  </a:lnTo>
                  <a:lnTo>
                    <a:pt x="956" y="296"/>
                  </a:lnTo>
                  <a:lnTo>
                    <a:pt x="948" y="314"/>
                  </a:lnTo>
                  <a:lnTo>
                    <a:pt x="936" y="329"/>
                  </a:lnTo>
                  <a:lnTo>
                    <a:pt x="920" y="340"/>
                  </a:lnTo>
                  <a:lnTo>
                    <a:pt x="902" y="346"/>
                  </a:lnTo>
                  <a:lnTo>
                    <a:pt x="849" y="360"/>
                  </a:lnTo>
                  <a:lnTo>
                    <a:pt x="796" y="377"/>
                  </a:lnTo>
                  <a:lnTo>
                    <a:pt x="745" y="397"/>
                  </a:lnTo>
                  <a:lnTo>
                    <a:pt x="697" y="422"/>
                  </a:lnTo>
                  <a:lnTo>
                    <a:pt x="649" y="451"/>
                  </a:lnTo>
                  <a:lnTo>
                    <a:pt x="631" y="460"/>
                  </a:lnTo>
                  <a:lnTo>
                    <a:pt x="612" y="463"/>
                  </a:lnTo>
                  <a:lnTo>
                    <a:pt x="594" y="461"/>
                  </a:lnTo>
                  <a:lnTo>
                    <a:pt x="576" y="455"/>
                  </a:lnTo>
                  <a:lnTo>
                    <a:pt x="561" y="443"/>
                  </a:lnTo>
                  <a:lnTo>
                    <a:pt x="471" y="352"/>
                  </a:lnTo>
                  <a:lnTo>
                    <a:pt x="468" y="350"/>
                  </a:lnTo>
                  <a:lnTo>
                    <a:pt x="465" y="349"/>
                  </a:lnTo>
                  <a:lnTo>
                    <a:pt x="462" y="349"/>
                  </a:lnTo>
                  <a:lnTo>
                    <a:pt x="459" y="349"/>
                  </a:lnTo>
                  <a:lnTo>
                    <a:pt x="456" y="350"/>
                  </a:lnTo>
                  <a:lnTo>
                    <a:pt x="453" y="352"/>
                  </a:lnTo>
                  <a:lnTo>
                    <a:pt x="356" y="450"/>
                  </a:lnTo>
                  <a:lnTo>
                    <a:pt x="353" y="456"/>
                  </a:lnTo>
                  <a:lnTo>
                    <a:pt x="353" y="462"/>
                  </a:lnTo>
                  <a:lnTo>
                    <a:pt x="356" y="467"/>
                  </a:lnTo>
                  <a:lnTo>
                    <a:pt x="446" y="557"/>
                  </a:lnTo>
                  <a:lnTo>
                    <a:pt x="457" y="573"/>
                  </a:lnTo>
                  <a:lnTo>
                    <a:pt x="465" y="591"/>
                  </a:lnTo>
                  <a:lnTo>
                    <a:pt x="466" y="610"/>
                  </a:lnTo>
                  <a:lnTo>
                    <a:pt x="462" y="629"/>
                  </a:lnTo>
                  <a:lnTo>
                    <a:pt x="454" y="645"/>
                  </a:lnTo>
                  <a:lnTo>
                    <a:pt x="425" y="693"/>
                  </a:lnTo>
                  <a:lnTo>
                    <a:pt x="400" y="742"/>
                  </a:lnTo>
                  <a:lnTo>
                    <a:pt x="379" y="793"/>
                  </a:lnTo>
                  <a:lnTo>
                    <a:pt x="362" y="845"/>
                  </a:lnTo>
                  <a:lnTo>
                    <a:pt x="350" y="899"/>
                  </a:lnTo>
                  <a:lnTo>
                    <a:pt x="343" y="918"/>
                  </a:lnTo>
                  <a:lnTo>
                    <a:pt x="332" y="933"/>
                  </a:lnTo>
                  <a:lnTo>
                    <a:pt x="317" y="945"/>
                  </a:lnTo>
                  <a:lnTo>
                    <a:pt x="300" y="952"/>
                  </a:lnTo>
                  <a:lnTo>
                    <a:pt x="281" y="955"/>
                  </a:lnTo>
                  <a:lnTo>
                    <a:pt x="153" y="955"/>
                  </a:lnTo>
                  <a:lnTo>
                    <a:pt x="150" y="955"/>
                  </a:lnTo>
                  <a:lnTo>
                    <a:pt x="147" y="958"/>
                  </a:lnTo>
                  <a:lnTo>
                    <a:pt x="144" y="961"/>
                  </a:lnTo>
                  <a:lnTo>
                    <a:pt x="143" y="964"/>
                  </a:lnTo>
                  <a:lnTo>
                    <a:pt x="142" y="967"/>
                  </a:lnTo>
                  <a:lnTo>
                    <a:pt x="142" y="1105"/>
                  </a:lnTo>
                  <a:lnTo>
                    <a:pt x="143" y="1109"/>
                  </a:lnTo>
                  <a:lnTo>
                    <a:pt x="144" y="1113"/>
                  </a:lnTo>
                  <a:lnTo>
                    <a:pt x="147" y="1115"/>
                  </a:lnTo>
                  <a:lnTo>
                    <a:pt x="150" y="1117"/>
                  </a:lnTo>
                  <a:lnTo>
                    <a:pt x="153" y="1118"/>
                  </a:lnTo>
                  <a:lnTo>
                    <a:pt x="281" y="1118"/>
                  </a:lnTo>
                  <a:lnTo>
                    <a:pt x="300" y="1120"/>
                  </a:lnTo>
                  <a:lnTo>
                    <a:pt x="317" y="1128"/>
                  </a:lnTo>
                  <a:lnTo>
                    <a:pt x="332" y="1140"/>
                  </a:lnTo>
                  <a:lnTo>
                    <a:pt x="343" y="1156"/>
                  </a:lnTo>
                  <a:lnTo>
                    <a:pt x="350" y="1174"/>
                  </a:lnTo>
                  <a:lnTo>
                    <a:pt x="362" y="1228"/>
                  </a:lnTo>
                  <a:lnTo>
                    <a:pt x="379" y="1280"/>
                  </a:lnTo>
                  <a:lnTo>
                    <a:pt x="400" y="1331"/>
                  </a:lnTo>
                  <a:lnTo>
                    <a:pt x="425" y="1379"/>
                  </a:lnTo>
                  <a:lnTo>
                    <a:pt x="454" y="1427"/>
                  </a:lnTo>
                  <a:lnTo>
                    <a:pt x="462" y="1445"/>
                  </a:lnTo>
                  <a:lnTo>
                    <a:pt x="467" y="1464"/>
                  </a:lnTo>
                  <a:lnTo>
                    <a:pt x="465" y="1483"/>
                  </a:lnTo>
                  <a:lnTo>
                    <a:pt x="457" y="1500"/>
                  </a:lnTo>
                  <a:lnTo>
                    <a:pt x="446" y="1515"/>
                  </a:lnTo>
                  <a:lnTo>
                    <a:pt x="356" y="1606"/>
                  </a:lnTo>
                  <a:lnTo>
                    <a:pt x="353" y="1611"/>
                  </a:lnTo>
                  <a:lnTo>
                    <a:pt x="353" y="1617"/>
                  </a:lnTo>
                  <a:lnTo>
                    <a:pt x="356" y="1623"/>
                  </a:lnTo>
                  <a:lnTo>
                    <a:pt x="453" y="1720"/>
                  </a:lnTo>
                  <a:lnTo>
                    <a:pt x="456" y="1722"/>
                  </a:lnTo>
                  <a:lnTo>
                    <a:pt x="459" y="1723"/>
                  </a:lnTo>
                  <a:lnTo>
                    <a:pt x="462" y="1724"/>
                  </a:lnTo>
                  <a:lnTo>
                    <a:pt x="465" y="1723"/>
                  </a:lnTo>
                  <a:lnTo>
                    <a:pt x="468" y="1722"/>
                  </a:lnTo>
                  <a:lnTo>
                    <a:pt x="471" y="1720"/>
                  </a:lnTo>
                  <a:lnTo>
                    <a:pt x="559" y="1630"/>
                  </a:lnTo>
                  <a:lnTo>
                    <a:pt x="574" y="1619"/>
                  </a:lnTo>
                  <a:lnTo>
                    <a:pt x="591" y="1612"/>
                  </a:lnTo>
                  <a:lnTo>
                    <a:pt x="609" y="1610"/>
                  </a:lnTo>
                  <a:lnTo>
                    <a:pt x="629" y="1614"/>
                  </a:lnTo>
                  <a:lnTo>
                    <a:pt x="648" y="1622"/>
                  </a:lnTo>
                  <a:lnTo>
                    <a:pt x="695" y="1651"/>
                  </a:lnTo>
                  <a:lnTo>
                    <a:pt x="744" y="1676"/>
                  </a:lnTo>
                  <a:lnTo>
                    <a:pt x="795" y="1697"/>
                  </a:lnTo>
                  <a:lnTo>
                    <a:pt x="846" y="1714"/>
                  </a:lnTo>
                  <a:lnTo>
                    <a:pt x="900" y="1726"/>
                  </a:lnTo>
                  <a:lnTo>
                    <a:pt x="919" y="1733"/>
                  </a:lnTo>
                  <a:lnTo>
                    <a:pt x="935" y="1744"/>
                  </a:lnTo>
                  <a:lnTo>
                    <a:pt x="947" y="1759"/>
                  </a:lnTo>
                  <a:lnTo>
                    <a:pt x="955" y="1776"/>
                  </a:lnTo>
                  <a:lnTo>
                    <a:pt x="957" y="1796"/>
                  </a:lnTo>
                  <a:lnTo>
                    <a:pt x="957" y="1922"/>
                  </a:lnTo>
                  <a:lnTo>
                    <a:pt x="958" y="1926"/>
                  </a:lnTo>
                  <a:lnTo>
                    <a:pt x="959" y="1929"/>
                  </a:lnTo>
                  <a:lnTo>
                    <a:pt x="963" y="1932"/>
                  </a:lnTo>
                  <a:lnTo>
                    <a:pt x="966" y="1934"/>
                  </a:lnTo>
                  <a:lnTo>
                    <a:pt x="970" y="1934"/>
                  </a:lnTo>
                  <a:lnTo>
                    <a:pt x="1108" y="1934"/>
                  </a:lnTo>
                  <a:lnTo>
                    <a:pt x="1111" y="1934"/>
                  </a:lnTo>
                  <a:lnTo>
                    <a:pt x="1114" y="1932"/>
                  </a:lnTo>
                  <a:lnTo>
                    <a:pt x="1118" y="1929"/>
                  </a:lnTo>
                  <a:lnTo>
                    <a:pt x="1119" y="1926"/>
                  </a:lnTo>
                  <a:lnTo>
                    <a:pt x="1120" y="1922"/>
                  </a:lnTo>
                  <a:lnTo>
                    <a:pt x="1120" y="1796"/>
                  </a:lnTo>
                  <a:lnTo>
                    <a:pt x="1123" y="1776"/>
                  </a:lnTo>
                  <a:lnTo>
                    <a:pt x="1130" y="1759"/>
                  </a:lnTo>
                  <a:lnTo>
                    <a:pt x="1142" y="1744"/>
                  </a:lnTo>
                  <a:lnTo>
                    <a:pt x="1158" y="1733"/>
                  </a:lnTo>
                  <a:lnTo>
                    <a:pt x="1177" y="1726"/>
                  </a:lnTo>
                  <a:lnTo>
                    <a:pt x="1231" y="1714"/>
                  </a:lnTo>
                  <a:lnTo>
                    <a:pt x="1282" y="1697"/>
                  </a:lnTo>
                  <a:lnTo>
                    <a:pt x="1333" y="1676"/>
                  </a:lnTo>
                  <a:lnTo>
                    <a:pt x="1382" y="1650"/>
                  </a:lnTo>
                  <a:lnTo>
                    <a:pt x="1430" y="1622"/>
                  </a:lnTo>
                  <a:lnTo>
                    <a:pt x="1447" y="1614"/>
                  </a:lnTo>
                  <a:lnTo>
                    <a:pt x="1466" y="1610"/>
                  </a:lnTo>
                  <a:lnTo>
                    <a:pt x="1485" y="1611"/>
                  </a:lnTo>
                  <a:lnTo>
                    <a:pt x="1503" y="1619"/>
                  </a:lnTo>
                  <a:lnTo>
                    <a:pt x="1518" y="1630"/>
                  </a:lnTo>
                  <a:lnTo>
                    <a:pt x="1608" y="1720"/>
                  </a:lnTo>
                  <a:lnTo>
                    <a:pt x="1611" y="1722"/>
                  </a:lnTo>
                  <a:lnTo>
                    <a:pt x="1614" y="1723"/>
                  </a:lnTo>
                  <a:lnTo>
                    <a:pt x="1617" y="1724"/>
                  </a:lnTo>
                  <a:lnTo>
                    <a:pt x="1619" y="1723"/>
                  </a:lnTo>
                  <a:lnTo>
                    <a:pt x="1622" y="1722"/>
                  </a:lnTo>
                  <a:lnTo>
                    <a:pt x="1625" y="1720"/>
                  </a:lnTo>
                  <a:lnTo>
                    <a:pt x="1723" y="1623"/>
                  </a:lnTo>
                  <a:lnTo>
                    <a:pt x="1726" y="1618"/>
                  </a:lnTo>
                  <a:lnTo>
                    <a:pt x="1726" y="1611"/>
                  </a:lnTo>
                  <a:lnTo>
                    <a:pt x="1723" y="1606"/>
                  </a:lnTo>
                  <a:lnTo>
                    <a:pt x="1633" y="1516"/>
                  </a:lnTo>
                  <a:lnTo>
                    <a:pt x="1621" y="1501"/>
                  </a:lnTo>
                  <a:lnTo>
                    <a:pt x="1615" y="1483"/>
                  </a:lnTo>
                  <a:lnTo>
                    <a:pt x="1613" y="1464"/>
                  </a:lnTo>
                  <a:lnTo>
                    <a:pt x="1616" y="1446"/>
                  </a:lnTo>
                  <a:lnTo>
                    <a:pt x="1624" y="1428"/>
                  </a:lnTo>
                  <a:lnTo>
                    <a:pt x="1654" y="1380"/>
                  </a:lnTo>
                  <a:lnTo>
                    <a:pt x="1679" y="1332"/>
                  </a:lnTo>
                  <a:lnTo>
                    <a:pt x="1700" y="1281"/>
                  </a:lnTo>
                  <a:lnTo>
                    <a:pt x="1717" y="1229"/>
                  </a:lnTo>
                  <a:lnTo>
                    <a:pt x="1730" y="1175"/>
                  </a:lnTo>
                  <a:lnTo>
                    <a:pt x="1736" y="1156"/>
                  </a:lnTo>
                  <a:lnTo>
                    <a:pt x="1747" y="1141"/>
                  </a:lnTo>
                  <a:lnTo>
                    <a:pt x="1761" y="1128"/>
                  </a:lnTo>
                  <a:lnTo>
                    <a:pt x="1779" y="1121"/>
                  </a:lnTo>
                  <a:lnTo>
                    <a:pt x="1798" y="1119"/>
                  </a:lnTo>
                  <a:lnTo>
                    <a:pt x="1925" y="1119"/>
                  </a:lnTo>
                  <a:lnTo>
                    <a:pt x="1929" y="1118"/>
                  </a:lnTo>
                  <a:lnTo>
                    <a:pt x="1932" y="1117"/>
                  </a:lnTo>
                  <a:lnTo>
                    <a:pt x="1934" y="1114"/>
                  </a:lnTo>
                  <a:lnTo>
                    <a:pt x="1936" y="1110"/>
                  </a:lnTo>
                  <a:lnTo>
                    <a:pt x="1936" y="1107"/>
                  </a:lnTo>
                  <a:lnTo>
                    <a:pt x="1936" y="969"/>
                  </a:lnTo>
                  <a:lnTo>
                    <a:pt x="1936" y="965"/>
                  </a:lnTo>
                  <a:lnTo>
                    <a:pt x="1934" y="962"/>
                  </a:lnTo>
                  <a:lnTo>
                    <a:pt x="1932" y="959"/>
                  </a:lnTo>
                  <a:lnTo>
                    <a:pt x="1929" y="958"/>
                  </a:lnTo>
                  <a:lnTo>
                    <a:pt x="1925" y="957"/>
                  </a:lnTo>
                  <a:lnTo>
                    <a:pt x="1798" y="957"/>
                  </a:lnTo>
                  <a:lnTo>
                    <a:pt x="1779" y="954"/>
                  </a:lnTo>
                  <a:lnTo>
                    <a:pt x="1761" y="946"/>
                  </a:lnTo>
                  <a:lnTo>
                    <a:pt x="1747" y="934"/>
                  </a:lnTo>
                  <a:lnTo>
                    <a:pt x="1736" y="919"/>
                  </a:lnTo>
                  <a:lnTo>
                    <a:pt x="1730" y="900"/>
                  </a:lnTo>
                  <a:lnTo>
                    <a:pt x="1716" y="847"/>
                  </a:lnTo>
                  <a:lnTo>
                    <a:pt x="1699" y="794"/>
                  </a:lnTo>
                  <a:lnTo>
                    <a:pt x="1678" y="744"/>
                  </a:lnTo>
                  <a:lnTo>
                    <a:pt x="1654" y="694"/>
                  </a:lnTo>
                  <a:lnTo>
                    <a:pt x="1624" y="648"/>
                  </a:lnTo>
                  <a:lnTo>
                    <a:pt x="1616" y="630"/>
                  </a:lnTo>
                  <a:lnTo>
                    <a:pt x="1613" y="611"/>
                  </a:lnTo>
                  <a:lnTo>
                    <a:pt x="1615" y="592"/>
                  </a:lnTo>
                  <a:lnTo>
                    <a:pt x="1621" y="574"/>
                  </a:lnTo>
                  <a:lnTo>
                    <a:pt x="1633" y="559"/>
                  </a:lnTo>
                  <a:lnTo>
                    <a:pt x="1724" y="468"/>
                  </a:lnTo>
                  <a:lnTo>
                    <a:pt x="1728" y="463"/>
                  </a:lnTo>
                  <a:lnTo>
                    <a:pt x="1728" y="457"/>
                  </a:lnTo>
                  <a:lnTo>
                    <a:pt x="1724" y="451"/>
                  </a:lnTo>
                  <a:lnTo>
                    <a:pt x="1626" y="354"/>
                  </a:lnTo>
                  <a:lnTo>
                    <a:pt x="1623" y="351"/>
                  </a:lnTo>
                  <a:lnTo>
                    <a:pt x="1621" y="350"/>
                  </a:lnTo>
                  <a:lnTo>
                    <a:pt x="1618" y="350"/>
                  </a:lnTo>
                  <a:lnTo>
                    <a:pt x="1616" y="350"/>
                  </a:lnTo>
                  <a:lnTo>
                    <a:pt x="1613" y="351"/>
                  </a:lnTo>
                  <a:lnTo>
                    <a:pt x="1609" y="354"/>
                  </a:lnTo>
                  <a:lnTo>
                    <a:pt x="1520" y="444"/>
                  </a:lnTo>
                  <a:lnTo>
                    <a:pt x="1504" y="456"/>
                  </a:lnTo>
                  <a:lnTo>
                    <a:pt x="1486" y="462"/>
                  </a:lnTo>
                  <a:lnTo>
                    <a:pt x="1467" y="464"/>
                  </a:lnTo>
                  <a:lnTo>
                    <a:pt x="1449" y="461"/>
                  </a:lnTo>
                  <a:lnTo>
                    <a:pt x="1431" y="452"/>
                  </a:lnTo>
                  <a:lnTo>
                    <a:pt x="1384" y="423"/>
                  </a:lnTo>
                  <a:lnTo>
                    <a:pt x="1335" y="399"/>
                  </a:lnTo>
                  <a:lnTo>
                    <a:pt x="1284" y="378"/>
                  </a:lnTo>
                  <a:lnTo>
                    <a:pt x="1232" y="361"/>
                  </a:lnTo>
                  <a:lnTo>
                    <a:pt x="1178" y="348"/>
                  </a:lnTo>
                  <a:lnTo>
                    <a:pt x="1159" y="341"/>
                  </a:lnTo>
                  <a:lnTo>
                    <a:pt x="1143" y="330"/>
                  </a:lnTo>
                  <a:lnTo>
                    <a:pt x="1131" y="315"/>
                  </a:lnTo>
                  <a:lnTo>
                    <a:pt x="1124" y="298"/>
                  </a:lnTo>
                  <a:lnTo>
                    <a:pt x="1121" y="278"/>
                  </a:lnTo>
                  <a:lnTo>
                    <a:pt x="1121" y="152"/>
                  </a:lnTo>
                  <a:lnTo>
                    <a:pt x="1121" y="149"/>
                  </a:lnTo>
                  <a:lnTo>
                    <a:pt x="1119" y="145"/>
                  </a:lnTo>
                  <a:lnTo>
                    <a:pt x="1117" y="142"/>
                  </a:lnTo>
                  <a:lnTo>
                    <a:pt x="1112" y="140"/>
                  </a:lnTo>
                  <a:lnTo>
                    <a:pt x="1109" y="140"/>
                  </a:lnTo>
                  <a:lnTo>
                    <a:pt x="971" y="140"/>
                  </a:lnTo>
                  <a:close/>
                  <a:moveTo>
                    <a:pt x="970" y="0"/>
                  </a:moveTo>
                  <a:lnTo>
                    <a:pt x="1108" y="0"/>
                  </a:lnTo>
                  <a:lnTo>
                    <a:pt x="1139" y="3"/>
                  </a:lnTo>
                  <a:lnTo>
                    <a:pt x="1167" y="12"/>
                  </a:lnTo>
                  <a:lnTo>
                    <a:pt x="1193" y="25"/>
                  </a:lnTo>
                  <a:lnTo>
                    <a:pt x="1216" y="44"/>
                  </a:lnTo>
                  <a:lnTo>
                    <a:pt x="1234" y="66"/>
                  </a:lnTo>
                  <a:lnTo>
                    <a:pt x="1248" y="93"/>
                  </a:lnTo>
                  <a:lnTo>
                    <a:pt x="1257" y="121"/>
                  </a:lnTo>
                  <a:lnTo>
                    <a:pt x="1260" y="152"/>
                  </a:lnTo>
                  <a:lnTo>
                    <a:pt x="1260" y="223"/>
                  </a:lnTo>
                  <a:lnTo>
                    <a:pt x="1329" y="245"/>
                  </a:lnTo>
                  <a:lnTo>
                    <a:pt x="1394" y="272"/>
                  </a:lnTo>
                  <a:lnTo>
                    <a:pt x="1457" y="305"/>
                  </a:lnTo>
                  <a:lnTo>
                    <a:pt x="1508" y="255"/>
                  </a:lnTo>
                  <a:lnTo>
                    <a:pt x="1527" y="239"/>
                  </a:lnTo>
                  <a:lnTo>
                    <a:pt x="1547" y="227"/>
                  </a:lnTo>
                  <a:lnTo>
                    <a:pt x="1569" y="217"/>
                  </a:lnTo>
                  <a:lnTo>
                    <a:pt x="1592" y="212"/>
                  </a:lnTo>
                  <a:lnTo>
                    <a:pt x="1616" y="210"/>
                  </a:lnTo>
                  <a:lnTo>
                    <a:pt x="1640" y="212"/>
                  </a:lnTo>
                  <a:lnTo>
                    <a:pt x="1663" y="217"/>
                  </a:lnTo>
                  <a:lnTo>
                    <a:pt x="1684" y="227"/>
                  </a:lnTo>
                  <a:lnTo>
                    <a:pt x="1705" y="239"/>
                  </a:lnTo>
                  <a:lnTo>
                    <a:pt x="1723" y="255"/>
                  </a:lnTo>
                  <a:lnTo>
                    <a:pt x="1821" y="352"/>
                  </a:lnTo>
                  <a:lnTo>
                    <a:pt x="1839" y="373"/>
                  </a:lnTo>
                  <a:lnTo>
                    <a:pt x="1852" y="397"/>
                  </a:lnTo>
                  <a:lnTo>
                    <a:pt x="1862" y="422"/>
                  </a:lnTo>
                  <a:lnTo>
                    <a:pt x="1866" y="447"/>
                  </a:lnTo>
                  <a:lnTo>
                    <a:pt x="1866" y="474"/>
                  </a:lnTo>
                  <a:lnTo>
                    <a:pt x="1862" y="499"/>
                  </a:lnTo>
                  <a:lnTo>
                    <a:pt x="1852" y="523"/>
                  </a:lnTo>
                  <a:lnTo>
                    <a:pt x="1839" y="546"/>
                  </a:lnTo>
                  <a:lnTo>
                    <a:pt x="1821" y="567"/>
                  </a:lnTo>
                  <a:lnTo>
                    <a:pt x="1771" y="618"/>
                  </a:lnTo>
                  <a:lnTo>
                    <a:pt x="1796" y="665"/>
                  </a:lnTo>
                  <a:lnTo>
                    <a:pt x="1819" y="714"/>
                  </a:lnTo>
                  <a:lnTo>
                    <a:pt x="1837" y="765"/>
                  </a:lnTo>
                  <a:lnTo>
                    <a:pt x="1853" y="816"/>
                  </a:lnTo>
                  <a:lnTo>
                    <a:pt x="1925" y="816"/>
                  </a:lnTo>
                  <a:lnTo>
                    <a:pt x="1955" y="818"/>
                  </a:lnTo>
                  <a:lnTo>
                    <a:pt x="1984" y="828"/>
                  </a:lnTo>
                  <a:lnTo>
                    <a:pt x="2010" y="842"/>
                  </a:lnTo>
                  <a:lnTo>
                    <a:pt x="2032" y="861"/>
                  </a:lnTo>
                  <a:lnTo>
                    <a:pt x="2051" y="883"/>
                  </a:lnTo>
                  <a:lnTo>
                    <a:pt x="2065" y="909"/>
                  </a:lnTo>
                  <a:lnTo>
                    <a:pt x="2075" y="938"/>
                  </a:lnTo>
                  <a:lnTo>
                    <a:pt x="2077" y="968"/>
                  </a:lnTo>
                  <a:lnTo>
                    <a:pt x="2077" y="1106"/>
                  </a:lnTo>
                  <a:lnTo>
                    <a:pt x="2075" y="1137"/>
                  </a:lnTo>
                  <a:lnTo>
                    <a:pt x="2065" y="1165"/>
                  </a:lnTo>
                  <a:lnTo>
                    <a:pt x="2051" y="1192"/>
                  </a:lnTo>
                  <a:lnTo>
                    <a:pt x="2032" y="1214"/>
                  </a:lnTo>
                  <a:lnTo>
                    <a:pt x="2010" y="1233"/>
                  </a:lnTo>
                  <a:lnTo>
                    <a:pt x="1984" y="1247"/>
                  </a:lnTo>
                  <a:lnTo>
                    <a:pt x="1955" y="1255"/>
                  </a:lnTo>
                  <a:lnTo>
                    <a:pt x="1925" y="1258"/>
                  </a:lnTo>
                  <a:lnTo>
                    <a:pt x="1925" y="1259"/>
                  </a:lnTo>
                  <a:lnTo>
                    <a:pt x="1853" y="1259"/>
                  </a:lnTo>
                  <a:lnTo>
                    <a:pt x="1831" y="1328"/>
                  </a:lnTo>
                  <a:lnTo>
                    <a:pt x="1803" y="1393"/>
                  </a:lnTo>
                  <a:lnTo>
                    <a:pt x="1771" y="1456"/>
                  </a:lnTo>
                  <a:lnTo>
                    <a:pt x="1821" y="1507"/>
                  </a:lnTo>
                  <a:lnTo>
                    <a:pt x="1839" y="1528"/>
                  </a:lnTo>
                  <a:lnTo>
                    <a:pt x="1852" y="1551"/>
                  </a:lnTo>
                  <a:lnTo>
                    <a:pt x="1862" y="1577"/>
                  </a:lnTo>
                  <a:lnTo>
                    <a:pt x="1866" y="1602"/>
                  </a:lnTo>
                  <a:lnTo>
                    <a:pt x="1866" y="1628"/>
                  </a:lnTo>
                  <a:lnTo>
                    <a:pt x="1862" y="1654"/>
                  </a:lnTo>
                  <a:lnTo>
                    <a:pt x="1852" y="1678"/>
                  </a:lnTo>
                  <a:lnTo>
                    <a:pt x="1839" y="1701"/>
                  </a:lnTo>
                  <a:lnTo>
                    <a:pt x="1821" y="1722"/>
                  </a:lnTo>
                  <a:lnTo>
                    <a:pt x="1723" y="1820"/>
                  </a:lnTo>
                  <a:lnTo>
                    <a:pt x="1705" y="1836"/>
                  </a:lnTo>
                  <a:lnTo>
                    <a:pt x="1684" y="1849"/>
                  </a:lnTo>
                  <a:lnTo>
                    <a:pt x="1663" y="1857"/>
                  </a:lnTo>
                  <a:lnTo>
                    <a:pt x="1640" y="1863"/>
                  </a:lnTo>
                  <a:lnTo>
                    <a:pt x="1616" y="1864"/>
                  </a:lnTo>
                  <a:lnTo>
                    <a:pt x="1592" y="1863"/>
                  </a:lnTo>
                  <a:lnTo>
                    <a:pt x="1569" y="1857"/>
                  </a:lnTo>
                  <a:lnTo>
                    <a:pt x="1547" y="1849"/>
                  </a:lnTo>
                  <a:lnTo>
                    <a:pt x="1527" y="1836"/>
                  </a:lnTo>
                  <a:lnTo>
                    <a:pt x="1508" y="1820"/>
                  </a:lnTo>
                  <a:lnTo>
                    <a:pt x="1457" y="1770"/>
                  </a:lnTo>
                  <a:lnTo>
                    <a:pt x="1410" y="1796"/>
                  </a:lnTo>
                  <a:lnTo>
                    <a:pt x="1361" y="1818"/>
                  </a:lnTo>
                  <a:lnTo>
                    <a:pt x="1312" y="1837"/>
                  </a:lnTo>
                  <a:lnTo>
                    <a:pt x="1260" y="1852"/>
                  </a:lnTo>
                  <a:lnTo>
                    <a:pt x="1260" y="1924"/>
                  </a:lnTo>
                  <a:lnTo>
                    <a:pt x="1257" y="1954"/>
                  </a:lnTo>
                  <a:lnTo>
                    <a:pt x="1248" y="1983"/>
                  </a:lnTo>
                  <a:lnTo>
                    <a:pt x="1234" y="2009"/>
                  </a:lnTo>
                  <a:lnTo>
                    <a:pt x="1216" y="2031"/>
                  </a:lnTo>
                  <a:lnTo>
                    <a:pt x="1193" y="2050"/>
                  </a:lnTo>
                  <a:lnTo>
                    <a:pt x="1167" y="2064"/>
                  </a:lnTo>
                  <a:lnTo>
                    <a:pt x="1139" y="2073"/>
                  </a:lnTo>
                  <a:lnTo>
                    <a:pt x="1108" y="2076"/>
                  </a:lnTo>
                  <a:lnTo>
                    <a:pt x="970" y="2076"/>
                  </a:lnTo>
                  <a:lnTo>
                    <a:pt x="938" y="2073"/>
                  </a:lnTo>
                  <a:lnTo>
                    <a:pt x="910" y="2064"/>
                  </a:lnTo>
                  <a:lnTo>
                    <a:pt x="884" y="2050"/>
                  </a:lnTo>
                  <a:lnTo>
                    <a:pt x="861" y="2031"/>
                  </a:lnTo>
                  <a:lnTo>
                    <a:pt x="843" y="2009"/>
                  </a:lnTo>
                  <a:lnTo>
                    <a:pt x="829" y="1983"/>
                  </a:lnTo>
                  <a:lnTo>
                    <a:pt x="820" y="1954"/>
                  </a:lnTo>
                  <a:lnTo>
                    <a:pt x="817" y="1924"/>
                  </a:lnTo>
                  <a:lnTo>
                    <a:pt x="817" y="1852"/>
                  </a:lnTo>
                  <a:lnTo>
                    <a:pt x="748" y="1831"/>
                  </a:lnTo>
                  <a:lnTo>
                    <a:pt x="683" y="1802"/>
                  </a:lnTo>
                  <a:lnTo>
                    <a:pt x="620" y="1770"/>
                  </a:lnTo>
                  <a:lnTo>
                    <a:pt x="569" y="1820"/>
                  </a:lnTo>
                  <a:lnTo>
                    <a:pt x="550" y="1836"/>
                  </a:lnTo>
                  <a:lnTo>
                    <a:pt x="530" y="1849"/>
                  </a:lnTo>
                  <a:lnTo>
                    <a:pt x="508" y="1857"/>
                  </a:lnTo>
                  <a:lnTo>
                    <a:pt x="486" y="1863"/>
                  </a:lnTo>
                  <a:lnTo>
                    <a:pt x="461" y="1864"/>
                  </a:lnTo>
                  <a:lnTo>
                    <a:pt x="437" y="1863"/>
                  </a:lnTo>
                  <a:lnTo>
                    <a:pt x="414" y="1857"/>
                  </a:lnTo>
                  <a:lnTo>
                    <a:pt x="393" y="1849"/>
                  </a:lnTo>
                  <a:lnTo>
                    <a:pt x="372" y="1836"/>
                  </a:lnTo>
                  <a:lnTo>
                    <a:pt x="354" y="1820"/>
                  </a:lnTo>
                  <a:lnTo>
                    <a:pt x="256" y="1722"/>
                  </a:lnTo>
                  <a:lnTo>
                    <a:pt x="238" y="1701"/>
                  </a:lnTo>
                  <a:lnTo>
                    <a:pt x="225" y="1678"/>
                  </a:lnTo>
                  <a:lnTo>
                    <a:pt x="216" y="1654"/>
                  </a:lnTo>
                  <a:lnTo>
                    <a:pt x="211" y="1628"/>
                  </a:lnTo>
                  <a:lnTo>
                    <a:pt x="211" y="1602"/>
                  </a:lnTo>
                  <a:lnTo>
                    <a:pt x="216" y="1577"/>
                  </a:lnTo>
                  <a:lnTo>
                    <a:pt x="225" y="1551"/>
                  </a:lnTo>
                  <a:lnTo>
                    <a:pt x="238" y="1528"/>
                  </a:lnTo>
                  <a:lnTo>
                    <a:pt x="256" y="1507"/>
                  </a:lnTo>
                  <a:lnTo>
                    <a:pt x="306" y="1456"/>
                  </a:lnTo>
                  <a:lnTo>
                    <a:pt x="281" y="1410"/>
                  </a:lnTo>
                  <a:lnTo>
                    <a:pt x="259" y="1360"/>
                  </a:lnTo>
                  <a:lnTo>
                    <a:pt x="240" y="1311"/>
                  </a:lnTo>
                  <a:lnTo>
                    <a:pt x="224" y="1259"/>
                  </a:lnTo>
                  <a:lnTo>
                    <a:pt x="152" y="1259"/>
                  </a:lnTo>
                  <a:lnTo>
                    <a:pt x="122" y="1256"/>
                  </a:lnTo>
                  <a:lnTo>
                    <a:pt x="93" y="1248"/>
                  </a:lnTo>
                  <a:lnTo>
                    <a:pt x="67" y="1233"/>
                  </a:lnTo>
                  <a:lnTo>
                    <a:pt x="45" y="1215"/>
                  </a:lnTo>
                  <a:lnTo>
                    <a:pt x="26" y="1192"/>
                  </a:lnTo>
                  <a:lnTo>
                    <a:pt x="12" y="1166"/>
                  </a:lnTo>
                  <a:lnTo>
                    <a:pt x="3" y="1138"/>
                  </a:lnTo>
                  <a:lnTo>
                    <a:pt x="0" y="1107"/>
                  </a:lnTo>
                  <a:lnTo>
                    <a:pt x="0" y="969"/>
                  </a:lnTo>
                  <a:lnTo>
                    <a:pt x="3" y="938"/>
                  </a:lnTo>
                  <a:lnTo>
                    <a:pt x="12" y="909"/>
                  </a:lnTo>
                  <a:lnTo>
                    <a:pt x="26" y="884"/>
                  </a:lnTo>
                  <a:lnTo>
                    <a:pt x="45" y="861"/>
                  </a:lnTo>
                  <a:lnTo>
                    <a:pt x="67" y="843"/>
                  </a:lnTo>
                  <a:lnTo>
                    <a:pt x="93" y="829"/>
                  </a:lnTo>
                  <a:lnTo>
                    <a:pt x="122" y="819"/>
                  </a:lnTo>
                  <a:lnTo>
                    <a:pt x="152" y="816"/>
                  </a:lnTo>
                  <a:lnTo>
                    <a:pt x="224" y="816"/>
                  </a:lnTo>
                  <a:lnTo>
                    <a:pt x="246" y="748"/>
                  </a:lnTo>
                  <a:lnTo>
                    <a:pt x="274" y="682"/>
                  </a:lnTo>
                  <a:lnTo>
                    <a:pt x="306" y="619"/>
                  </a:lnTo>
                  <a:lnTo>
                    <a:pt x="256" y="568"/>
                  </a:lnTo>
                  <a:lnTo>
                    <a:pt x="238" y="547"/>
                  </a:lnTo>
                  <a:lnTo>
                    <a:pt x="225" y="524"/>
                  </a:lnTo>
                  <a:lnTo>
                    <a:pt x="216" y="500"/>
                  </a:lnTo>
                  <a:lnTo>
                    <a:pt x="211" y="474"/>
                  </a:lnTo>
                  <a:lnTo>
                    <a:pt x="211" y="448"/>
                  </a:lnTo>
                  <a:lnTo>
                    <a:pt x="216" y="422"/>
                  </a:lnTo>
                  <a:lnTo>
                    <a:pt x="225" y="398"/>
                  </a:lnTo>
                  <a:lnTo>
                    <a:pt x="238" y="374"/>
                  </a:lnTo>
                  <a:lnTo>
                    <a:pt x="256" y="353"/>
                  </a:lnTo>
                  <a:lnTo>
                    <a:pt x="354" y="255"/>
                  </a:lnTo>
                  <a:lnTo>
                    <a:pt x="372" y="239"/>
                  </a:lnTo>
                  <a:lnTo>
                    <a:pt x="393" y="227"/>
                  </a:lnTo>
                  <a:lnTo>
                    <a:pt x="414" y="218"/>
                  </a:lnTo>
                  <a:lnTo>
                    <a:pt x="437" y="213"/>
                  </a:lnTo>
                  <a:lnTo>
                    <a:pt x="461" y="211"/>
                  </a:lnTo>
                  <a:lnTo>
                    <a:pt x="486" y="213"/>
                  </a:lnTo>
                  <a:lnTo>
                    <a:pt x="508" y="218"/>
                  </a:lnTo>
                  <a:lnTo>
                    <a:pt x="530" y="227"/>
                  </a:lnTo>
                  <a:lnTo>
                    <a:pt x="550" y="239"/>
                  </a:lnTo>
                  <a:lnTo>
                    <a:pt x="569" y="255"/>
                  </a:lnTo>
                  <a:lnTo>
                    <a:pt x="620" y="306"/>
                  </a:lnTo>
                  <a:lnTo>
                    <a:pt x="667" y="281"/>
                  </a:lnTo>
                  <a:lnTo>
                    <a:pt x="716" y="258"/>
                  </a:lnTo>
                  <a:lnTo>
                    <a:pt x="765" y="239"/>
                  </a:lnTo>
                  <a:lnTo>
                    <a:pt x="817" y="224"/>
                  </a:lnTo>
                  <a:lnTo>
                    <a:pt x="817" y="152"/>
                  </a:lnTo>
                  <a:lnTo>
                    <a:pt x="820" y="121"/>
                  </a:lnTo>
                  <a:lnTo>
                    <a:pt x="829" y="93"/>
                  </a:lnTo>
                  <a:lnTo>
                    <a:pt x="843" y="66"/>
                  </a:lnTo>
                  <a:lnTo>
                    <a:pt x="861" y="44"/>
                  </a:lnTo>
                  <a:lnTo>
                    <a:pt x="884" y="25"/>
                  </a:lnTo>
                  <a:lnTo>
                    <a:pt x="910" y="12"/>
                  </a:lnTo>
                  <a:lnTo>
                    <a:pt x="938" y="3"/>
                  </a:lnTo>
                  <a:lnTo>
                    <a:pt x="9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575;p13">
              <a:extLst>
                <a:ext uri="{FF2B5EF4-FFF2-40B4-BE49-F238E27FC236}">
                  <a16:creationId xmlns:a16="http://schemas.microsoft.com/office/drawing/2014/main" id="{9AD39C11-9891-FC04-F012-FAE8C42B3C78}"/>
                </a:ext>
              </a:extLst>
            </p:cNvPr>
            <p:cNvSpPr/>
            <p:nvPr/>
          </p:nvSpPr>
          <p:spPr>
            <a:xfrm>
              <a:off x="3729038" y="2011363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886" h="884" extrusionOk="0">
                  <a:moveTo>
                    <a:pt x="443" y="140"/>
                  </a:moveTo>
                  <a:lnTo>
                    <a:pt x="398" y="143"/>
                  </a:lnTo>
                  <a:lnTo>
                    <a:pt x="356" y="153"/>
                  </a:lnTo>
                  <a:lnTo>
                    <a:pt x="316" y="169"/>
                  </a:lnTo>
                  <a:lnTo>
                    <a:pt x="279" y="189"/>
                  </a:lnTo>
                  <a:lnTo>
                    <a:pt x="245" y="214"/>
                  </a:lnTo>
                  <a:lnTo>
                    <a:pt x="215" y="243"/>
                  </a:lnTo>
                  <a:lnTo>
                    <a:pt x="189" y="277"/>
                  </a:lnTo>
                  <a:lnTo>
                    <a:pt x="169" y="315"/>
                  </a:lnTo>
                  <a:lnTo>
                    <a:pt x="153" y="355"/>
                  </a:lnTo>
                  <a:lnTo>
                    <a:pt x="144" y="397"/>
                  </a:lnTo>
                  <a:lnTo>
                    <a:pt x="141" y="442"/>
                  </a:lnTo>
                  <a:lnTo>
                    <a:pt x="144" y="486"/>
                  </a:lnTo>
                  <a:lnTo>
                    <a:pt x="153" y="529"/>
                  </a:lnTo>
                  <a:lnTo>
                    <a:pt x="169" y="569"/>
                  </a:lnTo>
                  <a:lnTo>
                    <a:pt x="189" y="606"/>
                  </a:lnTo>
                  <a:lnTo>
                    <a:pt x="215" y="640"/>
                  </a:lnTo>
                  <a:lnTo>
                    <a:pt x="245" y="669"/>
                  </a:lnTo>
                  <a:lnTo>
                    <a:pt x="279" y="695"/>
                  </a:lnTo>
                  <a:lnTo>
                    <a:pt x="316" y="716"/>
                  </a:lnTo>
                  <a:lnTo>
                    <a:pt x="356" y="731"/>
                  </a:lnTo>
                  <a:lnTo>
                    <a:pt x="398" y="740"/>
                  </a:lnTo>
                  <a:lnTo>
                    <a:pt x="443" y="743"/>
                  </a:lnTo>
                  <a:lnTo>
                    <a:pt x="488" y="740"/>
                  </a:lnTo>
                  <a:lnTo>
                    <a:pt x="530" y="731"/>
                  </a:lnTo>
                  <a:lnTo>
                    <a:pt x="570" y="716"/>
                  </a:lnTo>
                  <a:lnTo>
                    <a:pt x="607" y="695"/>
                  </a:lnTo>
                  <a:lnTo>
                    <a:pt x="641" y="669"/>
                  </a:lnTo>
                  <a:lnTo>
                    <a:pt x="670" y="640"/>
                  </a:lnTo>
                  <a:lnTo>
                    <a:pt x="696" y="606"/>
                  </a:lnTo>
                  <a:lnTo>
                    <a:pt x="717" y="569"/>
                  </a:lnTo>
                  <a:lnTo>
                    <a:pt x="732" y="529"/>
                  </a:lnTo>
                  <a:lnTo>
                    <a:pt x="741" y="486"/>
                  </a:lnTo>
                  <a:lnTo>
                    <a:pt x="745" y="442"/>
                  </a:lnTo>
                  <a:lnTo>
                    <a:pt x="741" y="397"/>
                  </a:lnTo>
                  <a:lnTo>
                    <a:pt x="732" y="355"/>
                  </a:lnTo>
                  <a:lnTo>
                    <a:pt x="717" y="315"/>
                  </a:lnTo>
                  <a:lnTo>
                    <a:pt x="696" y="277"/>
                  </a:lnTo>
                  <a:lnTo>
                    <a:pt x="670" y="243"/>
                  </a:lnTo>
                  <a:lnTo>
                    <a:pt x="641" y="214"/>
                  </a:lnTo>
                  <a:lnTo>
                    <a:pt x="607" y="189"/>
                  </a:lnTo>
                  <a:lnTo>
                    <a:pt x="570" y="169"/>
                  </a:lnTo>
                  <a:lnTo>
                    <a:pt x="530" y="153"/>
                  </a:lnTo>
                  <a:lnTo>
                    <a:pt x="488" y="143"/>
                  </a:lnTo>
                  <a:lnTo>
                    <a:pt x="443" y="140"/>
                  </a:lnTo>
                  <a:close/>
                  <a:moveTo>
                    <a:pt x="443" y="0"/>
                  </a:moveTo>
                  <a:lnTo>
                    <a:pt x="494" y="3"/>
                  </a:lnTo>
                  <a:lnTo>
                    <a:pt x="544" y="11"/>
                  </a:lnTo>
                  <a:lnTo>
                    <a:pt x="592" y="25"/>
                  </a:lnTo>
                  <a:lnTo>
                    <a:pt x="638" y="45"/>
                  </a:lnTo>
                  <a:lnTo>
                    <a:pt x="680" y="68"/>
                  </a:lnTo>
                  <a:lnTo>
                    <a:pt x="719" y="97"/>
                  </a:lnTo>
                  <a:lnTo>
                    <a:pt x="756" y="130"/>
                  </a:lnTo>
                  <a:lnTo>
                    <a:pt x="788" y="165"/>
                  </a:lnTo>
                  <a:lnTo>
                    <a:pt x="816" y="205"/>
                  </a:lnTo>
                  <a:lnTo>
                    <a:pt x="840" y="248"/>
                  </a:lnTo>
                  <a:lnTo>
                    <a:pt x="859" y="293"/>
                  </a:lnTo>
                  <a:lnTo>
                    <a:pt x="873" y="340"/>
                  </a:lnTo>
                  <a:lnTo>
                    <a:pt x="883" y="390"/>
                  </a:lnTo>
                  <a:lnTo>
                    <a:pt x="886" y="442"/>
                  </a:lnTo>
                  <a:lnTo>
                    <a:pt x="883" y="493"/>
                  </a:lnTo>
                  <a:lnTo>
                    <a:pt x="873" y="543"/>
                  </a:lnTo>
                  <a:lnTo>
                    <a:pt x="859" y="590"/>
                  </a:lnTo>
                  <a:lnTo>
                    <a:pt x="840" y="636"/>
                  </a:lnTo>
                  <a:lnTo>
                    <a:pt x="816" y="679"/>
                  </a:lnTo>
                  <a:lnTo>
                    <a:pt x="788" y="718"/>
                  </a:lnTo>
                  <a:lnTo>
                    <a:pt x="756" y="754"/>
                  </a:lnTo>
                  <a:lnTo>
                    <a:pt x="719" y="787"/>
                  </a:lnTo>
                  <a:lnTo>
                    <a:pt x="680" y="815"/>
                  </a:lnTo>
                  <a:lnTo>
                    <a:pt x="638" y="839"/>
                  </a:lnTo>
                  <a:lnTo>
                    <a:pt x="592" y="858"/>
                  </a:lnTo>
                  <a:lnTo>
                    <a:pt x="544" y="872"/>
                  </a:lnTo>
                  <a:lnTo>
                    <a:pt x="494" y="880"/>
                  </a:lnTo>
                  <a:lnTo>
                    <a:pt x="443" y="884"/>
                  </a:lnTo>
                  <a:lnTo>
                    <a:pt x="392" y="880"/>
                  </a:lnTo>
                  <a:lnTo>
                    <a:pt x="341" y="872"/>
                  </a:lnTo>
                  <a:lnTo>
                    <a:pt x="294" y="858"/>
                  </a:lnTo>
                  <a:lnTo>
                    <a:pt x="248" y="839"/>
                  </a:lnTo>
                  <a:lnTo>
                    <a:pt x="206" y="815"/>
                  </a:lnTo>
                  <a:lnTo>
                    <a:pt x="166" y="787"/>
                  </a:lnTo>
                  <a:lnTo>
                    <a:pt x="130" y="754"/>
                  </a:lnTo>
                  <a:lnTo>
                    <a:pt x="97" y="718"/>
                  </a:lnTo>
                  <a:lnTo>
                    <a:pt x="70" y="679"/>
                  </a:lnTo>
                  <a:lnTo>
                    <a:pt x="46" y="636"/>
                  </a:lnTo>
                  <a:lnTo>
                    <a:pt x="27" y="590"/>
                  </a:lnTo>
                  <a:lnTo>
                    <a:pt x="12" y="543"/>
                  </a:lnTo>
                  <a:lnTo>
                    <a:pt x="4" y="493"/>
                  </a:lnTo>
                  <a:lnTo>
                    <a:pt x="0" y="442"/>
                  </a:lnTo>
                  <a:lnTo>
                    <a:pt x="4" y="390"/>
                  </a:lnTo>
                  <a:lnTo>
                    <a:pt x="12" y="340"/>
                  </a:lnTo>
                  <a:lnTo>
                    <a:pt x="27" y="293"/>
                  </a:lnTo>
                  <a:lnTo>
                    <a:pt x="46" y="248"/>
                  </a:lnTo>
                  <a:lnTo>
                    <a:pt x="70" y="205"/>
                  </a:lnTo>
                  <a:lnTo>
                    <a:pt x="97" y="165"/>
                  </a:lnTo>
                  <a:lnTo>
                    <a:pt x="130" y="130"/>
                  </a:lnTo>
                  <a:lnTo>
                    <a:pt x="166" y="97"/>
                  </a:lnTo>
                  <a:lnTo>
                    <a:pt x="206" y="68"/>
                  </a:lnTo>
                  <a:lnTo>
                    <a:pt x="248" y="45"/>
                  </a:lnTo>
                  <a:lnTo>
                    <a:pt x="294" y="25"/>
                  </a:lnTo>
                  <a:lnTo>
                    <a:pt x="341" y="11"/>
                  </a:lnTo>
                  <a:lnTo>
                    <a:pt x="392" y="3"/>
                  </a:lnTo>
                  <a:lnTo>
                    <a:pt x="4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576;p13">
              <a:extLst>
                <a:ext uri="{FF2B5EF4-FFF2-40B4-BE49-F238E27FC236}">
                  <a16:creationId xmlns:a16="http://schemas.microsoft.com/office/drawing/2014/main" id="{31590C36-504E-ACEA-B849-85C3569EB399}"/>
                </a:ext>
              </a:extLst>
            </p:cNvPr>
            <p:cNvSpPr/>
            <p:nvPr/>
          </p:nvSpPr>
          <p:spPr>
            <a:xfrm>
              <a:off x="3471863" y="2006601"/>
              <a:ext cx="403225" cy="460375"/>
            </a:xfrm>
            <a:custGeom>
              <a:avLst/>
              <a:gdLst/>
              <a:ahLst/>
              <a:cxnLst/>
              <a:rect l="l" t="t" r="r" b="b"/>
              <a:pathLst>
                <a:path w="2541" h="2906" extrusionOk="0">
                  <a:moveTo>
                    <a:pt x="1063" y="0"/>
                  </a:moveTo>
                  <a:lnTo>
                    <a:pt x="1082" y="1"/>
                  </a:lnTo>
                  <a:lnTo>
                    <a:pt x="1098" y="8"/>
                  </a:lnTo>
                  <a:lnTo>
                    <a:pt x="1113" y="17"/>
                  </a:lnTo>
                  <a:lnTo>
                    <a:pt x="1125" y="31"/>
                  </a:lnTo>
                  <a:lnTo>
                    <a:pt x="1133" y="48"/>
                  </a:lnTo>
                  <a:lnTo>
                    <a:pt x="1137" y="66"/>
                  </a:lnTo>
                  <a:lnTo>
                    <a:pt x="1135" y="85"/>
                  </a:lnTo>
                  <a:lnTo>
                    <a:pt x="1130" y="102"/>
                  </a:lnTo>
                  <a:lnTo>
                    <a:pt x="1121" y="116"/>
                  </a:lnTo>
                  <a:lnTo>
                    <a:pt x="1107" y="128"/>
                  </a:lnTo>
                  <a:lnTo>
                    <a:pt x="1090" y="136"/>
                  </a:lnTo>
                  <a:lnTo>
                    <a:pt x="1036" y="156"/>
                  </a:lnTo>
                  <a:lnTo>
                    <a:pt x="983" y="180"/>
                  </a:lnTo>
                  <a:lnTo>
                    <a:pt x="917" y="214"/>
                  </a:lnTo>
                  <a:lnTo>
                    <a:pt x="854" y="252"/>
                  </a:lnTo>
                  <a:lnTo>
                    <a:pt x="793" y="295"/>
                  </a:lnTo>
                  <a:lnTo>
                    <a:pt x="736" y="341"/>
                  </a:lnTo>
                  <a:lnTo>
                    <a:pt x="684" y="392"/>
                  </a:lnTo>
                  <a:lnTo>
                    <a:pt x="634" y="444"/>
                  </a:lnTo>
                  <a:lnTo>
                    <a:pt x="590" y="501"/>
                  </a:lnTo>
                  <a:lnTo>
                    <a:pt x="549" y="561"/>
                  </a:lnTo>
                  <a:lnTo>
                    <a:pt x="512" y="624"/>
                  </a:lnTo>
                  <a:lnTo>
                    <a:pt x="479" y="688"/>
                  </a:lnTo>
                  <a:lnTo>
                    <a:pt x="452" y="755"/>
                  </a:lnTo>
                  <a:lnTo>
                    <a:pt x="428" y="824"/>
                  </a:lnTo>
                  <a:lnTo>
                    <a:pt x="409" y="895"/>
                  </a:lnTo>
                  <a:lnTo>
                    <a:pt x="397" y="966"/>
                  </a:lnTo>
                  <a:lnTo>
                    <a:pt x="388" y="1040"/>
                  </a:lnTo>
                  <a:lnTo>
                    <a:pt x="386" y="1114"/>
                  </a:lnTo>
                  <a:lnTo>
                    <a:pt x="386" y="1297"/>
                  </a:lnTo>
                  <a:lnTo>
                    <a:pt x="384" y="1314"/>
                  </a:lnTo>
                  <a:lnTo>
                    <a:pt x="378" y="1330"/>
                  </a:lnTo>
                  <a:lnTo>
                    <a:pt x="154" y="1758"/>
                  </a:lnTo>
                  <a:lnTo>
                    <a:pt x="147" y="1775"/>
                  </a:lnTo>
                  <a:lnTo>
                    <a:pt x="141" y="1791"/>
                  </a:lnTo>
                  <a:lnTo>
                    <a:pt x="139" y="1806"/>
                  </a:lnTo>
                  <a:lnTo>
                    <a:pt x="140" y="1818"/>
                  </a:lnTo>
                  <a:lnTo>
                    <a:pt x="145" y="1829"/>
                  </a:lnTo>
                  <a:lnTo>
                    <a:pt x="154" y="1838"/>
                  </a:lnTo>
                  <a:lnTo>
                    <a:pt x="169" y="1846"/>
                  </a:lnTo>
                  <a:lnTo>
                    <a:pt x="188" y="1851"/>
                  </a:lnTo>
                  <a:lnTo>
                    <a:pt x="211" y="1852"/>
                  </a:lnTo>
                  <a:lnTo>
                    <a:pt x="317" y="1852"/>
                  </a:lnTo>
                  <a:lnTo>
                    <a:pt x="336" y="1855"/>
                  </a:lnTo>
                  <a:lnTo>
                    <a:pt x="352" y="1862"/>
                  </a:lnTo>
                  <a:lnTo>
                    <a:pt x="366" y="1873"/>
                  </a:lnTo>
                  <a:lnTo>
                    <a:pt x="377" y="1887"/>
                  </a:lnTo>
                  <a:lnTo>
                    <a:pt x="384" y="1904"/>
                  </a:lnTo>
                  <a:lnTo>
                    <a:pt x="386" y="1923"/>
                  </a:lnTo>
                  <a:lnTo>
                    <a:pt x="386" y="2330"/>
                  </a:lnTo>
                  <a:lnTo>
                    <a:pt x="389" y="2362"/>
                  </a:lnTo>
                  <a:lnTo>
                    <a:pt x="399" y="2392"/>
                  </a:lnTo>
                  <a:lnTo>
                    <a:pt x="414" y="2418"/>
                  </a:lnTo>
                  <a:lnTo>
                    <a:pt x="433" y="2443"/>
                  </a:lnTo>
                  <a:lnTo>
                    <a:pt x="456" y="2463"/>
                  </a:lnTo>
                  <a:lnTo>
                    <a:pt x="482" y="2477"/>
                  </a:lnTo>
                  <a:lnTo>
                    <a:pt x="512" y="2487"/>
                  </a:lnTo>
                  <a:lnTo>
                    <a:pt x="543" y="2491"/>
                  </a:lnTo>
                  <a:lnTo>
                    <a:pt x="856" y="2445"/>
                  </a:lnTo>
                  <a:lnTo>
                    <a:pt x="870" y="2444"/>
                  </a:lnTo>
                  <a:lnTo>
                    <a:pt x="885" y="2447"/>
                  </a:lnTo>
                  <a:lnTo>
                    <a:pt x="899" y="2452"/>
                  </a:lnTo>
                  <a:lnTo>
                    <a:pt x="912" y="2461"/>
                  </a:lnTo>
                  <a:lnTo>
                    <a:pt x="924" y="2476"/>
                  </a:lnTo>
                  <a:lnTo>
                    <a:pt x="933" y="2494"/>
                  </a:lnTo>
                  <a:lnTo>
                    <a:pt x="936" y="2514"/>
                  </a:lnTo>
                  <a:lnTo>
                    <a:pt x="936" y="2764"/>
                  </a:lnTo>
                  <a:lnTo>
                    <a:pt x="2099" y="2764"/>
                  </a:lnTo>
                  <a:lnTo>
                    <a:pt x="2099" y="1925"/>
                  </a:lnTo>
                  <a:lnTo>
                    <a:pt x="2101" y="1906"/>
                  </a:lnTo>
                  <a:lnTo>
                    <a:pt x="2109" y="1888"/>
                  </a:lnTo>
                  <a:lnTo>
                    <a:pt x="2121" y="1873"/>
                  </a:lnTo>
                  <a:lnTo>
                    <a:pt x="2175" y="1820"/>
                  </a:lnTo>
                  <a:lnTo>
                    <a:pt x="2224" y="1763"/>
                  </a:lnTo>
                  <a:lnTo>
                    <a:pt x="2270" y="1703"/>
                  </a:lnTo>
                  <a:lnTo>
                    <a:pt x="2310" y="1640"/>
                  </a:lnTo>
                  <a:lnTo>
                    <a:pt x="2347" y="1575"/>
                  </a:lnTo>
                  <a:lnTo>
                    <a:pt x="2377" y="1506"/>
                  </a:lnTo>
                  <a:lnTo>
                    <a:pt x="2404" y="1436"/>
                  </a:lnTo>
                  <a:lnTo>
                    <a:pt x="2412" y="1419"/>
                  </a:lnTo>
                  <a:lnTo>
                    <a:pt x="2424" y="1405"/>
                  </a:lnTo>
                  <a:lnTo>
                    <a:pt x="2438" y="1395"/>
                  </a:lnTo>
                  <a:lnTo>
                    <a:pt x="2455" y="1389"/>
                  </a:lnTo>
                  <a:lnTo>
                    <a:pt x="2474" y="1388"/>
                  </a:lnTo>
                  <a:lnTo>
                    <a:pt x="2492" y="1391"/>
                  </a:lnTo>
                  <a:lnTo>
                    <a:pt x="2509" y="1400"/>
                  </a:lnTo>
                  <a:lnTo>
                    <a:pt x="2523" y="1411"/>
                  </a:lnTo>
                  <a:lnTo>
                    <a:pt x="2533" y="1426"/>
                  </a:lnTo>
                  <a:lnTo>
                    <a:pt x="2539" y="1443"/>
                  </a:lnTo>
                  <a:lnTo>
                    <a:pt x="2541" y="1461"/>
                  </a:lnTo>
                  <a:lnTo>
                    <a:pt x="2537" y="1480"/>
                  </a:lnTo>
                  <a:lnTo>
                    <a:pt x="2509" y="1556"/>
                  </a:lnTo>
                  <a:lnTo>
                    <a:pt x="2476" y="1630"/>
                  </a:lnTo>
                  <a:lnTo>
                    <a:pt x="2438" y="1701"/>
                  </a:lnTo>
                  <a:lnTo>
                    <a:pt x="2395" y="1770"/>
                  </a:lnTo>
                  <a:lnTo>
                    <a:pt x="2348" y="1835"/>
                  </a:lnTo>
                  <a:lnTo>
                    <a:pt x="2295" y="1896"/>
                  </a:lnTo>
                  <a:lnTo>
                    <a:pt x="2239" y="1955"/>
                  </a:lnTo>
                  <a:lnTo>
                    <a:pt x="2239" y="2835"/>
                  </a:lnTo>
                  <a:lnTo>
                    <a:pt x="2236" y="2854"/>
                  </a:lnTo>
                  <a:lnTo>
                    <a:pt x="2230" y="2871"/>
                  </a:lnTo>
                  <a:lnTo>
                    <a:pt x="2218" y="2884"/>
                  </a:lnTo>
                  <a:lnTo>
                    <a:pt x="2204" y="2896"/>
                  </a:lnTo>
                  <a:lnTo>
                    <a:pt x="2187" y="2902"/>
                  </a:lnTo>
                  <a:lnTo>
                    <a:pt x="2168" y="2906"/>
                  </a:lnTo>
                  <a:lnTo>
                    <a:pt x="865" y="2906"/>
                  </a:lnTo>
                  <a:lnTo>
                    <a:pt x="847" y="2902"/>
                  </a:lnTo>
                  <a:lnTo>
                    <a:pt x="830" y="2896"/>
                  </a:lnTo>
                  <a:lnTo>
                    <a:pt x="816" y="2884"/>
                  </a:lnTo>
                  <a:lnTo>
                    <a:pt x="805" y="2871"/>
                  </a:lnTo>
                  <a:lnTo>
                    <a:pt x="798" y="2854"/>
                  </a:lnTo>
                  <a:lnTo>
                    <a:pt x="796" y="2835"/>
                  </a:lnTo>
                  <a:lnTo>
                    <a:pt x="796" y="2596"/>
                  </a:lnTo>
                  <a:lnTo>
                    <a:pt x="558" y="2631"/>
                  </a:lnTo>
                  <a:lnTo>
                    <a:pt x="555" y="2631"/>
                  </a:lnTo>
                  <a:lnTo>
                    <a:pt x="551" y="2631"/>
                  </a:lnTo>
                  <a:lnTo>
                    <a:pt x="549" y="2630"/>
                  </a:lnTo>
                  <a:lnTo>
                    <a:pt x="503" y="2627"/>
                  </a:lnTo>
                  <a:lnTo>
                    <a:pt x="461" y="2618"/>
                  </a:lnTo>
                  <a:lnTo>
                    <a:pt x="421" y="2602"/>
                  </a:lnTo>
                  <a:lnTo>
                    <a:pt x="384" y="2582"/>
                  </a:lnTo>
                  <a:lnTo>
                    <a:pt x="350" y="2557"/>
                  </a:lnTo>
                  <a:lnTo>
                    <a:pt x="321" y="2526"/>
                  </a:lnTo>
                  <a:lnTo>
                    <a:pt x="295" y="2493"/>
                  </a:lnTo>
                  <a:lnTo>
                    <a:pt x="274" y="2455"/>
                  </a:lnTo>
                  <a:lnTo>
                    <a:pt x="260" y="2415"/>
                  </a:lnTo>
                  <a:lnTo>
                    <a:pt x="249" y="2373"/>
                  </a:lnTo>
                  <a:lnTo>
                    <a:pt x="246" y="2329"/>
                  </a:lnTo>
                  <a:lnTo>
                    <a:pt x="246" y="1991"/>
                  </a:lnTo>
                  <a:lnTo>
                    <a:pt x="211" y="1991"/>
                  </a:lnTo>
                  <a:lnTo>
                    <a:pt x="176" y="1989"/>
                  </a:lnTo>
                  <a:lnTo>
                    <a:pt x="143" y="1983"/>
                  </a:lnTo>
                  <a:lnTo>
                    <a:pt x="114" y="1973"/>
                  </a:lnTo>
                  <a:lnTo>
                    <a:pt x="87" y="1961"/>
                  </a:lnTo>
                  <a:lnTo>
                    <a:pt x="62" y="1944"/>
                  </a:lnTo>
                  <a:lnTo>
                    <a:pt x="41" y="1924"/>
                  </a:lnTo>
                  <a:lnTo>
                    <a:pt x="24" y="1900"/>
                  </a:lnTo>
                  <a:lnTo>
                    <a:pt x="12" y="1874"/>
                  </a:lnTo>
                  <a:lnTo>
                    <a:pt x="3" y="1846"/>
                  </a:lnTo>
                  <a:lnTo>
                    <a:pt x="0" y="1817"/>
                  </a:lnTo>
                  <a:lnTo>
                    <a:pt x="0" y="1787"/>
                  </a:lnTo>
                  <a:lnTo>
                    <a:pt x="5" y="1756"/>
                  </a:lnTo>
                  <a:lnTo>
                    <a:pt x="16" y="1724"/>
                  </a:lnTo>
                  <a:lnTo>
                    <a:pt x="30" y="1693"/>
                  </a:lnTo>
                  <a:lnTo>
                    <a:pt x="247" y="1279"/>
                  </a:lnTo>
                  <a:lnTo>
                    <a:pt x="247" y="1114"/>
                  </a:lnTo>
                  <a:lnTo>
                    <a:pt x="250" y="1034"/>
                  </a:lnTo>
                  <a:lnTo>
                    <a:pt x="257" y="956"/>
                  </a:lnTo>
                  <a:lnTo>
                    <a:pt x="271" y="878"/>
                  </a:lnTo>
                  <a:lnTo>
                    <a:pt x="289" y="802"/>
                  </a:lnTo>
                  <a:lnTo>
                    <a:pt x="313" y="728"/>
                  </a:lnTo>
                  <a:lnTo>
                    <a:pt x="341" y="655"/>
                  </a:lnTo>
                  <a:lnTo>
                    <a:pt x="374" y="586"/>
                  </a:lnTo>
                  <a:lnTo>
                    <a:pt x="412" y="518"/>
                  </a:lnTo>
                  <a:lnTo>
                    <a:pt x="453" y="453"/>
                  </a:lnTo>
                  <a:lnTo>
                    <a:pt x="498" y="390"/>
                  </a:lnTo>
                  <a:lnTo>
                    <a:pt x="549" y="330"/>
                  </a:lnTo>
                  <a:lnTo>
                    <a:pt x="602" y="274"/>
                  </a:lnTo>
                  <a:lnTo>
                    <a:pt x="659" y="223"/>
                  </a:lnTo>
                  <a:lnTo>
                    <a:pt x="721" y="173"/>
                  </a:lnTo>
                  <a:lnTo>
                    <a:pt x="785" y="129"/>
                  </a:lnTo>
                  <a:lnTo>
                    <a:pt x="854" y="89"/>
                  </a:lnTo>
                  <a:lnTo>
                    <a:pt x="924" y="52"/>
                  </a:lnTo>
                  <a:lnTo>
                    <a:pt x="983" y="27"/>
                  </a:lnTo>
                  <a:lnTo>
                    <a:pt x="1045" y="3"/>
                  </a:lnTo>
                  <a:lnTo>
                    <a:pt x="10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568;p13">
            <a:extLst>
              <a:ext uri="{FF2B5EF4-FFF2-40B4-BE49-F238E27FC236}">
                <a16:creationId xmlns:a16="http://schemas.microsoft.com/office/drawing/2014/main" id="{70A65E99-7C17-F05F-F6FD-5769EEA4C636}"/>
              </a:ext>
            </a:extLst>
          </p:cNvPr>
          <p:cNvSpPr txBox="1"/>
          <p:nvPr/>
        </p:nvSpPr>
        <p:spPr>
          <a:xfrm>
            <a:off x="7189634" y="2490502"/>
            <a:ext cx="71493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Interests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36" name="Google Shape;583;p13">
            <a:extLst>
              <a:ext uri="{FF2B5EF4-FFF2-40B4-BE49-F238E27FC236}">
                <a16:creationId xmlns:a16="http://schemas.microsoft.com/office/drawing/2014/main" id="{9BA918EB-0718-BD14-7123-90727BA5873B}"/>
              </a:ext>
            </a:extLst>
          </p:cNvPr>
          <p:cNvSpPr txBox="1"/>
          <p:nvPr/>
        </p:nvSpPr>
        <p:spPr>
          <a:xfrm>
            <a:off x="7189634" y="2725120"/>
            <a:ext cx="20116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en-US" sz="1000" dirty="0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Sports, leisure activities,</a:t>
            </a:r>
          </a:p>
          <a:p>
            <a:pPr lvl="0">
              <a:buClr>
                <a:schemeClr val="dk1"/>
              </a:buClr>
              <a:buSzPts val="1200"/>
            </a:pPr>
            <a:r>
              <a:rPr lang="en-US" sz="1000" dirty="0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hobbies, entertainment, etc. </a:t>
            </a:r>
          </a:p>
        </p:txBody>
      </p:sp>
      <p:pic>
        <p:nvPicPr>
          <p:cNvPr id="40" name="Google Shape;577;p13">
            <a:extLst>
              <a:ext uri="{FF2B5EF4-FFF2-40B4-BE49-F238E27FC236}">
                <a16:creationId xmlns:a16="http://schemas.microsoft.com/office/drawing/2014/main" id="{F82B073A-D232-4EAB-CD3D-202CFA85128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51567" y="1085142"/>
            <a:ext cx="274320" cy="24002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568;p13">
            <a:extLst>
              <a:ext uri="{FF2B5EF4-FFF2-40B4-BE49-F238E27FC236}">
                <a16:creationId xmlns:a16="http://schemas.microsoft.com/office/drawing/2014/main" id="{87E1FB5A-6810-9DAE-078F-12679C30E075}"/>
              </a:ext>
            </a:extLst>
          </p:cNvPr>
          <p:cNvSpPr txBox="1"/>
          <p:nvPr/>
        </p:nvSpPr>
        <p:spPr>
          <a:xfrm>
            <a:off x="9598075" y="1048770"/>
            <a:ext cx="7197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Behavior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42" name="Google Shape;583;p13">
            <a:extLst>
              <a:ext uri="{FF2B5EF4-FFF2-40B4-BE49-F238E27FC236}">
                <a16:creationId xmlns:a16="http://schemas.microsoft.com/office/drawing/2014/main" id="{AA7A5B2A-1D56-F21F-FB9A-934295D8B45C}"/>
              </a:ext>
            </a:extLst>
          </p:cNvPr>
          <p:cNvSpPr txBox="1"/>
          <p:nvPr/>
        </p:nvSpPr>
        <p:spPr>
          <a:xfrm>
            <a:off x="9598075" y="1283388"/>
            <a:ext cx="20116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Charitable activities, community activities, etc.</a:t>
            </a:r>
          </a:p>
        </p:txBody>
      </p:sp>
      <p:pic>
        <p:nvPicPr>
          <p:cNvPr id="43" name="Google Shape;578;p13">
            <a:extLst>
              <a:ext uri="{FF2B5EF4-FFF2-40B4-BE49-F238E27FC236}">
                <a16:creationId xmlns:a16="http://schemas.microsoft.com/office/drawing/2014/main" id="{C6C7AD2B-3FB3-50C8-ED9E-657E1C94DA7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97287" y="1865910"/>
            <a:ext cx="182880" cy="28041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568;p13">
            <a:extLst>
              <a:ext uri="{FF2B5EF4-FFF2-40B4-BE49-F238E27FC236}">
                <a16:creationId xmlns:a16="http://schemas.microsoft.com/office/drawing/2014/main" id="{166ECA23-CB36-F21E-7371-CB75ECB41323}"/>
              </a:ext>
            </a:extLst>
          </p:cNvPr>
          <p:cNvSpPr txBox="1"/>
          <p:nvPr/>
        </p:nvSpPr>
        <p:spPr>
          <a:xfrm>
            <a:off x="9598075" y="1817265"/>
            <a:ext cx="151804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en-US" sz="1200" b="1" i="0" u="none" strike="noStrike" cap="none">
                <a:solidFill>
                  <a:srgbClr val="592E84"/>
                </a:solidFill>
                <a:latin typeface="Montserrat" pitchFamily="2" charset="77"/>
                <a:ea typeface="Arial"/>
                <a:cs typeface="Arial"/>
                <a:sym typeface="Arial"/>
              </a:rPr>
              <a:t>Purchase Behavior</a:t>
            </a:r>
            <a:endParaRPr sz="1200">
              <a:solidFill>
                <a:srgbClr val="592E84"/>
              </a:solidFill>
              <a:latin typeface="Montserrat" pitchFamily="2" charset="77"/>
            </a:endParaRPr>
          </a:p>
        </p:txBody>
      </p:sp>
      <p:sp>
        <p:nvSpPr>
          <p:cNvPr id="45" name="Google Shape;583;p13">
            <a:extLst>
              <a:ext uri="{FF2B5EF4-FFF2-40B4-BE49-F238E27FC236}">
                <a16:creationId xmlns:a16="http://schemas.microsoft.com/office/drawing/2014/main" id="{08AA370F-2614-B381-F1A0-5EAE683B23D5}"/>
              </a:ext>
            </a:extLst>
          </p:cNvPr>
          <p:cNvSpPr txBox="1"/>
          <p:nvPr/>
        </p:nvSpPr>
        <p:spPr>
          <a:xfrm>
            <a:off x="9598075" y="2051883"/>
            <a:ext cx="20116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en-US" sz="1000">
                <a:solidFill>
                  <a:schemeClr val="dk1"/>
                </a:solidFill>
                <a:latin typeface="Montserrat" pitchFamily="2" charset="77"/>
                <a:ea typeface="Arial"/>
                <a:cs typeface="Arial"/>
                <a:sym typeface="Arial"/>
              </a:rPr>
              <a:t>Method of payment, products purchased, channel used for purchases, etc.</a:t>
            </a:r>
          </a:p>
        </p:txBody>
      </p:sp>
      <p:sp>
        <p:nvSpPr>
          <p:cNvPr id="46" name="Google Shape;677;p8">
            <a:extLst>
              <a:ext uri="{FF2B5EF4-FFF2-40B4-BE49-F238E27FC236}">
                <a16:creationId xmlns:a16="http://schemas.microsoft.com/office/drawing/2014/main" id="{1255ABE7-B42F-C13F-D697-7A284E063060}"/>
              </a:ext>
            </a:extLst>
          </p:cNvPr>
          <p:cNvSpPr/>
          <p:nvPr/>
        </p:nvSpPr>
        <p:spPr>
          <a:xfrm>
            <a:off x="6719462" y="391896"/>
            <a:ext cx="3624010" cy="417068"/>
          </a:xfrm>
          <a:prstGeom prst="rect">
            <a:avLst/>
          </a:prstGeom>
          <a:solidFill>
            <a:srgbClr val="56277C"/>
          </a:solidFill>
          <a:ln>
            <a:noFill/>
          </a:ln>
        </p:spPr>
        <p:txBody>
          <a:bodyPr spcFirstLastPara="1" wrap="square" lIns="274320" tIns="0" rIns="0" bIns="0" anchor="ctr" anchorCtr="0">
            <a:noAutofit/>
          </a:bodyPr>
          <a:lstStyle/>
          <a:p>
            <a:pPr lvl="0">
              <a:buClr>
                <a:srgbClr val="451F63"/>
              </a:buClr>
              <a:buSzPts val="1600"/>
            </a:pPr>
            <a:r>
              <a:rPr lang="en-US" sz="1200" b="1">
                <a:solidFill>
                  <a:schemeClr val="bg1"/>
                </a:solidFill>
                <a:latin typeface="Montserrat"/>
                <a:ea typeface="Arial"/>
                <a:cs typeface="Arial"/>
                <a:sym typeface="Arial"/>
              </a:rPr>
              <a:t>CONSUMER ESSENTIALS ATTRIBUTES:</a:t>
            </a:r>
          </a:p>
        </p:txBody>
      </p:sp>
      <p:sp>
        <p:nvSpPr>
          <p:cNvPr id="47" name="Google Shape;677;p8">
            <a:extLst>
              <a:ext uri="{FF2B5EF4-FFF2-40B4-BE49-F238E27FC236}">
                <a16:creationId xmlns:a16="http://schemas.microsoft.com/office/drawing/2014/main" id="{DB28A9F4-0FE5-43C8-4F01-C21E48C7C485}"/>
              </a:ext>
            </a:extLst>
          </p:cNvPr>
          <p:cNvSpPr/>
          <p:nvPr/>
        </p:nvSpPr>
        <p:spPr>
          <a:xfrm>
            <a:off x="6714072" y="3333164"/>
            <a:ext cx="3629400" cy="417068"/>
          </a:xfrm>
          <a:prstGeom prst="rect">
            <a:avLst/>
          </a:prstGeom>
          <a:solidFill>
            <a:srgbClr val="EADBFF"/>
          </a:solidFill>
          <a:ln>
            <a:noFill/>
          </a:ln>
        </p:spPr>
        <p:txBody>
          <a:bodyPr spcFirstLastPara="1" wrap="square" lIns="274320" tIns="0" rIns="0" bIns="0" anchor="ctr" anchorCtr="0">
            <a:noAutofit/>
          </a:bodyPr>
          <a:lstStyle/>
          <a:p>
            <a:pPr lvl="0">
              <a:buClr>
                <a:srgbClr val="451F63"/>
              </a:buClr>
              <a:buSzPts val="1600"/>
            </a:pPr>
            <a:r>
              <a:rPr lang="en-US" sz="1200" b="1" dirty="0">
                <a:solidFill>
                  <a:srgbClr val="461378"/>
                </a:solidFill>
                <a:latin typeface="Montserrat" pitchFamily="2" charset="77"/>
                <a:ea typeface="Arial"/>
                <a:cs typeface="Arial"/>
                <a:sym typeface="Arial"/>
              </a:rPr>
              <a:t>PREMIUM ATTRIBUTES:</a:t>
            </a:r>
          </a:p>
        </p:txBody>
      </p:sp>
    </p:spTree>
    <p:extLst>
      <p:ext uri="{BB962C8B-B14F-4D97-AF65-F5344CB8AC3E}">
        <p14:creationId xmlns:p14="http://schemas.microsoft.com/office/powerpoint/2010/main" val="25114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77961C1A-6470-EC4C-9179-58A978A5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5630606" cy="749167"/>
          </a:xfrm>
        </p:spPr>
        <p:txBody>
          <a:bodyPr/>
          <a:lstStyle/>
          <a:p>
            <a:r>
              <a:rPr lang="en-US" dirty="0"/>
              <a:t>Adstra Services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81654E8A-CE50-D648-96FB-ECE134BC4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8639" y="1248592"/>
            <a:ext cx="7432385" cy="1947672"/>
          </a:xfrm>
        </p:spPr>
        <p:txBody>
          <a:bodyPr>
            <a:normAutofit/>
          </a:bodyPr>
          <a:lstStyle/>
          <a:p>
            <a:r>
              <a:rPr lang="en-US" b="1" dirty="0"/>
              <a:t>Expand Data-Driven Results Across All Your Marketing</a:t>
            </a:r>
          </a:p>
          <a:p>
            <a:r>
              <a:rPr lang="en-US" dirty="0"/>
              <a:t>Get a complete grasp of your marketing execution through better agnostic data-driven decisions. With our expertise and comprehensive services, we help marketers optimize campaigns and connect with the ideal audience to create new possibilities and higher ROI performance.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F826EC-FB87-2D47-B675-54D8BA7352CC}"/>
              </a:ext>
            </a:extLst>
          </p:cNvPr>
          <p:cNvGrpSpPr/>
          <p:nvPr/>
        </p:nvGrpSpPr>
        <p:grpSpPr>
          <a:xfrm>
            <a:off x="548640" y="4749771"/>
            <a:ext cx="4096289" cy="254000"/>
            <a:chOff x="7150834" y="1950008"/>
            <a:chExt cx="4096289" cy="25400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EB8905F-91AA-854B-A3C8-8B34ED5CB40C}"/>
                </a:ext>
              </a:extLst>
            </p:cNvPr>
            <p:cNvSpPr txBox="1"/>
            <p:nvPr/>
          </p:nvSpPr>
          <p:spPr>
            <a:xfrm>
              <a:off x="7589523" y="1950008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Customer Acquisition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C1441F6E-8C08-5247-989F-C34F172D3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4" y="1950008"/>
              <a:ext cx="241300" cy="254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9C8E18E-67C8-6946-9F80-589571BA3067}"/>
              </a:ext>
            </a:extLst>
          </p:cNvPr>
          <p:cNvGrpSpPr/>
          <p:nvPr/>
        </p:nvGrpSpPr>
        <p:grpSpPr>
          <a:xfrm>
            <a:off x="3550023" y="4749771"/>
            <a:ext cx="4096289" cy="254000"/>
            <a:chOff x="7150832" y="4078584"/>
            <a:chExt cx="4096289" cy="25400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FBA1DCD-98C5-2A49-85EB-5B221635BEF2}"/>
                </a:ext>
              </a:extLst>
            </p:cNvPr>
            <p:cNvSpPr txBox="1"/>
            <p:nvPr/>
          </p:nvSpPr>
          <p:spPr>
            <a:xfrm>
              <a:off x="7589521" y="4078584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Analytics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3556B9D-40D1-1540-8195-F0296DFD89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2" y="4078584"/>
              <a:ext cx="241300" cy="254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41215D-B483-FC46-8B4C-1D6E2CDD58E6}"/>
              </a:ext>
            </a:extLst>
          </p:cNvPr>
          <p:cNvGrpSpPr/>
          <p:nvPr/>
        </p:nvGrpSpPr>
        <p:grpSpPr>
          <a:xfrm>
            <a:off x="548640" y="5330762"/>
            <a:ext cx="4096289" cy="745765"/>
            <a:chOff x="7150831" y="5142872"/>
            <a:chExt cx="4096289" cy="745765"/>
          </a:xfrm>
        </p:grpSpPr>
        <p:sp>
          <p:nvSpPr>
            <p:cNvPr id="47" name="Content Placeholder 4">
              <a:extLst>
                <a:ext uri="{FF2B5EF4-FFF2-40B4-BE49-F238E27FC236}">
                  <a16:creationId xmlns:a16="http://schemas.microsoft.com/office/drawing/2014/main" id="{94A66DB5-43DE-874E-9BC4-15C372594E4D}"/>
                </a:ext>
              </a:extLst>
            </p:cNvPr>
            <p:cNvSpPr txBox="1">
              <a:spLocks/>
            </p:cNvSpPr>
            <p:nvPr/>
          </p:nvSpPr>
          <p:spPr>
            <a:xfrm>
              <a:off x="7589520" y="5446657"/>
              <a:ext cx="3657600" cy="44198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 marL="0" marR="0" indent="0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None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1pPr>
              <a:lvl2pPr marL="220256" marR="0" indent="-213112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2pPr>
              <a:lvl3pPr marL="388124" marR="0" indent="-167871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 typeface="System Font Regular"/>
                <a:buChar char="-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3pPr>
              <a:lvl4pPr marL="952452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4pPr>
              <a:lvl5pPr marL="1190565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5pPr>
              <a:lvl6pPr marL="1428678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1666791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1904906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2143019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  <a:latin typeface="Montserrat" panose="00000500000000000000" pitchFamily="2" charset="0"/>
                </a:rPr>
                <a:t>Merge/Purge</a:t>
              </a:r>
            </a:p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  <a:latin typeface="Montserrat" panose="00000500000000000000" pitchFamily="2" charset="0"/>
                </a:rPr>
                <a:t>List Fulfillment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E9E8CBF-54F0-8D49-8F9E-3FFB4B021B41}"/>
                </a:ext>
              </a:extLst>
            </p:cNvPr>
            <p:cNvSpPr txBox="1"/>
            <p:nvPr/>
          </p:nvSpPr>
          <p:spPr>
            <a:xfrm>
              <a:off x="7589520" y="5142872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Processing</a:t>
              </a:r>
              <a:endParaRPr kumimoji="0" lang="en-US" sz="1600" b="1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21A781BE-B0A4-F141-80BA-EEEFEAE29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1" y="5142872"/>
              <a:ext cx="241300" cy="254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C8E5EB-24BB-2742-B345-872855C50F26}"/>
              </a:ext>
            </a:extLst>
          </p:cNvPr>
          <p:cNvGrpSpPr/>
          <p:nvPr/>
        </p:nvGrpSpPr>
        <p:grpSpPr>
          <a:xfrm>
            <a:off x="3550023" y="5330762"/>
            <a:ext cx="4096289" cy="254000"/>
            <a:chOff x="7150832" y="4078584"/>
            <a:chExt cx="4096289" cy="25400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DC4C81B-A4A2-3543-A72E-CDE907370377}"/>
                </a:ext>
              </a:extLst>
            </p:cNvPr>
            <p:cNvSpPr txBox="1"/>
            <p:nvPr/>
          </p:nvSpPr>
          <p:spPr>
            <a:xfrm>
              <a:off x="7589521" y="4078584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Monetization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EF157F3E-6E7C-EF4C-B8D0-84C7DDE6CC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2" y="4078584"/>
              <a:ext cx="241300" cy="25400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BB18B30-510C-B240-A577-E9AA0C857DF7}"/>
              </a:ext>
            </a:extLst>
          </p:cNvPr>
          <p:cNvGrpSpPr/>
          <p:nvPr/>
        </p:nvGrpSpPr>
        <p:grpSpPr>
          <a:xfrm>
            <a:off x="3550023" y="5955203"/>
            <a:ext cx="4096289" cy="254000"/>
            <a:chOff x="7150832" y="4078584"/>
            <a:chExt cx="4096289" cy="25400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EA4EE34-95E4-1C4A-A64D-2E36A644E1C7}"/>
                </a:ext>
              </a:extLst>
            </p:cNvPr>
            <p:cNvSpPr txBox="1"/>
            <p:nvPr/>
          </p:nvSpPr>
          <p:spPr>
            <a:xfrm>
              <a:off x="7589521" y="4078584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Digital Audiences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79D3966B-612B-1F4D-82B7-5E95AAA0FD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2" y="4078584"/>
              <a:ext cx="241300" cy="254000"/>
            </a:xfrm>
            <a:prstGeom prst="rect">
              <a:avLst/>
            </a:prstGeom>
          </p:spPr>
        </p:pic>
      </p:grpSp>
      <p:sp>
        <p:nvSpPr>
          <p:cNvPr id="68" name="Text 0">
            <a:extLst>
              <a:ext uri="{FF2B5EF4-FFF2-40B4-BE49-F238E27FC236}">
                <a16:creationId xmlns:a16="http://schemas.microsoft.com/office/drawing/2014/main" id="{12990DE3-8365-1747-8DCB-0F2410571BA1}"/>
              </a:ext>
            </a:extLst>
          </p:cNvPr>
          <p:cNvSpPr txBox="1"/>
          <p:nvPr/>
        </p:nvSpPr>
        <p:spPr>
          <a:xfrm>
            <a:off x="548640" y="3942324"/>
            <a:ext cx="440566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400"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sz="2400" dirty="0">
                <a:solidFill>
                  <a:schemeClr val="bg1"/>
                </a:solidFill>
                <a:latin typeface="Montserrat Bold"/>
                <a:sym typeface="Montserrat Bold"/>
              </a:rPr>
              <a:t>Our Capabilities</a:t>
            </a:r>
            <a:endParaRPr lang="en-US" sz="2400" dirty="0">
              <a:solidFill>
                <a:schemeClr val="bg1"/>
              </a:solidFill>
              <a:latin typeface="Montserrat Bold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6CF7B5-324E-7A4A-B1F0-9D1B6C062645}"/>
              </a:ext>
            </a:extLst>
          </p:cNvPr>
          <p:cNvGrpSpPr/>
          <p:nvPr/>
        </p:nvGrpSpPr>
        <p:grpSpPr>
          <a:xfrm>
            <a:off x="6354017" y="4749771"/>
            <a:ext cx="4096290" cy="820877"/>
            <a:chOff x="7150833" y="3014296"/>
            <a:chExt cx="4096290" cy="820877"/>
          </a:xfrm>
        </p:grpSpPr>
        <p:sp>
          <p:nvSpPr>
            <p:cNvPr id="39" name="Content Placeholder 4">
              <a:extLst>
                <a:ext uri="{FF2B5EF4-FFF2-40B4-BE49-F238E27FC236}">
                  <a16:creationId xmlns:a16="http://schemas.microsoft.com/office/drawing/2014/main" id="{D1BF2839-5390-3340-A433-B18A54AF3396}"/>
                </a:ext>
              </a:extLst>
            </p:cNvPr>
            <p:cNvSpPr txBox="1">
              <a:spLocks/>
            </p:cNvSpPr>
            <p:nvPr/>
          </p:nvSpPr>
          <p:spPr>
            <a:xfrm>
              <a:off x="7589523" y="3393193"/>
              <a:ext cx="3657600" cy="44198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 marL="0" marR="0" indent="0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None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1pPr>
              <a:lvl2pPr marL="220256" marR="0" indent="-213112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2pPr>
              <a:lvl3pPr marL="388124" marR="0" indent="-167871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 typeface="System Font Regular"/>
                <a:buChar char="-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3pPr>
              <a:lvl4pPr marL="952452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4pPr>
              <a:lvl5pPr marL="1190565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5pPr>
              <a:lvl6pPr marL="1428678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1666791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1904906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2143019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Adstra Consumer</a:t>
              </a:r>
            </a:p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Adstra Premium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A6C2180-A96D-454E-9C50-6C68C06CA88D}"/>
                </a:ext>
              </a:extLst>
            </p:cNvPr>
            <p:cNvSpPr txBox="1"/>
            <p:nvPr/>
          </p:nvSpPr>
          <p:spPr>
            <a:xfrm>
              <a:off x="7589522" y="3014296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Append/Install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962211A0-9803-BC42-931F-830EF15B65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50833" y="3014296"/>
              <a:ext cx="241300" cy="25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5510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4868-FEF1-FDBD-C03C-B882AF3FE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292E5A1-79DD-797B-83F0-2E8EA2AA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5630606" cy="749167"/>
          </a:xfrm>
        </p:spPr>
        <p:txBody>
          <a:bodyPr/>
          <a:lstStyle/>
          <a:p>
            <a:r>
              <a:rPr lang="en-US" dirty="0"/>
              <a:t>Adstra Nonprofit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99F0213-CB30-89ED-F8EF-7F755ADDE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8640" y="1248592"/>
            <a:ext cx="7370242" cy="1947672"/>
          </a:xfrm>
        </p:spPr>
        <p:txBody>
          <a:bodyPr>
            <a:normAutofit/>
          </a:bodyPr>
          <a:lstStyle/>
          <a:p>
            <a:r>
              <a:rPr lang="en-US" b="1" dirty="0"/>
              <a:t>Smarter donor acquisition starts with Adstra, your results-focused partner</a:t>
            </a:r>
          </a:p>
          <a:p>
            <a:r>
              <a:rPr lang="en-US" dirty="0"/>
              <a:t>Creating solutions for nonprofit organizations is our legacy. Enable impactful donor insights — both online or offline. With a complete view of your supporters, we identify prospects with the identical attributes of your most powerful donors.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BB68FC-BA98-679D-1446-961800DB9907}"/>
              </a:ext>
            </a:extLst>
          </p:cNvPr>
          <p:cNvGrpSpPr/>
          <p:nvPr/>
        </p:nvGrpSpPr>
        <p:grpSpPr>
          <a:xfrm>
            <a:off x="548640" y="4749771"/>
            <a:ext cx="4096289" cy="254000"/>
            <a:chOff x="7150834" y="1950008"/>
            <a:chExt cx="4096289" cy="25400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B324CE-EC83-CC47-CEA2-C9A4CA7D71D1}"/>
                </a:ext>
              </a:extLst>
            </p:cNvPr>
            <p:cNvSpPr txBox="1"/>
            <p:nvPr/>
          </p:nvSpPr>
          <p:spPr>
            <a:xfrm>
              <a:off x="7589523" y="1950008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Donor Acquisition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0A19C694-8803-6D85-4906-B93878533B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4" y="1950008"/>
              <a:ext cx="241300" cy="254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9FB444C-AB4F-DA1F-474E-255D783EA9B9}"/>
              </a:ext>
            </a:extLst>
          </p:cNvPr>
          <p:cNvGrpSpPr/>
          <p:nvPr/>
        </p:nvGrpSpPr>
        <p:grpSpPr>
          <a:xfrm>
            <a:off x="3550023" y="4749771"/>
            <a:ext cx="4096289" cy="254000"/>
            <a:chOff x="7150832" y="4078584"/>
            <a:chExt cx="4096289" cy="25400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957D5C6-ADA5-CB0E-5944-321C47778B29}"/>
                </a:ext>
              </a:extLst>
            </p:cNvPr>
            <p:cNvSpPr txBox="1"/>
            <p:nvPr/>
          </p:nvSpPr>
          <p:spPr>
            <a:xfrm>
              <a:off x="7589521" y="4078584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Analytics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9579081-CC7E-06E7-8ACF-D3CCBB6A30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2" y="4078584"/>
              <a:ext cx="241300" cy="254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96C390-1DBD-D1D4-45DB-5736FB7EE8E3}"/>
              </a:ext>
            </a:extLst>
          </p:cNvPr>
          <p:cNvGrpSpPr/>
          <p:nvPr/>
        </p:nvGrpSpPr>
        <p:grpSpPr>
          <a:xfrm>
            <a:off x="548640" y="5330762"/>
            <a:ext cx="4096289" cy="745765"/>
            <a:chOff x="7150831" y="5142872"/>
            <a:chExt cx="4096289" cy="745765"/>
          </a:xfrm>
        </p:grpSpPr>
        <p:sp>
          <p:nvSpPr>
            <p:cNvPr id="47" name="Content Placeholder 4">
              <a:extLst>
                <a:ext uri="{FF2B5EF4-FFF2-40B4-BE49-F238E27FC236}">
                  <a16:creationId xmlns:a16="http://schemas.microsoft.com/office/drawing/2014/main" id="{B4271473-60B7-721C-594A-3A7EBCC34585}"/>
                </a:ext>
              </a:extLst>
            </p:cNvPr>
            <p:cNvSpPr txBox="1">
              <a:spLocks/>
            </p:cNvSpPr>
            <p:nvPr/>
          </p:nvSpPr>
          <p:spPr>
            <a:xfrm>
              <a:off x="7589520" y="5446657"/>
              <a:ext cx="3657600" cy="44198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 marL="0" marR="0" indent="0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None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1pPr>
              <a:lvl2pPr marL="220256" marR="0" indent="-213112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2pPr>
              <a:lvl3pPr marL="388124" marR="0" indent="-167871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 typeface="System Font Regular"/>
                <a:buChar char="-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3pPr>
              <a:lvl4pPr marL="952452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4pPr>
              <a:lvl5pPr marL="1190565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5pPr>
              <a:lvl6pPr marL="1428678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1666791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1904906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2143019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  <a:latin typeface="Montserrat" panose="00000500000000000000" pitchFamily="2" charset="0"/>
                </a:rPr>
                <a:t>Merge/Purge</a:t>
              </a:r>
            </a:p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1"/>
                  </a:solidFill>
                  <a:latin typeface="Montserrat" panose="00000500000000000000" pitchFamily="2" charset="0"/>
                </a:rPr>
                <a:t>List Fulfillment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0B5DA4E-E1A4-5E24-70A0-A900F1A58A2F}"/>
                </a:ext>
              </a:extLst>
            </p:cNvPr>
            <p:cNvSpPr txBox="1"/>
            <p:nvPr/>
          </p:nvSpPr>
          <p:spPr>
            <a:xfrm>
              <a:off x="7589520" y="5142872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Processing</a:t>
              </a:r>
              <a:endParaRPr kumimoji="0" lang="en-US" sz="1600" b="1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0B80436B-5E0E-C615-229D-4DCC79B319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1" y="5142872"/>
              <a:ext cx="241300" cy="254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7E349C-88D8-B772-5D6B-9267423BE276}"/>
              </a:ext>
            </a:extLst>
          </p:cNvPr>
          <p:cNvGrpSpPr/>
          <p:nvPr/>
        </p:nvGrpSpPr>
        <p:grpSpPr>
          <a:xfrm>
            <a:off x="3550023" y="5330762"/>
            <a:ext cx="4096289" cy="254000"/>
            <a:chOff x="7150832" y="4078584"/>
            <a:chExt cx="4096289" cy="25400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6E681F2-6506-B435-A4FE-866135435BF5}"/>
                </a:ext>
              </a:extLst>
            </p:cNvPr>
            <p:cNvSpPr txBox="1"/>
            <p:nvPr/>
          </p:nvSpPr>
          <p:spPr>
            <a:xfrm>
              <a:off x="7589521" y="4078584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Monetization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9FB27DB-E5B0-194C-08FF-51034BD2C5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2" y="4078584"/>
              <a:ext cx="241300" cy="25400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DF37D5A-8AB9-BB2C-B44A-64372D6470ED}"/>
              </a:ext>
            </a:extLst>
          </p:cNvPr>
          <p:cNvGrpSpPr/>
          <p:nvPr/>
        </p:nvGrpSpPr>
        <p:grpSpPr>
          <a:xfrm>
            <a:off x="3550023" y="5955203"/>
            <a:ext cx="4096289" cy="254000"/>
            <a:chOff x="7150832" y="4078584"/>
            <a:chExt cx="4096289" cy="25400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C94EACF-2E79-CF7A-D5F1-D21E85EFF29A}"/>
                </a:ext>
              </a:extLst>
            </p:cNvPr>
            <p:cNvSpPr txBox="1"/>
            <p:nvPr/>
          </p:nvSpPr>
          <p:spPr>
            <a:xfrm>
              <a:off x="7589521" y="4078584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Digital Audiences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0C423789-B268-4E6C-CAFF-06D0F6F513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50832" y="4078584"/>
              <a:ext cx="241300" cy="254000"/>
            </a:xfrm>
            <a:prstGeom prst="rect">
              <a:avLst/>
            </a:prstGeom>
          </p:spPr>
        </p:pic>
      </p:grpSp>
      <p:sp>
        <p:nvSpPr>
          <p:cNvPr id="68" name="Text 0">
            <a:extLst>
              <a:ext uri="{FF2B5EF4-FFF2-40B4-BE49-F238E27FC236}">
                <a16:creationId xmlns:a16="http://schemas.microsoft.com/office/drawing/2014/main" id="{20C8212F-8880-FF1C-6DFF-34DCD3B2828F}"/>
              </a:ext>
            </a:extLst>
          </p:cNvPr>
          <p:cNvSpPr txBox="1"/>
          <p:nvPr/>
        </p:nvSpPr>
        <p:spPr>
          <a:xfrm>
            <a:off x="548640" y="3942324"/>
            <a:ext cx="440566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4400"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sz="2400" dirty="0">
                <a:solidFill>
                  <a:schemeClr val="bg1"/>
                </a:solidFill>
                <a:latin typeface="Montserrat Bold"/>
                <a:sym typeface="Montserrat Bold"/>
              </a:rPr>
              <a:t>Our Capabilities</a:t>
            </a:r>
            <a:endParaRPr lang="en-US" sz="2400" dirty="0">
              <a:solidFill>
                <a:schemeClr val="bg1"/>
              </a:solidFill>
              <a:latin typeface="Montserrat Bold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2AC3A5-5CF2-1B8C-2AA8-70FFF3C98287}"/>
              </a:ext>
            </a:extLst>
          </p:cNvPr>
          <p:cNvGrpSpPr/>
          <p:nvPr/>
        </p:nvGrpSpPr>
        <p:grpSpPr>
          <a:xfrm>
            <a:off x="6354017" y="4749771"/>
            <a:ext cx="4096290" cy="820877"/>
            <a:chOff x="7150833" y="3014296"/>
            <a:chExt cx="4096290" cy="820877"/>
          </a:xfrm>
        </p:grpSpPr>
        <p:sp>
          <p:nvSpPr>
            <p:cNvPr id="39" name="Content Placeholder 4">
              <a:extLst>
                <a:ext uri="{FF2B5EF4-FFF2-40B4-BE49-F238E27FC236}">
                  <a16:creationId xmlns:a16="http://schemas.microsoft.com/office/drawing/2014/main" id="{28A542D9-7136-1F77-FE24-8BE8B20FA0EE}"/>
                </a:ext>
              </a:extLst>
            </p:cNvPr>
            <p:cNvSpPr txBox="1">
              <a:spLocks/>
            </p:cNvSpPr>
            <p:nvPr/>
          </p:nvSpPr>
          <p:spPr>
            <a:xfrm>
              <a:off x="7589523" y="3393193"/>
              <a:ext cx="3657600" cy="44198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 marL="0" marR="0" indent="0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None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1pPr>
              <a:lvl2pPr marL="220256" marR="0" indent="-213112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2pPr>
              <a:lvl3pPr marL="388124" marR="0" indent="-167871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 typeface="System Font Regular"/>
                <a:buChar char="-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Helvetica Neue"/>
                </a:defRPr>
              </a:lvl3pPr>
              <a:lvl4pPr marL="952452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4pPr>
              <a:lvl5pPr marL="1190565" marR="0" indent="-238113" algn="l" defTabSz="309548" latinLnBrk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600" b="0" i="0" u="none" strike="noStrike" cap="none" spc="0" baseline="0">
                  <a:solidFill>
                    <a:srgbClr val="000000"/>
                  </a:solidFill>
                  <a:uFillTx/>
                  <a:latin typeface="Arial" panose="020B0604020202020204" pitchFamily="34" charset="0"/>
                  <a:ea typeface="Gotham Rounded"/>
                  <a:cs typeface="Arial" panose="020B0604020202020204" pitchFamily="34" charset="0"/>
                  <a:sym typeface="Helvetica Neue"/>
                </a:defRPr>
              </a:lvl5pPr>
              <a:lvl6pPr marL="1428678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1666791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1904906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2143019" marR="0" indent="-238113" algn="l" defTabSz="309548" latinLnBrk="0">
                <a:lnSpc>
                  <a:spcPct val="100000"/>
                </a:lnSpc>
                <a:spcBef>
                  <a:spcPts val="2213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tabLst/>
                <a:defRPr sz="195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Adstra Consumer</a:t>
              </a:r>
            </a:p>
            <a:p>
              <a:pPr marL="171450" indent="-171450">
                <a:lnSpc>
                  <a:spcPts val="1800"/>
                </a:lnSpc>
                <a:spcBef>
                  <a:spcPts val="0"/>
                </a:spcBef>
                <a:buClr>
                  <a:srgbClr val="5C5C5C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Adstra Premium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E8D7371-63CF-9D94-2DDB-4A522E763270}"/>
                </a:ext>
              </a:extLst>
            </p:cNvPr>
            <p:cNvSpPr txBox="1"/>
            <p:nvPr/>
          </p:nvSpPr>
          <p:spPr>
            <a:xfrm>
              <a:off x="7589522" y="3014296"/>
              <a:ext cx="36576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solidFill>
                    <a:schemeClr val="bg1"/>
                  </a:solidFill>
                  <a:latin typeface="Montserrat" pitchFamily="2" charset="77"/>
                  <a:ea typeface="Helvetica Neue"/>
                  <a:cs typeface="Helvetica Neue"/>
                  <a:sym typeface="Helvetica Neue"/>
                </a:rPr>
                <a:t>Data Append/Install</a:t>
              </a:r>
              <a:endParaRPr kumimoji="0" lang="en-US" sz="1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ontserrat" pitchFamily="2" charset="77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0CDCC08-7A9C-7363-11AB-A63787F564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50833" y="3014296"/>
              <a:ext cx="241300" cy="254000"/>
            </a:xfrm>
            <a:prstGeom prst="rect">
              <a:avLst/>
            </a:prstGeom>
          </p:spPr>
        </p:pic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49FAAE1B-E637-2097-E1BE-FB01248F82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5954"/>
          <a:stretch/>
        </p:blipFill>
        <p:spPr>
          <a:xfrm>
            <a:off x="10011618" y="2678509"/>
            <a:ext cx="2180382" cy="247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9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2"/>
          <p:cNvSpPr txBox="1"/>
          <p:nvPr/>
        </p:nvSpPr>
        <p:spPr>
          <a:xfrm>
            <a:off x="914400" y="4133550"/>
            <a:ext cx="5486400" cy="75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Montserrat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Last Name</a:t>
            </a:r>
            <a:endParaRPr/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Montserrat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email@adstradata.com</a:t>
            </a:r>
            <a:endParaRPr sz="15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5"/>
              <a:buFont typeface="Montserrat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adstradata.com</a:t>
            </a:r>
            <a:endParaRPr sz="15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12"/>
          <p:cNvSpPr txBox="1"/>
          <p:nvPr/>
        </p:nvSpPr>
        <p:spPr>
          <a:xfrm>
            <a:off x="914400" y="2829738"/>
            <a:ext cx="73152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you.</a:t>
            </a:r>
            <a:endParaRPr/>
          </a:p>
        </p:txBody>
      </p:sp>
      <p:pic>
        <p:nvPicPr>
          <p:cNvPr id="847" name="Google Shape;847;p12" descr="A white letter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371600"/>
            <a:ext cx="1357022" cy="365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766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ackground Onl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14776</TotalTime>
  <Words>996</Words>
  <Application>Microsoft Office PowerPoint</Application>
  <PresentationFormat>Widescreen</PresentationFormat>
  <Paragraphs>151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-apple-system</vt:lpstr>
      <vt:lpstr>Aptos</vt:lpstr>
      <vt:lpstr>Arial</vt:lpstr>
      <vt:lpstr>Calibri</vt:lpstr>
      <vt:lpstr>Courier New</vt:lpstr>
      <vt:lpstr>Helvetica Neue</vt:lpstr>
      <vt:lpstr>Montserrat</vt:lpstr>
      <vt:lpstr>Montserrat Bold</vt:lpstr>
      <vt:lpstr>Montserrat Light</vt:lpstr>
      <vt:lpstr>Montserrat Medium</vt:lpstr>
      <vt:lpstr>Montserrat SemiBold</vt:lpstr>
      <vt:lpstr>Office Theme</vt:lpstr>
      <vt:lpstr>Background Only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Adstra Services</vt:lpstr>
      <vt:lpstr>Adstra Nonprofit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Reusable Slide Layouts</dc:title>
  <dc:creator>Michael Venker</dc:creator>
  <cp:lastModifiedBy>Michelle Galvan</cp:lastModifiedBy>
  <cp:revision>25</cp:revision>
  <dcterms:created xsi:type="dcterms:W3CDTF">2025-08-12T21:05:49Z</dcterms:created>
  <dcterms:modified xsi:type="dcterms:W3CDTF">2026-07-23T12:52:05Z</dcterms:modified>
</cp:coreProperties>
</file>